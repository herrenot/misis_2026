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2.xml" ContentType="application/vnd.openxmlformats-officedocument.presentationml.tags+xml"/>
  <Override PartName="/ppt/notesSlides/notesSlide14.xml" ContentType="application/vnd.openxmlformats-officedocument.presentationml.notesSlide+xml"/>
  <Override PartName="/ppt/tags/tag3.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handoutMasterIdLst>
    <p:handoutMasterId r:id="rId43"/>
  </p:handoutMasterIdLst>
  <p:sldIdLst>
    <p:sldId id="264" r:id="rId2"/>
    <p:sldId id="266" r:id="rId3"/>
    <p:sldId id="1237" r:id="rId4"/>
    <p:sldId id="1251" r:id="rId5"/>
    <p:sldId id="267" r:id="rId6"/>
    <p:sldId id="1208" r:id="rId7"/>
    <p:sldId id="262" r:id="rId8"/>
    <p:sldId id="263" r:id="rId9"/>
    <p:sldId id="1239" r:id="rId10"/>
    <p:sldId id="1238" r:id="rId11"/>
    <p:sldId id="1240" r:id="rId12"/>
    <p:sldId id="1213" r:id="rId13"/>
    <p:sldId id="265" r:id="rId14"/>
    <p:sldId id="282" r:id="rId15"/>
    <p:sldId id="1241" r:id="rId16"/>
    <p:sldId id="1247" r:id="rId17"/>
    <p:sldId id="1206" r:id="rId18"/>
    <p:sldId id="1246" r:id="rId19"/>
    <p:sldId id="277" r:id="rId20"/>
    <p:sldId id="1248" r:id="rId21"/>
    <p:sldId id="1224" r:id="rId22"/>
    <p:sldId id="1225" r:id="rId23"/>
    <p:sldId id="1249" r:id="rId24"/>
    <p:sldId id="268" r:id="rId25"/>
    <p:sldId id="1212" r:id="rId26"/>
    <p:sldId id="1217" r:id="rId27"/>
    <p:sldId id="1218" r:id="rId28"/>
    <p:sldId id="1219" r:id="rId29"/>
    <p:sldId id="1242" r:id="rId30"/>
    <p:sldId id="1231" r:id="rId31"/>
    <p:sldId id="1233" r:id="rId32"/>
    <p:sldId id="1232" r:id="rId33"/>
    <p:sldId id="1235" r:id="rId34"/>
    <p:sldId id="1244" r:id="rId35"/>
    <p:sldId id="1245" r:id="rId36"/>
    <p:sldId id="1234" r:id="rId37"/>
    <p:sldId id="283" r:id="rId38"/>
    <p:sldId id="1207" r:id="rId39"/>
    <p:sldId id="1210" r:id="rId40"/>
    <p:sldId id="1250" r:id="rId41"/>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867" userDrawn="1">
          <p15:clr>
            <a:srgbClr val="A4A3A4"/>
          </p15:clr>
        </p15:guide>
        <p15:guide id="5" orient="horz" pos="4178" userDrawn="1">
          <p15:clr>
            <a:srgbClr val="A4A3A4"/>
          </p15:clr>
        </p15:guide>
        <p15:guide id="6" pos="3840" userDrawn="1">
          <p15:clr>
            <a:srgbClr val="A4A3A4"/>
          </p15:clr>
        </p15:guide>
        <p15:guide id="7" pos="2094" userDrawn="1">
          <p15:clr>
            <a:srgbClr val="A4A3A4"/>
          </p15:clr>
        </p15:guide>
        <p15:guide id="8" pos="5586" userDrawn="1">
          <p15:clr>
            <a:srgbClr val="A4A3A4"/>
          </p15:clr>
        </p15:guide>
        <p15:guide id="9" orient="horz" pos="2931" userDrawn="1">
          <p15:clr>
            <a:srgbClr val="A4A3A4"/>
          </p15:clr>
        </p15:guide>
        <p15:guide id="10" pos="694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driya Dzhulianna" initials="KD" lastIdx="2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26E2"/>
    <a:srgbClr val="475DEC"/>
    <a:srgbClr val="1EA360"/>
    <a:srgbClr val="FD645A"/>
    <a:srgbClr val="040A19"/>
    <a:srgbClr val="242425"/>
    <a:srgbClr val="1F20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76" autoAdjust="0"/>
    <p:restoredTop sz="80298" autoAdjust="0"/>
  </p:normalViewPr>
  <p:slideViewPr>
    <p:cSldViewPr snapToGrid="0" showGuides="1">
      <p:cViewPr varScale="1">
        <p:scale>
          <a:sx n="103" d="100"/>
          <a:sy n="103" d="100"/>
        </p:scale>
        <p:origin x="492" y="156"/>
      </p:cViewPr>
      <p:guideLst>
        <p:guide orient="horz" pos="867"/>
        <p:guide orient="horz" pos="4178"/>
        <p:guide pos="3840"/>
        <p:guide pos="2094"/>
        <p:guide pos="5586"/>
        <p:guide orient="horz" pos="2931"/>
        <p:guide pos="6947"/>
      </p:guideLst>
    </p:cSldViewPr>
  </p:slideViewPr>
  <p:outlineViewPr>
    <p:cViewPr>
      <p:scale>
        <a:sx n="33" d="100"/>
        <a:sy n="33" d="100"/>
      </p:scale>
      <p:origin x="0" y="0"/>
    </p:cViewPr>
  </p:outlineViewPr>
  <p:notesTextViewPr>
    <p:cViewPr>
      <p:scale>
        <a:sx n="85" d="100"/>
        <a:sy n="85" d="100"/>
      </p:scale>
      <p:origin x="0" y="0"/>
    </p:cViewPr>
  </p:notesTextViewPr>
  <p:notesViewPr>
    <p:cSldViewPr snapToGrid="0">
      <p:cViewPr varScale="1">
        <p:scale>
          <a:sx n="94" d="100"/>
          <a:sy n="94" d="100"/>
        </p:scale>
        <p:origin x="2400" y="1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1C4E38C-FC57-6F42-8538-2355F1313E5E}" type="datetimeFigureOut">
              <a:rPr lang="ru-RU" smtClean="0"/>
              <a:t>19.10.2026</a:t>
            </a:fld>
            <a:endParaRPr lang="ru-RU"/>
          </a:p>
        </p:txBody>
      </p:sp>
      <p:sp>
        <p:nvSpPr>
          <p:cNvPr id="4" name="Нижний колонтитул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8C1D5AD-1618-4245-88DB-389028BA512A}" type="slidenum">
              <a:rPr lang="ru-RU" smtClean="0"/>
              <a:t>‹#›</a:t>
            </a:fld>
            <a:endParaRPr lang="ru-RU"/>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Croc" panose="020B0502020203020203" pitchFamily="34" charset="0"/>
              </a:defRPr>
            </a:lvl1pPr>
          </a:lstStyle>
          <a:p>
            <a:endParaRPr lang="ru-RU" dirty="0"/>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Croc" panose="020B0502020203020203" pitchFamily="34" charset="0"/>
              </a:defRPr>
            </a:lvl1pPr>
          </a:lstStyle>
          <a:p>
            <a:fld id="{4F52665A-1A5B-4097-9E46-8A6EE958CE8C}" type="datetimeFigureOut">
              <a:rPr lang="ru-RU" smtClean="0"/>
              <a:t>19.10.2026</a:t>
            </a:fld>
            <a:endParaRPr lang="ru-RU" dirty="0"/>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dirty="0"/>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Croc" panose="020B0502020203020203" pitchFamily="34" charset="0"/>
              </a:defRPr>
            </a:lvl1pPr>
          </a:lstStyle>
          <a:p>
            <a:endParaRPr lang="ru-RU" dirty="0"/>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Croc" panose="020B0502020203020203" pitchFamily="34" charset="0"/>
              </a:defRPr>
            </a:lvl1pPr>
          </a:lstStyle>
          <a:p>
            <a:fld id="{D3194510-4DFF-4EE5-8960-AACFA22B1AD6}" type="slidenum">
              <a:rPr lang="ru-RU" smtClean="0"/>
              <a:t>‹#›</a:t>
            </a:fld>
            <a:endParaRPr lang="ru-RU"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Croc" panose="020B0502020203020203" pitchFamily="34" charset="0"/>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proglib.io/p/python-web-development/" TargetMode="External"/><Relationship Id="rId2" Type="http://schemas.openxmlformats.org/officeDocument/2006/relationships/slide" Target="../slides/slide22.xml"/><Relationship Id="rId1" Type="http://schemas.openxmlformats.org/officeDocument/2006/relationships/notesMaster" Target="../notesMasters/notesMaster1.xml"/><Relationship Id="rId4" Type="http://schemas.openxmlformats.org/officeDocument/2006/relationships/hyperlink" Target="https://proglib.io/p/django-sources/" TargetMode="Externa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err="1"/>
              <a:t>Титульник</a:t>
            </a:r>
            <a:endParaRPr lang="ru-RU" dirty="0"/>
          </a:p>
        </p:txBody>
      </p:sp>
      <p:sp>
        <p:nvSpPr>
          <p:cNvPr id="4" name="Номер слайда 3"/>
          <p:cNvSpPr>
            <a:spLocks noGrp="1"/>
          </p:cNvSpPr>
          <p:nvPr>
            <p:ph type="sldNum" sz="quarter" idx="10"/>
          </p:nvPr>
        </p:nvSpPr>
        <p:spPr/>
        <p:txBody>
          <a:bodyPr/>
          <a:lstStyle/>
          <a:p>
            <a:fld id="{D3194510-4DFF-4EE5-8960-AACFA22B1AD6}" type="slidenum">
              <a:rPr lang="ru-RU" smtClean="0"/>
              <a:t>1</a:t>
            </a:fld>
            <a:endParaRPr lang="ru-R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D3194510-4DFF-4EE5-8960-AACFA22B1AD6}" type="slidenum">
              <a:rPr lang="ru-RU" smtClean="0"/>
              <a:t>2</a:t>
            </a:fld>
            <a:endParaRPr lang="ru-R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dirty="0" err="1"/>
              <a:t>Теперь</a:t>
            </a:r>
            <a:r>
              <a:rPr dirty="0"/>
              <a:t> </a:t>
            </a:r>
            <a:r>
              <a:rPr dirty="0" err="1"/>
              <a:t>давайте</a:t>
            </a:r>
            <a:r>
              <a:rPr dirty="0"/>
              <a:t> </a:t>
            </a:r>
            <a:r>
              <a:rPr dirty="0" err="1"/>
              <a:t>по</a:t>
            </a:r>
            <a:r>
              <a:rPr dirty="0"/>
              <a:t> </a:t>
            </a:r>
            <a:r>
              <a:rPr dirty="0" err="1"/>
              <a:t>кругу</a:t>
            </a:r>
            <a:r>
              <a:rPr dirty="0"/>
              <a:t> </a:t>
            </a:r>
            <a:r>
              <a:rPr dirty="0" err="1"/>
              <a:t>или</a:t>
            </a:r>
            <a:r>
              <a:rPr dirty="0"/>
              <a:t> </a:t>
            </a:r>
            <a:r>
              <a:rPr dirty="0" err="1"/>
              <a:t>по</a:t>
            </a:r>
            <a:r>
              <a:rPr dirty="0"/>
              <a:t> </a:t>
            </a:r>
            <a:r>
              <a:rPr dirty="0" err="1"/>
              <a:t>желанию</a:t>
            </a:r>
            <a:r>
              <a:rPr dirty="0"/>
              <a:t>. </a:t>
            </a:r>
            <a:r>
              <a:rPr dirty="0" err="1"/>
              <a:t>Имя</a:t>
            </a:r>
            <a:r>
              <a:rPr dirty="0"/>
              <a:t>, </a:t>
            </a:r>
            <a:r>
              <a:rPr dirty="0" err="1"/>
              <a:t>откуда</a:t>
            </a:r>
            <a:r>
              <a:rPr dirty="0"/>
              <a:t> </a:t>
            </a:r>
            <a:r>
              <a:rPr dirty="0" err="1"/>
              <a:t>вы</a:t>
            </a:r>
            <a:r>
              <a:rPr dirty="0"/>
              <a:t> (</a:t>
            </a:r>
            <a:r>
              <a:rPr dirty="0" err="1"/>
              <a:t>предыдущий</a:t>
            </a:r>
            <a:r>
              <a:rPr dirty="0"/>
              <a:t> </a:t>
            </a:r>
            <a:r>
              <a:rPr dirty="0" err="1"/>
              <a:t>вуз</a:t>
            </a:r>
            <a:r>
              <a:rPr dirty="0"/>
              <a:t>, </a:t>
            </a:r>
            <a:r>
              <a:rPr dirty="0" err="1"/>
              <a:t>опыт</a:t>
            </a:r>
            <a:r>
              <a:rPr dirty="0"/>
              <a:t>), и </a:t>
            </a:r>
            <a:r>
              <a:rPr dirty="0" err="1"/>
              <a:t>какая</a:t>
            </a:r>
            <a:r>
              <a:rPr dirty="0"/>
              <a:t> у </a:t>
            </a:r>
            <a:r>
              <a:rPr dirty="0" err="1"/>
              <a:t>вас</a:t>
            </a:r>
            <a:r>
              <a:rPr dirty="0"/>
              <a:t> </a:t>
            </a:r>
            <a:r>
              <a:rPr dirty="0" err="1"/>
              <a:t>суперсила</a:t>
            </a:r>
            <a:r>
              <a:rPr dirty="0"/>
              <a:t>? </a:t>
            </a:r>
            <a:r>
              <a:rPr dirty="0" err="1"/>
              <a:t>Не</a:t>
            </a:r>
            <a:r>
              <a:rPr dirty="0"/>
              <a:t> </a:t>
            </a:r>
            <a:r>
              <a:rPr dirty="0" err="1"/>
              <a:t>обязательно</a:t>
            </a:r>
            <a:r>
              <a:rPr dirty="0"/>
              <a:t> </a:t>
            </a:r>
            <a:r>
              <a:rPr dirty="0" err="1"/>
              <a:t>связанная</a:t>
            </a:r>
            <a:r>
              <a:rPr dirty="0"/>
              <a:t> с </a:t>
            </a:r>
            <a:r>
              <a:rPr dirty="0" err="1"/>
              <a:t>кодом</a:t>
            </a:r>
            <a:r>
              <a:rPr dirty="0"/>
              <a:t>. </a:t>
            </a:r>
            <a:r>
              <a:rPr dirty="0" err="1"/>
              <a:t>Например</a:t>
            </a:r>
            <a:r>
              <a:rPr dirty="0"/>
              <a:t>, </a:t>
            </a:r>
            <a:r>
              <a:rPr dirty="0" err="1"/>
              <a:t>моя</a:t>
            </a:r>
            <a:r>
              <a:rPr dirty="0"/>
              <a:t>  </a:t>
            </a:r>
            <a:r>
              <a:rPr dirty="0" err="1"/>
              <a:t>читать</a:t>
            </a:r>
            <a:r>
              <a:rPr dirty="0"/>
              <a:t> </a:t>
            </a:r>
            <a:r>
              <a:rPr dirty="0" err="1"/>
              <a:t>одновременно</a:t>
            </a:r>
            <a:r>
              <a:rPr dirty="0"/>
              <a:t> 30+ </a:t>
            </a:r>
            <a:r>
              <a:rPr dirty="0" err="1"/>
              <a:t>книг</a:t>
            </a:r>
            <a:endParaRPr dirty="0"/>
          </a:p>
          <a:p>
            <a:endParaRPr dirty="0"/>
          </a:p>
          <a:p>
            <a:r>
              <a:rPr dirty="0" err="1"/>
              <a:t>Игра</a:t>
            </a:r>
            <a:r>
              <a:rPr dirty="0"/>
              <a:t> «</a:t>
            </a:r>
            <a:r>
              <a:rPr dirty="0" err="1"/>
              <a:t>Слышали</a:t>
            </a:r>
            <a:r>
              <a:rPr dirty="0"/>
              <a:t> </a:t>
            </a:r>
            <a:r>
              <a:rPr dirty="0" err="1"/>
              <a:t>это</a:t>
            </a:r>
            <a:r>
              <a:rPr dirty="0"/>
              <a:t> </a:t>
            </a:r>
            <a:r>
              <a:rPr dirty="0" err="1"/>
              <a:t>слово</a:t>
            </a:r>
            <a:r>
              <a:rPr dirty="0"/>
              <a:t>?» (</a:t>
            </a:r>
            <a:r>
              <a:rPr dirty="0" err="1"/>
              <a:t>ключ</a:t>
            </a:r>
            <a:r>
              <a:rPr dirty="0"/>
              <a:t> — в L1_игра_слова.md):</a:t>
            </a:r>
          </a:p>
          <a:p>
            <a:r>
              <a:rPr dirty="0"/>
              <a:t>1. Python — [DA]</a:t>
            </a:r>
          </a:p>
          <a:p>
            <a:r>
              <a:rPr dirty="0"/>
              <a:t>2. </a:t>
            </a:r>
            <a:r>
              <a:rPr dirty="0" err="1"/>
              <a:t>Коалесценция</a:t>
            </a:r>
            <a:r>
              <a:rPr dirty="0"/>
              <a:t> — [DA] + [</a:t>
            </a:r>
            <a:r>
              <a:rPr dirty="0" err="1"/>
              <a:t>металлургия</a:t>
            </a:r>
            <a:r>
              <a:rPr dirty="0"/>
              <a:t>]</a:t>
            </a:r>
          </a:p>
          <a:p>
            <a:r>
              <a:rPr dirty="0"/>
              <a:t>3. Pandas — [DA]</a:t>
            </a:r>
          </a:p>
          <a:p>
            <a:r>
              <a:rPr dirty="0"/>
              <a:t>4. </a:t>
            </a:r>
            <a:r>
              <a:rPr dirty="0" err="1"/>
              <a:t>Pandula</a:t>
            </a:r>
            <a:r>
              <a:rPr dirty="0"/>
              <a:t> — [ФЕЙК]</a:t>
            </a:r>
          </a:p>
          <a:p>
            <a:r>
              <a:rPr dirty="0"/>
              <a:t>5. </a:t>
            </a:r>
            <a:r>
              <a:rPr dirty="0" err="1"/>
              <a:t>Корреляция</a:t>
            </a:r>
            <a:r>
              <a:rPr dirty="0"/>
              <a:t> — [DA]</a:t>
            </a:r>
          </a:p>
          <a:p>
            <a:r>
              <a:rPr dirty="0"/>
              <a:t>6. </a:t>
            </a:r>
            <a:r>
              <a:rPr dirty="0" err="1"/>
              <a:t>Метод</a:t>
            </a:r>
            <a:r>
              <a:rPr dirty="0"/>
              <a:t> </a:t>
            </a:r>
            <a:r>
              <a:rPr dirty="0" err="1"/>
              <a:t>Шарпи</a:t>
            </a:r>
            <a:r>
              <a:rPr dirty="0"/>
              <a:t> — [</a:t>
            </a:r>
            <a:r>
              <a:rPr dirty="0" err="1"/>
              <a:t>металлургия</a:t>
            </a:r>
            <a:r>
              <a:rPr dirty="0"/>
              <a:t>]</a:t>
            </a:r>
          </a:p>
          <a:p>
            <a:r>
              <a:rPr dirty="0"/>
              <a:t>7. </a:t>
            </a:r>
            <a:r>
              <a:rPr dirty="0" err="1"/>
              <a:t>Регрессия</a:t>
            </a:r>
            <a:r>
              <a:rPr dirty="0"/>
              <a:t> — [DA]</a:t>
            </a:r>
          </a:p>
          <a:p>
            <a:r>
              <a:rPr dirty="0"/>
              <a:t>8. RAG — [2026]</a:t>
            </a:r>
          </a:p>
          <a:p>
            <a:r>
              <a:rPr dirty="0"/>
              <a:t>9. </a:t>
            </a:r>
            <a:r>
              <a:rPr dirty="0" err="1"/>
              <a:t>Кластеризация</a:t>
            </a:r>
            <a:r>
              <a:rPr dirty="0"/>
              <a:t> — [DA]</a:t>
            </a:r>
          </a:p>
          <a:p>
            <a:r>
              <a:rPr dirty="0"/>
              <a:t>10. </a:t>
            </a:r>
            <a:r>
              <a:rPr dirty="0" err="1"/>
              <a:t>Преюдиция</a:t>
            </a:r>
            <a:r>
              <a:rPr dirty="0"/>
              <a:t> — [</a:t>
            </a:r>
            <a:r>
              <a:rPr dirty="0" err="1"/>
              <a:t>ловушка</a:t>
            </a:r>
            <a:r>
              <a:rPr dirty="0"/>
              <a:t>: </a:t>
            </a:r>
            <a:r>
              <a:rPr dirty="0" err="1"/>
              <a:t>право</a:t>
            </a:r>
            <a:r>
              <a:rPr dirty="0"/>
              <a:t>]</a:t>
            </a:r>
          </a:p>
          <a:p>
            <a:r>
              <a:rPr dirty="0"/>
              <a:t>11. </a:t>
            </a:r>
            <a:r>
              <a:rPr dirty="0" err="1"/>
              <a:t>Регрессия</a:t>
            </a:r>
            <a:r>
              <a:rPr dirty="0"/>
              <a:t> </a:t>
            </a:r>
            <a:r>
              <a:rPr dirty="0" err="1"/>
              <a:t>Лобачевского</a:t>
            </a:r>
            <a:r>
              <a:rPr dirty="0"/>
              <a:t> — [ФЕЙК]</a:t>
            </a:r>
          </a:p>
          <a:p>
            <a:r>
              <a:rPr dirty="0"/>
              <a:t>12. </a:t>
            </a:r>
            <a:r>
              <a:rPr dirty="0" err="1"/>
              <a:t>Конкатенация</a:t>
            </a:r>
            <a:r>
              <a:rPr dirty="0"/>
              <a:t> — [DA]</a:t>
            </a:r>
          </a:p>
          <a:p>
            <a:r>
              <a:rPr dirty="0"/>
              <a:t>13. </a:t>
            </a:r>
            <a:r>
              <a:rPr dirty="0" err="1"/>
              <a:t>Случайный</a:t>
            </a:r>
            <a:r>
              <a:rPr dirty="0"/>
              <a:t> </a:t>
            </a:r>
            <a:r>
              <a:rPr dirty="0" err="1"/>
              <a:t>лес</a:t>
            </a:r>
            <a:r>
              <a:rPr dirty="0"/>
              <a:t> — [DA]</a:t>
            </a:r>
          </a:p>
          <a:p>
            <a:r>
              <a:rPr dirty="0"/>
              <a:t>14. </a:t>
            </a:r>
            <a:r>
              <a:rPr dirty="0" err="1"/>
              <a:t>Метод</a:t>
            </a:r>
            <a:r>
              <a:rPr dirty="0"/>
              <a:t> </a:t>
            </a:r>
            <a:r>
              <a:rPr dirty="0" err="1"/>
              <a:t>опорных</a:t>
            </a:r>
            <a:r>
              <a:rPr dirty="0"/>
              <a:t> </a:t>
            </a:r>
            <a:r>
              <a:rPr dirty="0" err="1"/>
              <a:t>векторов</a:t>
            </a:r>
            <a:r>
              <a:rPr dirty="0"/>
              <a:t> — [DA]</a:t>
            </a:r>
          </a:p>
          <a:p>
            <a:r>
              <a:rPr dirty="0"/>
              <a:t>15. </a:t>
            </a:r>
            <a:r>
              <a:rPr dirty="0" err="1"/>
              <a:t>Эмбеддинг</a:t>
            </a:r>
            <a:r>
              <a:rPr dirty="0"/>
              <a:t> — [2026]</a:t>
            </a:r>
          </a:p>
          <a:p>
            <a:r>
              <a:rPr dirty="0"/>
              <a:t>16. </a:t>
            </a:r>
            <a:r>
              <a:rPr dirty="0" err="1"/>
              <a:t>Критерий</a:t>
            </a:r>
            <a:r>
              <a:rPr dirty="0"/>
              <a:t> </a:t>
            </a:r>
            <a:r>
              <a:rPr dirty="0" err="1"/>
              <a:t>согласия</a:t>
            </a:r>
            <a:r>
              <a:rPr dirty="0"/>
              <a:t> </a:t>
            </a:r>
            <a:r>
              <a:rPr dirty="0" err="1"/>
              <a:t>Фишера</a:t>
            </a:r>
            <a:r>
              <a:rPr dirty="0"/>
              <a:t>, </a:t>
            </a:r>
            <a:r>
              <a:rPr dirty="0" err="1"/>
              <a:t>Колмогорова</a:t>
            </a:r>
            <a:r>
              <a:rPr dirty="0"/>
              <a:t>–</a:t>
            </a:r>
            <a:r>
              <a:rPr dirty="0" err="1"/>
              <a:t>Смирнова</a:t>
            </a:r>
            <a:r>
              <a:rPr dirty="0"/>
              <a:t> — [DA]</a:t>
            </a:r>
          </a:p>
          <a:p>
            <a:r>
              <a:rPr dirty="0"/>
              <a:t>17. </a:t>
            </a:r>
            <a:r>
              <a:rPr dirty="0" err="1"/>
              <a:t>Критерий</a:t>
            </a:r>
            <a:r>
              <a:rPr dirty="0"/>
              <a:t> </a:t>
            </a:r>
            <a:r>
              <a:rPr dirty="0" err="1"/>
              <a:t>Штольца</a:t>
            </a:r>
            <a:r>
              <a:rPr dirty="0"/>
              <a:t>–</a:t>
            </a:r>
            <a:r>
              <a:rPr dirty="0" err="1"/>
              <a:t>Мэрфи</a:t>
            </a:r>
            <a:r>
              <a:rPr dirty="0"/>
              <a:t> — [ФЕЙК]</a:t>
            </a:r>
          </a:p>
          <a:p>
            <a:r>
              <a:rPr dirty="0"/>
              <a:t>18. </a:t>
            </a:r>
            <a:r>
              <a:rPr dirty="0" err="1"/>
              <a:t>Трюизм</a:t>
            </a:r>
            <a:r>
              <a:rPr dirty="0"/>
              <a:t> — [</a:t>
            </a:r>
            <a:r>
              <a:rPr dirty="0" err="1"/>
              <a:t>ловушка</a:t>
            </a:r>
            <a:r>
              <a:rPr dirty="0"/>
              <a:t>: </a:t>
            </a:r>
            <a:r>
              <a:rPr dirty="0" err="1"/>
              <a:t>лингвистика</a:t>
            </a:r>
            <a:r>
              <a:rPr dirty="0"/>
              <a:t>]</a:t>
            </a:r>
          </a:p>
          <a:p>
            <a:r>
              <a:rPr dirty="0"/>
              <a:t>19. </a:t>
            </a:r>
            <a:r>
              <a:rPr dirty="0" err="1"/>
              <a:t>Треугольник</a:t>
            </a:r>
            <a:r>
              <a:rPr dirty="0"/>
              <a:t> </a:t>
            </a:r>
            <a:r>
              <a:rPr dirty="0" err="1"/>
              <a:t>Серпинского</a:t>
            </a:r>
            <a:r>
              <a:rPr dirty="0"/>
              <a:t> — [</a:t>
            </a:r>
            <a:r>
              <a:rPr dirty="0" err="1"/>
              <a:t>ловушка</a:t>
            </a:r>
            <a:r>
              <a:rPr dirty="0"/>
              <a:t>: </a:t>
            </a:r>
            <a:r>
              <a:rPr dirty="0" err="1"/>
              <a:t>математика</a:t>
            </a:r>
            <a:r>
              <a:rPr dirty="0"/>
              <a:t>]</a:t>
            </a:r>
          </a:p>
          <a:p>
            <a:r>
              <a:rPr dirty="0"/>
              <a:t>20. </a:t>
            </a:r>
            <a:r>
              <a:rPr dirty="0" err="1"/>
              <a:t>Ансамблевые</a:t>
            </a:r>
            <a:r>
              <a:rPr dirty="0"/>
              <a:t> </a:t>
            </a:r>
            <a:r>
              <a:rPr dirty="0" err="1"/>
              <a:t>методы</a:t>
            </a:r>
            <a:r>
              <a:rPr dirty="0"/>
              <a:t> — [DA]</a:t>
            </a:r>
          </a:p>
          <a:p>
            <a:r>
              <a:rPr dirty="0"/>
              <a:t>21. </a:t>
            </a:r>
            <a:r>
              <a:rPr dirty="0" err="1"/>
              <a:t>Вайб-кодинг</a:t>
            </a:r>
            <a:r>
              <a:rPr dirty="0"/>
              <a:t> — [2026]</a:t>
            </a:r>
          </a:p>
          <a:p>
            <a:r>
              <a:rPr dirty="0"/>
              <a:t>22. </a:t>
            </a:r>
            <a:r>
              <a:rPr dirty="0" err="1"/>
              <a:t>Юпайтер</a:t>
            </a:r>
            <a:r>
              <a:rPr dirty="0"/>
              <a:t> — [DA, </a:t>
            </a:r>
            <a:r>
              <a:rPr dirty="0" err="1"/>
              <a:t>искажённое</a:t>
            </a:r>
            <a:r>
              <a:rPr dirty="0"/>
              <a:t>]</a:t>
            </a:r>
          </a:p>
          <a:p>
            <a:r>
              <a:rPr dirty="0"/>
              <a:t>23. ARCH — [DA]</a:t>
            </a:r>
          </a:p>
          <a:p>
            <a:r>
              <a:rPr dirty="0"/>
              <a:t>24. </a:t>
            </a:r>
            <a:r>
              <a:rPr dirty="0" err="1"/>
              <a:t>Аусформинг</a:t>
            </a:r>
            <a:r>
              <a:rPr dirty="0"/>
              <a:t> — [</a:t>
            </a:r>
            <a:r>
              <a:rPr dirty="0" err="1"/>
              <a:t>металлургия</a:t>
            </a:r>
            <a:r>
              <a:rPr dirty="0"/>
              <a:t>]</a:t>
            </a:r>
          </a:p>
          <a:p>
            <a:r>
              <a:rPr dirty="0"/>
              <a:t>25. </a:t>
            </a:r>
            <a:r>
              <a:rPr dirty="0" err="1"/>
              <a:t>Ферротензия</a:t>
            </a:r>
            <a:r>
              <a:rPr dirty="0"/>
              <a:t> — [ФЕЙК]</a:t>
            </a:r>
          </a:p>
          <a:p>
            <a:r>
              <a:rPr dirty="0"/>
              <a:t>26. Bash — [DA]</a:t>
            </a:r>
          </a:p>
          <a:p>
            <a:r>
              <a:rPr dirty="0"/>
              <a:t>27. </a:t>
            </a:r>
            <a:r>
              <a:rPr dirty="0" err="1"/>
              <a:t>Флукурзистенция</a:t>
            </a:r>
            <a:r>
              <a:rPr dirty="0"/>
              <a:t> — [ФЕЙК]</a:t>
            </a:r>
          </a:p>
          <a:p>
            <a:r>
              <a:rPr dirty="0"/>
              <a:t>28. </a:t>
            </a:r>
            <a:r>
              <a:rPr dirty="0" err="1"/>
              <a:t>Галлюцинация</a:t>
            </a:r>
            <a:r>
              <a:rPr dirty="0"/>
              <a:t> LLM — [2026]</a:t>
            </a:r>
          </a:p>
          <a:p>
            <a:r>
              <a:rPr dirty="0"/>
              <a:t>29. </a:t>
            </a:r>
            <a:r>
              <a:rPr dirty="0" err="1"/>
              <a:t>Эксимеры</a:t>
            </a:r>
            <a:r>
              <a:rPr dirty="0"/>
              <a:t> — [</a:t>
            </a:r>
            <a:r>
              <a:rPr dirty="0" err="1"/>
              <a:t>ловушка</a:t>
            </a:r>
            <a:r>
              <a:rPr dirty="0"/>
              <a:t>: </a:t>
            </a:r>
            <a:r>
              <a:rPr dirty="0" err="1"/>
              <a:t>физика</a:t>
            </a:r>
            <a:r>
              <a:rPr dirty="0"/>
              <a:t>]</a:t>
            </a:r>
          </a:p>
          <a:p>
            <a:r>
              <a:rPr dirty="0"/>
              <a:t>30. </a:t>
            </a:r>
            <a:r>
              <a:rPr dirty="0" err="1"/>
              <a:t>Фласк</a:t>
            </a:r>
            <a:r>
              <a:rPr dirty="0"/>
              <a:t> — [DA, </a:t>
            </a:r>
            <a:r>
              <a:rPr dirty="0" err="1"/>
              <a:t>искажённое</a:t>
            </a:r>
            <a:r>
              <a:rPr dirty="0"/>
              <a:t>]</a:t>
            </a:r>
          </a:p>
          <a:p>
            <a:r>
              <a:rPr dirty="0"/>
              <a:t>31. </a:t>
            </a:r>
            <a:r>
              <a:rPr dirty="0" err="1"/>
              <a:t>Птеригиум</a:t>
            </a:r>
            <a:r>
              <a:rPr dirty="0"/>
              <a:t> — [</a:t>
            </a:r>
            <a:r>
              <a:rPr dirty="0" err="1"/>
              <a:t>ловушка</a:t>
            </a:r>
            <a:r>
              <a:rPr dirty="0"/>
              <a:t>: </a:t>
            </a:r>
            <a:r>
              <a:rPr dirty="0" err="1"/>
              <a:t>медицина</a:t>
            </a:r>
            <a:r>
              <a:rPr dirty="0"/>
              <a:t>]</a:t>
            </a:r>
          </a:p>
          <a:p>
            <a:r>
              <a:rPr dirty="0"/>
              <a:t>32. </a:t>
            </a:r>
            <a:r>
              <a:rPr dirty="0" err="1"/>
              <a:t>Токен-ферментация</a:t>
            </a:r>
            <a:r>
              <a:rPr dirty="0"/>
              <a:t> — [ФЕЙК]</a:t>
            </a:r>
          </a:p>
          <a:p>
            <a:r>
              <a:rPr dirty="0"/>
              <a:t>33. </a:t>
            </a:r>
            <a:r>
              <a:rPr dirty="0" err="1"/>
              <a:t>Джанго</a:t>
            </a:r>
            <a:r>
              <a:rPr dirty="0"/>
              <a:t> — [DA, </a:t>
            </a:r>
            <a:r>
              <a:rPr dirty="0" err="1"/>
              <a:t>искажённое</a:t>
            </a:r>
            <a:r>
              <a:rPr dirty="0"/>
              <a:t>]</a:t>
            </a:r>
          </a:p>
          <a:p>
            <a:r>
              <a:rPr dirty="0"/>
              <a:t>34. </a:t>
            </a:r>
            <a:r>
              <a:rPr dirty="0" err="1"/>
              <a:t>Аустенит</a:t>
            </a:r>
            <a:r>
              <a:rPr dirty="0"/>
              <a:t> — [</a:t>
            </a:r>
            <a:r>
              <a:rPr dirty="0" err="1"/>
              <a:t>металлургия</a:t>
            </a:r>
            <a:r>
              <a:rPr dirty="0"/>
              <a:t>]</a:t>
            </a:r>
          </a:p>
          <a:p>
            <a:r>
              <a:rPr dirty="0"/>
              <a:t>35. </a:t>
            </a:r>
            <a:r>
              <a:rPr dirty="0" err="1"/>
              <a:t>Промпт-инъекция</a:t>
            </a:r>
            <a:r>
              <a:rPr dirty="0"/>
              <a:t> — [2026]</a:t>
            </a:r>
          </a:p>
          <a:p>
            <a:r>
              <a:rPr dirty="0"/>
              <a:t>36. </a:t>
            </a:r>
            <a:r>
              <a:rPr dirty="0" err="1"/>
              <a:t>Перцептрон</a:t>
            </a:r>
            <a:r>
              <a:rPr dirty="0"/>
              <a:t> — [DA]</a:t>
            </a:r>
          </a:p>
          <a:p>
            <a:r>
              <a:rPr dirty="0"/>
              <a:t>37. </a:t>
            </a:r>
            <a:r>
              <a:rPr dirty="0" err="1"/>
              <a:t>Текстура</a:t>
            </a:r>
            <a:r>
              <a:rPr dirty="0"/>
              <a:t> </a:t>
            </a:r>
            <a:r>
              <a:rPr dirty="0" err="1"/>
              <a:t>Госса</a:t>
            </a:r>
            <a:r>
              <a:rPr dirty="0"/>
              <a:t> — [</a:t>
            </a:r>
            <a:r>
              <a:rPr dirty="0" err="1"/>
              <a:t>металлургия</a:t>
            </a:r>
            <a:r>
              <a:rPr dirty="0"/>
              <a:t>]</a:t>
            </a:r>
          </a:p>
        </p:txBody>
      </p:sp>
      <p:sp>
        <p:nvSpPr>
          <p:cNvPr id="4" name="Номер слайда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194510-4DFF-4EE5-8960-AACFA22B1AD6}" type="slidenum">
              <a:rPr kumimoji="0" lang="ru-RU"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ru-RU" sz="1200" b="0" i="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9098849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Разоблачение после игры. Фейков было шесть: Pandula, Регрессия Лобачевского, Критерий Штольца–Мэрфи, Ферротензия, Флукурзистенция, Токен-ферментация.</a:t>
            </a:r>
          </a:p>
          <a:p>
            <a:r>
              <a:t>Кто поднял руку на фейк — не стыдно: это эффект знакомости (illusory truth effect). Мозг «узнаёт» слово, потому что оно похоже на знакомые.</a:t>
            </a:r>
          </a:p>
          <a:p>
            <a:r>
              <a:t>Ровно так же LLM «узнаёт» несуществующие библиотеки и уверенно советует pip install. Злоумышленники регистрируют такие имена на PyPI с вредоносным кодом — это называется slopsquatting.</a:t>
            </a:r>
          </a:p>
          <a:p>
            <a:r>
              <a:t>Регрессию Лобачевского засчитать как бонус тому, кто вспомнит сплайны Лобачевского (1842).</a:t>
            </a:r>
          </a:p>
          <a:p>
            <a:r>
              <a:t>Мем: «Я data scientist» — «А что такое доверительный интервал?» — тишина. Руку поднять легко, объяснить — сложнее.</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t>1. Python — [DA]</a:t>
            </a:r>
          </a:p>
          <a:p>
            <a:r>
              <a:t>2. Коалесценция — [DA] + [металлургия]</a:t>
            </a:r>
          </a:p>
          <a:p>
            <a:r>
              <a:t>3. Pandas — [DA]</a:t>
            </a:r>
          </a:p>
          <a:p>
            <a:r>
              <a:t>4. Pandula — [ФЕЙК]</a:t>
            </a:r>
          </a:p>
          <a:p>
            <a:r>
              <a:t>5. Корреляция — [DA]</a:t>
            </a:r>
          </a:p>
          <a:p>
            <a:r>
              <a:t>6. Метод Шарпи — [металлургия]</a:t>
            </a:r>
          </a:p>
          <a:p>
            <a:r>
              <a:t>7. Регрессия — [DA]</a:t>
            </a:r>
          </a:p>
          <a:p>
            <a:r>
              <a:t>8. RAG — [2026]</a:t>
            </a:r>
          </a:p>
          <a:p>
            <a:r>
              <a:t>9. Кластеризация — [DA]</a:t>
            </a:r>
          </a:p>
          <a:p>
            <a:r>
              <a:t>10. Преюдиция — [ловушка: право]</a:t>
            </a:r>
          </a:p>
          <a:p>
            <a:r>
              <a:t>11. Регрессия Лобачевского — [ФЕЙК]</a:t>
            </a:r>
          </a:p>
          <a:p>
            <a:r>
              <a:t>12. Конкатенация — [DA]</a:t>
            </a:r>
          </a:p>
          <a:p>
            <a:r>
              <a:t>13. Случайный лес — [DA]</a:t>
            </a:r>
          </a:p>
          <a:p>
            <a:r>
              <a:t>14. Метод опорных векторов — [DA]</a:t>
            </a:r>
          </a:p>
          <a:p>
            <a:r>
              <a:t>15. Эмбеддинг — [2026]</a:t>
            </a:r>
          </a:p>
          <a:p>
            <a:r>
              <a:t>16. Критерий согласия Фишера, Колмогорова–Смирнова — [DA]</a:t>
            </a:r>
          </a:p>
          <a:p>
            <a:r>
              <a:t>17. Критерий Штольца–Мэрфи — [ФЕЙК]</a:t>
            </a:r>
          </a:p>
          <a:p>
            <a:r>
              <a:t>18. Трюизм — [ловушка: лингвистика]</a:t>
            </a:r>
          </a:p>
          <a:p>
            <a:r>
              <a:t>19. Треугольник Серпинского — [ловушка: математика]</a:t>
            </a:r>
          </a:p>
          <a:p>
            <a:r>
              <a:t>20. Ансамблевые методы — [DA]</a:t>
            </a:r>
          </a:p>
          <a:p>
            <a:r>
              <a:t>21. Вайб-кодинг — [2026]</a:t>
            </a:r>
          </a:p>
          <a:p>
            <a:r>
              <a:t>22. Юпайтер — [DA, искажённое]</a:t>
            </a:r>
          </a:p>
          <a:p>
            <a:r>
              <a:t>23. ARCH — [DA]</a:t>
            </a:r>
          </a:p>
          <a:p>
            <a:r>
              <a:t>24. Аусформинг — [металлургия]</a:t>
            </a:r>
          </a:p>
          <a:p>
            <a:r>
              <a:t>25. Ферротензия — [ФЕЙК]</a:t>
            </a:r>
          </a:p>
          <a:p>
            <a:r>
              <a:t>26. Bash — [DA]</a:t>
            </a:r>
          </a:p>
          <a:p>
            <a:r>
              <a:t>27. Флукурзистенция — [ФЕЙК]</a:t>
            </a:r>
          </a:p>
          <a:p>
            <a:r>
              <a:t>28. Галлюцинация LLM — [2026]</a:t>
            </a:r>
          </a:p>
          <a:p>
            <a:r>
              <a:t>29. Эксимеры — [ловушка: физика]</a:t>
            </a:r>
          </a:p>
          <a:p>
            <a:r>
              <a:t>30. Фласк — [DA, искажённое]</a:t>
            </a:r>
          </a:p>
          <a:p>
            <a:r>
              <a:t>31. Птеригиум — [ловушка: медицина]</a:t>
            </a:r>
          </a:p>
          <a:p>
            <a:r>
              <a:t>32. Токен-ферментация — [ФЕЙК]</a:t>
            </a:r>
          </a:p>
          <a:p>
            <a:r>
              <a:t>33. Джанго — [DA, искажённое]</a:t>
            </a:r>
          </a:p>
          <a:p>
            <a:r>
              <a:t>34. Аустенит — [металлургия]</a:t>
            </a:r>
          </a:p>
          <a:p>
            <a:r>
              <a:t>35. Промпт-инъекция — [2026]</a:t>
            </a:r>
          </a:p>
          <a:p>
            <a:r>
              <a:t>36. Перцептрон — [DA]</a:t>
            </a:r>
          </a:p>
          <a:p>
            <a:r>
              <a:t>37. Текстура Госса — [металлургия]</a:t>
            </a:r>
          </a:p>
        </p:txBody>
      </p:sp>
      <p:sp>
        <p:nvSpPr>
          <p:cNvPr id="4" name="Номер слайда 3"/>
          <p:cNvSpPr>
            <a:spLocks noGrp="1"/>
          </p:cNvSpPr>
          <p:nvPr>
            <p:ph type="sldNum" sz="quarter" idx="10"/>
          </p:nvPr>
        </p:nvSpPr>
        <p:spPr/>
        <p:txBody>
          <a:bodyPr/>
          <a:lstStyle/>
          <a:p>
            <a:fld id="{D3194510-4DFF-4EE5-8960-AACFA22B1AD6}" type="slidenum">
              <a:rPr lang="ru-RU" smtClean="0"/>
              <a:t>5</a:t>
            </a:fld>
            <a:endParaRPr lang="ru-R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buFont typeface="Arial" panose="020B0604020202020204" pitchFamily="34" charset="0"/>
              <a:buChar char="•"/>
            </a:pPr>
            <a:r>
              <a:rPr lang="ru-RU" b="0" i="0" dirty="0">
                <a:solidFill>
                  <a:srgbClr val="4E4E4E"/>
                </a:solidFill>
                <a:effectLst/>
                <a:latin typeface="-apple-system"/>
              </a:rPr>
              <a:t>Аналитик — это тот, кто превращает хаос данных в понятные выводы для бизнеса".</a:t>
            </a:r>
          </a:p>
          <a:p>
            <a:pPr algn="l">
              <a:buFont typeface="Arial" panose="020B0604020202020204" pitchFamily="34" charset="0"/>
              <a:buChar char="•"/>
            </a:pPr>
            <a:r>
              <a:rPr lang="ru-RU" b="0" i="0" dirty="0">
                <a:solidFill>
                  <a:srgbClr val="4E4E4E"/>
                </a:solidFill>
                <a:effectLst/>
                <a:latin typeface="-apple-system"/>
              </a:rPr>
              <a:t>"Он не просто строит графики, он отвечает на вопросы: </a:t>
            </a:r>
            <a:r>
              <a:rPr lang="ru-RU" b="1" i="0" dirty="0">
                <a:solidFill>
                  <a:srgbClr val="4E4E4E"/>
                </a:solidFill>
                <a:effectLst/>
                <a:latin typeface="-apple-system"/>
              </a:rPr>
              <a:t>Что случилось? Почему это случилось? А что нам теперь с этим делать?</a:t>
            </a:r>
            <a:r>
              <a:rPr lang="ru-RU" b="0" i="0" dirty="0">
                <a:solidFill>
                  <a:srgbClr val="4E4E4E"/>
                </a:solidFill>
                <a:effectLst/>
                <a:latin typeface="-apple-system"/>
              </a:rPr>
              <a:t>"</a:t>
            </a:r>
          </a:p>
          <a:p>
            <a:pPr algn="l">
              <a:buFont typeface="Arial" panose="020B0604020202020204" pitchFamily="34" charset="0"/>
              <a:buChar char="•"/>
            </a:pPr>
            <a:r>
              <a:rPr lang="ru-RU" b="1" i="0" dirty="0">
                <a:solidFill>
                  <a:srgbClr val="4E4E4E"/>
                </a:solidFill>
                <a:effectLst/>
                <a:latin typeface="-apple-system"/>
              </a:rPr>
              <a:t>Кейс:</a:t>
            </a:r>
            <a:r>
              <a:rPr lang="ru-RU" b="0" i="0" dirty="0">
                <a:solidFill>
                  <a:srgbClr val="4E4E4E"/>
                </a:solidFill>
                <a:effectLst/>
                <a:latin typeface="-apple-system"/>
              </a:rPr>
              <a:t> "Аналитики </a:t>
            </a:r>
            <a:r>
              <a:rPr lang="ru-RU" b="0" i="0" dirty="0" err="1">
                <a:solidFill>
                  <a:srgbClr val="4E4E4E"/>
                </a:solidFill>
                <a:effectLst/>
                <a:latin typeface="-apple-system"/>
              </a:rPr>
              <a:t>Netflix</a:t>
            </a:r>
            <a:r>
              <a:rPr lang="ru-RU" b="0" i="0" dirty="0">
                <a:solidFill>
                  <a:srgbClr val="4E4E4E"/>
                </a:solidFill>
                <a:effectLst/>
                <a:latin typeface="-apple-system"/>
              </a:rPr>
              <a:t> увидели, что зрители 'залипают' на сериалах, где следующая серия включается автоматически. Они сделали это фичей по умолчанию и увеличили время просмотра на миллионы часов".</a:t>
            </a:r>
          </a:p>
          <a:p>
            <a:pPr marL="0" marR="0" lvl="0" indent="0" algn="l" rtl="0">
              <a:lnSpc>
                <a:spcPct val="100000"/>
              </a:lnSpc>
              <a:spcBef>
                <a:spcPts val="0"/>
              </a:spcBef>
              <a:spcAft>
                <a:spcPts val="0"/>
              </a:spcAft>
              <a:buClr>
                <a:schemeClr val="lt1"/>
              </a:buClr>
              <a:buSzPts val="1200"/>
              <a:buFont typeface="Arial" panose="020B0604020202020204"/>
              <a:buNone/>
            </a:pPr>
            <a:endParaRPr lang="ru-RU" dirty="0"/>
          </a:p>
        </p:txBody>
      </p:sp>
      <p:sp>
        <p:nvSpPr>
          <p:cNvPr id="4" name="Номер слайда 3"/>
          <p:cNvSpPr>
            <a:spLocks noGrp="1"/>
          </p:cNvSpPr>
          <p:nvPr>
            <p:ph type="sldNum" sz="quarter" idx="10"/>
          </p:nvPr>
        </p:nvSpPr>
        <p:spPr/>
        <p:txBody>
          <a:bodyPr/>
          <a:lstStyle/>
          <a:p>
            <a:fld id="{D3194510-4DFF-4EE5-8960-AACFA22B1AD6}" type="slidenum">
              <a:rPr lang="ru-RU" smtClean="0"/>
              <a:t>6</a:t>
            </a:fld>
            <a:endParaRPr lang="ru-R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panose="020B0604020202020204"/>
              <a:buNone/>
            </a:pPr>
            <a:br>
              <a:rPr lang="ru-RU" dirty="0"/>
            </a:br>
            <a:br>
              <a:rPr lang="ru-RU" dirty="0"/>
            </a:br>
            <a:r>
              <a:rPr lang="ru-RU" dirty="0">
                <a:solidFill>
                  <a:srgbClr val="333333"/>
                </a:solidFill>
              </a:rPr>
              <a:t>«Важно не путать дата-</a:t>
            </a:r>
            <a:r>
              <a:rPr lang="ru-RU" dirty="0" err="1">
                <a:solidFill>
                  <a:srgbClr val="333333"/>
                </a:solidFill>
              </a:rPr>
              <a:t>саентиста</a:t>
            </a:r>
            <a:r>
              <a:rPr lang="ru-RU" dirty="0">
                <a:solidFill>
                  <a:srgbClr val="333333"/>
                </a:solidFill>
              </a:rPr>
              <a:t> и дата-аналитика. Первый — это программист, знающий определенный набор языков и алгоритмов. Он решает поставленную техническую задачу. А дата-аналитик ставит эту задачу и переводит результат на язык бизнеса. Для этого нужно развивать гибкие навыки: работа с требованиями, визуализация данных, переговоры. То есть понимать самому и уметь объяснить, что дает бизнесу ваша аналитика. </a:t>
            </a:r>
            <a:endParaRPr dirty="0"/>
          </a:p>
          <a:p>
            <a:pPr marL="0" lvl="0" indent="0" algn="l" rtl="0">
              <a:spcBef>
                <a:spcPts val="0"/>
              </a:spcBef>
              <a:spcAft>
                <a:spcPts val="0"/>
              </a:spcAft>
              <a:buNone/>
            </a:pPr>
            <a:endParaRPr dirty="0"/>
          </a:p>
        </p:txBody>
      </p:sp>
      <p:sp>
        <p:nvSpPr>
          <p:cNvPr id="149" name="Google Shape;149;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Arial" panose="020B0604020202020204"/>
              <a:buNone/>
            </a:pPr>
            <a:fld id="{00000000-1234-1234-1234-123412341234}" type="slidenum">
              <a:rPr lang="ru-RU">
                <a:latin typeface="Arial" panose="020B0604020202020204"/>
                <a:ea typeface="Arial" panose="020B0604020202020204"/>
                <a:cs typeface="Arial" panose="020B0604020202020204"/>
                <a:sym typeface="Arial" panose="020B0604020202020204"/>
              </a:rPr>
              <a:t>7</a:t>
            </a:fld>
            <a:endParaRPr>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9" name="Google Shape;159;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Arial" panose="020B0604020202020204"/>
              <a:buNone/>
            </a:pPr>
            <a:fld id="{00000000-1234-1234-1234-123412341234}" type="slidenum">
              <a:rPr lang="ru-RU">
                <a:latin typeface="Arial" panose="020B0604020202020204"/>
                <a:ea typeface="Arial" panose="020B0604020202020204"/>
                <a:cs typeface="Arial" panose="020B0604020202020204"/>
                <a:sym typeface="Arial" panose="020B0604020202020204"/>
              </a:rPr>
              <a:t>8</a:t>
            </a:fld>
            <a:endParaRPr>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panose="020B0604020202020204"/>
              <a:buNone/>
            </a:pPr>
            <a:br>
              <a:rPr lang="ru-RU" dirty="0"/>
            </a:br>
            <a:br>
              <a:rPr lang="ru-RU" dirty="0"/>
            </a:br>
            <a:r>
              <a:rPr lang="ru-RU" dirty="0">
                <a:solidFill>
                  <a:srgbClr val="333333"/>
                </a:solidFill>
              </a:rPr>
              <a:t>«Важно не путать дата-</a:t>
            </a:r>
            <a:r>
              <a:rPr lang="ru-RU" dirty="0" err="1">
                <a:solidFill>
                  <a:srgbClr val="333333"/>
                </a:solidFill>
              </a:rPr>
              <a:t>саентиста</a:t>
            </a:r>
            <a:r>
              <a:rPr lang="ru-RU" dirty="0">
                <a:solidFill>
                  <a:srgbClr val="333333"/>
                </a:solidFill>
              </a:rPr>
              <a:t> и дата-аналитика. Первый — это программист, знающий определенный набор языков и алгоритмов. Он решает поставленную техническую задачу. А дата-аналитик ставит эту задачу и переводит результат на язык бизнеса. Для этого нужно развивать гибкие навыки: работа с требованиями, визуализация данных, переговоры. То есть понимать самому и уметь объяснить, что дает бизнесу ваша аналитика. </a:t>
            </a:r>
            <a:endParaRPr dirty="0"/>
          </a:p>
          <a:p>
            <a:pPr marL="0" lvl="0" indent="0" algn="l" rtl="0">
              <a:spcBef>
                <a:spcPts val="0"/>
              </a:spcBef>
              <a:spcAft>
                <a:spcPts val="0"/>
              </a:spcAft>
              <a:buNone/>
            </a:pPr>
            <a:endParaRPr dirty="0"/>
          </a:p>
        </p:txBody>
      </p:sp>
      <p:sp>
        <p:nvSpPr>
          <p:cNvPr id="149" name="Google Shape;149;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Arial" panose="020B0604020202020204"/>
              <a:buNone/>
            </a:pPr>
            <a:fld id="{00000000-1234-1234-1234-123412341234}" type="slidenum">
              <a:rPr lang="ru-RU">
                <a:latin typeface="Arial" panose="020B0604020202020204"/>
                <a:ea typeface="Arial" panose="020B0604020202020204"/>
                <a:cs typeface="Arial" panose="020B0604020202020204"/>
                <a:sym typeface="Arial" panose="020B0604020202020204"/>
              </a:rPr>
              <a:t>9</a:t>
            </a:fld>
            <a:endParaRPr>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230708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panose="020B0604020202020204"/>
              <a:buNone/>
            </a:pPr>
            <a:br>
              <a:rPr lang="ru-RU" dirty="0"/>
            </a:br>
            <a:br>
              <a:rPr lang="ru-RU" dirty="0"/>
            </a:br>
            <a:r>
              <a:rPr lang="ru-RU" dirty="0">
                <a:solidFill>
                  <a:srgbClr val="333333"/>
                </a:solidFill>
              </a:rPr>
              <a:t>«Важно не путать дата-</a:t>
            </a:r>
            <a:r>
              <a:rPr lang="ru-RU" dirty="0" err="1">
                <a:solidFill>
                  <a:srgbClr val="333333"/>
                </a:solidFill>
              </a:rPr>
              <a:t>саентиста</a:t>
            </a:r>
            <a:r>
              <a:rPr lang="ru-RU" dirty="0">
                <a:solidFill>
                  <a:srgbClr val="333333"/>
                </a:solidFill>
              </a:rPr>
              <a:t> и дата-аналитика. Первый — это программист, знающий определенный набор языков и алгоритмов. Он решает поставленную техническую задачу. А дата-аналитик ставит эту задачу и переводит результат на язык бизнеса. Для этого нужно развивать гибкие навыки: работа с требованиями, визуализация данных, переговоры. То есть понимать самому и уметь объяснить, что дает бизнесу ваша аналитика. </a:t>
            </a:r>
            <a:endParaRPr dirty="0"/>
          </a:p>
          <a:p>
            <a:pPr marL="0" lvl="0" indent="0" algn="l" rtl="0">
              <a:spcBef>
                <a:spcPts val="0"/>
              </a:spcBef>
              <a:spcAft>
                <a:spcPts val="0"/>
              </a:spcAft>
              <a:buNone/>
            </a:pPr>
            <a:endParaRPr dirty="0"/>
          </a:p>
        </p:txBody>
      </p:sp>
      <p:sp>
        <p:nvSpPr>
          <p:cNvPr id="149" name="Google Shape;149;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Arial" panose="020B0604020202020204"/>
              <a:buNone/>
            </a:pPr>
            <a:fld id="{00000000-1234-1234-1234-123412341234}" type="slidenum">
              <a:rPr lang="ru-RU">
                <a:latin typeface="Arial" panose="020B0604020202020204"/>
                <a:ea typeface="Arial" panose="020B0604020202020204"/>
                <a:cs typeface="Arial" panose="020B0604020202020204"/>
                <a:sym typeface="Arial" panose="020B0604020202020204"/>
              </a:rPr>
              <a:t>10</a:t>
            </a:fld>
            <a:endParaRPr>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19136181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8" name="Google Shape;368;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rtl="0"/>
            <a:endParaRPr dirty="0"/>
          </a:p>
        </p:txBody>
      </p:sp>
      <p:sp>
        <p:nvSpPr>
          <p:cNvPr id="369" name="Google Shape;369;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latin typeface="Croc" panose="020B0502020203020203" pitchFamily="34" charset="0"/>
              </a:rPr>
              <a:t>11</a:t>
            </a:fld>
            <a:endParaRPr dirty="0">
              <a:latin typeface="Croc" panose="020B0502020203020203" pitchFamily="34" charset="0"/>
            </a:endParaRPr>
          </a:p>
        </p:txBody>
      </p:sp>
    </p:spTree>
    <p:extLst>
      <p:ext uri="{BB962C8B-B14F-4D97-AF65-F5344CB8AC3E}">
        <p14:creationId xmlns:p14="http://schemas.microsoft.com/office/powerpoint/2010/main" val="28794886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метки 1"/>
          <p:cNvSpPr>
            <a:spLocks noGrp="1"/>
          </p:cNvSpPr>
          <p:nvPr>
            <p:ph type="body" idx="1"/>
          </p:nvPr>
        </p:nvSpPr>
        <p:spPr/>
        <p:txBody>
          <a:bodyPr/>
          <a:lstStyle/>
          <a:p>
            <a:pPr algn="l">
              <a:buFont typeface="Arial" panose="020B0604020202020204" pitchFamily="34" charset="0"/>
              <a:buChar char="•"/>
            </a:pPr>
            <a:r>
              <a:rPr lang="ru-RU" b="1" i="0" dirty="0">
                <a:solidFill>
                  <a:srgbClr val="333333"/>
                </a:solidFill>
                <a:effectLst/>
                <a:latin typeface="var(--suisse-intl)"/>
              </a:rPr>
              <a:t>Получить выгрузку данных для определенных целей</a:t>
            </a:r>
            <a:br>
              <a:rPr lang="ru-RU" b="0" i="0" dirty="0">
                <a:solidFill>
                  <a:srgbClr val="333333"/>
                </a:solidFill>
                <a:effectLst/>
                <a:latin typeface="William Text Pro"/>
              </a:rPr>
            </a:br>
            <a:r>
              <a:rPr lang="ru-RU" b="0" i="0" dirty="0">
                <a:solidFill>
                  <a:srgbClr val="333333"/>
                </a:solidFill>
                <a:effectLst/>
                <a:latin typeface="William Text Pro"/>
              </a:rPr>
              <a:t>Бухгалтерии нужен список сотрудников, у которых в семье пятеро детей, — специалист делает выгрузку из базы данных.</a:t>
            </a:r>
            <a:br>
              <a:rPr lang="ru-RU" b="0" i="0" dirty="0">
                <a:solidFill>
                  <a:srgbClr val="333333"/>
                </a:solidFill>
                <a:effectLst/>
                <a:latin typeface="William Text Pro"/>
              </a:rPr>
            </a:br>
            <a:r>
              <a:rPr lang="ru-RU" b="1" i="0" dirty="0">
                <a:solidFill>
                  <a:srgbClr val="333333"/>
                </a:solidFill>
                <a:effectLst/>
                <a:latin typeface="var(--suisse-intl)"/>
              </a:rPr>
              <a:t>Провести А/B-тестирование</a:t>
            </a:r>
            <a:br>
              <a:rPr lang="ru-RU" b="0" i="0" dirty="0">
                <a:solidFill>
                  <a:srgbClr val="333333"/>
                </a:solidFill>
                <a:effectLst/>
                <a:latin typeface="William Text Pro"/>
              </a:rPr>
            </a:br>
            <a:r>
              <a:rPr lang="ru-RU" b="0" i="0" dirty="0">
                <a:solidFill>
                  <a:srgbClr val="333333"/>
                </a:solidFill>
                <a:effectLst/>
                <a:latin typeface="William Text Pro"/>
              </a:rPr>
              <a:t>Нужно выяснить, как пользователи реагируют на то, какого цвета кнопка, зеленого или красного. Аналитик тестирует два прототипа. Часть пользователей видят прототип с зеленой кнопкой, другие — с красной. Он смотрит, как реагировали пользователи, проверяет, было ли различие статистически значимо. В итоге — рекомендует решение, которое проверил в ходе теста: внедрить зеленую или красную кнопку.</a:t>
            </a:r>
          </a:p>
          <a:p>
            <a:pPr algn="l">
              <a:buFont typeface="Arial" panose="020B0604020202020204" pitchFamily="34" charset="0"/>
              <a:buChar char="•"/>
            </a:pPr>
            <a:r>
              <a:rPr lang="ru-RU" b="1" i="0" dirty="0">
                <a:solidFill>
                  <a:srgbClr val="333333"/>
                </a:solidFill>
                <a:effectLst/>
                <a:latin typeface="var(--suisse-intl)"/>
              </a:rPr>
              <a:t>Провести исследования</a:t>
            </a:r>
            <a:br>
              <a:rPr lang="ru-RU" b="0" i="0" dirty="0">
                <a:solidFill>
                  <a:srgbClr val="333333"/>
                </a:solidFill>
                <a:effectLst/>
                <a:latin typeface="William Text Pro"/>
              </a:rPr>
            </a:br>
            <a:r>
              <a:rPr lang="ru-RU" b="0" i="0" dirty="0">
                <a:solidFill>
                  <a:srgbClr val="333333"/>
                </a:solidFill>
                <a:effectLst/>
                <a:latin typeface="William Text Pro"/>
              </a:rPr>
              <a:t>Конкретного вопроса от бизнеса нет, но нужен </a:t>
            </a:r>
            <a:r>
              <a:rPr lang="ru-RU" b="0" i="0" dirty="0" err="1">
                <a:solidFill>
                  <a:srgbClr val="333333"/>
                </a:solidFill>
                <a:effectLst/>
                <a:latin typeface="William Text Pro"/>
              </a:rPr>
              <a:t>ресерч</a:t>
            </a:r>
            <a:r>
              <a:rPr lang="ru-RU" b="0" i="0" dirty="0">
                <a:solidFill>
                  <a:srgbClr val="333333"/>
                </a:solidFill>
                <a:effectLst/>
                <a:latin typeface="William Text Pro"/>
              </a:rPr>
              <a:t>: взять внешние или внутренние данные, исследовать, найти аномалии или инсайты, провести пиар-исследование.</a:t>
            </a:r>
          </a:p>
          <a:p>
            <a:pPr algn="l">
              <a:buFont typeface="Arial" panose="020B0604020202020204" pitchFamily="34" charset="0"/>
              <a:buChar char="•"/>
            </a:pPr>
            <a:r>
              <a:rPr lang="ru-RU" b="1" i="0" dirty="0">
                <a:solidFill>
                  <a:srgbClr val="333333"/>
                </a:solidFill>
                <a:effectLst/>
                <a:latin typeface="var(--suisse-intl)"/>
              </a:rPr>
              <a:t>Просчитать, какой вариант выгоднее</a:t>
            </a:r>
            <a:br>
              <a:rPr lang="ru-RU" b="0" i="0" dirty="0">
                <a:solidFill>
                  <a:srgbClr val="333333"/>
                </a:solidFill>
                <a:effectLst/>
                <a:latin typeface="William Text Pro"/>
              </a:rPr>
            </a:br>
            <a:r>
              <a:rPr lang="ru-RU" b="0" i="0" dirty="0">
                <a:solidFill>
                  <a:srgbClr val="333333"/>
                </a:solidFill>
                <a:effectLst/>
                <a:latin typeface="William Text Pro"/>
              </a:rPr>
              <a:t>Юнит-экономика: расчет РОИ, инвестиционного потенциала. Оценить окупаемость рекламной кампании или скорректировать бизнес-модель.</a:t>
            </a:r>
          </a:p>
          <a:p>
            <a:pPr algn="l">
              <a:buFont typeface="Arial" panose="020B0604020202020204" pitchFamily="34" charset="0"/>
              <a:buChar char="•"/>
            </a:pPr>
            <a:r>
              <a:rPr lang="ru-RU" b="1" i="0" dirty="0">
                <a:solidFill>
                  <a:srgbClr val="333333"/>
                </a:solidFill>
                <a:effectLst/>
                <a:latin typeface="var(--suisse-intl)"/>
              </a:rPr>
              <a:t>Выяснить, какой товар и в какое время больше покупают</a:t>
            </a:r>
            <a:br>
              <a:rPr lang="ru-RU" b="0" i="0" dirty="0">
                <a:solidFill>
                  <a:srgbClr val="333333"/>
                </a:solidFill>
                <a:effectLst/>
                <a:latin typeface="William Text Pro"/>
              </a:rPr>
            </a:br>
            <a:r>
              <a:rPr lang="ru-RU" b="0" i="0" dirty="0">
                <a:solidFill>
                  <a:srgbClr val="333333"/>
                </a:solidFill>
                <a:effectLst/>
                <a:latin typeface="William Text Pro"/>
              </a:rPr>
              <a:t>Взять группу товаров и посмотреть, есть ли сезонные всплески интереса, сравнить с другими группами.</a:t>
            </a:r>
          </a:p>
          <a:p>
            <a:endParaRPr lang="ru-RU"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76200" algn="l" rtl="0">
              <a:spcBef>
                <a:spcPts val="0"/>
              </a:spcBef>
              <a:spcAft>
                <a:spcPts val="0"/>
              </a:spcAft>
              <a:buClr>
                <a:srgbClr val="000000"/>
              </a:buClr>
              <a:buSzPts val="1200"/>
              <a:buFont typeface="Arial" panose="020B0604020202020204"/>
              <a:buChar char="•"/>
            </a:pPr>
            <a:r>
              <a:rPr lang="ru-RU" b="0" i="0" dirty="0">
                <a:solidFill>
                  <a:srgbClr val="000000"/>
                </a:solidFill>
                <a:latin typeface="Arial" panose="020B0604020202020204"/>
                <a:ea typeface="Arial" panose="020B0604020202020204"/>
                <a:cs typeface="Arial" panose="020B0604020202020204"/>
                <a:sym typeface="Arial" panose="020B0604020202020204"/>
              </a:rPr>
              <a:t>иметь отличную математическую базу – за аналитиком не хочется перепроверять выкладки и формулы,</a:t>
            </a:r>
            <a:endParaRPr dirty="0"/>
          </a:p>
          <a:p>
            <a:pPr marL="0" lvl="0" indent="-76200" algn="l" rtl="0">
              <a:spcBef>
                <a:spcPts val="0"/>
              </a:spcBef>
              <a:spcAft>
                <a:spcPts val="0"/>
              </a:spcAft>
              <a:buClr>
                <a:srgbClr val="000000"/>
              </a:buClr>
              <a:buSzPts val="1200"/>
              <a:buFont typeface="Arial" panose="020B0604020202020204"/>
              <a:buChar char="•"/>
            </a:pPr>
            <a:r>
              <a:rPr lang="ru-RU" b="0" i="0" dirty="0">
                <a:solidFill>
                  <a:srgbClr val="000000"/>
                </a:solidFill>
                <a:latin typeface="Arial" panose="020B0604020202020204"/>
                <a:ea typeface="Arial" panose="020B0604020202020204"/>
                <a:cs typeface="Arial" panose="020B0604020202020204"/>
                <a:sym typeface="Arial" panose="020B0604020202020204"/>
              </a:rPr>
              <a:t>понимать базовую теорию вероятности и математическую статистику – нужно уметь проверять гипотезы, понимать ошибки разного рода, зависимость / независимость испытаний и т. д.</a:t>
            </a:r>
            <a:endParaRPr dirty="0"/>
          </a:p>
          <a:p>
            <a:pPr marL="0" lvl="0" indent="-76200" algn="l" rtl="0">
              <a:spcBef>
                <a:spcPts val="0"/>
              </a:spcBef>
              <a:spcAft>
                <a:spcPts val="0"/>
              </a:spcAft>
              <a:buClr>
                <a:srgbClr val="000000"/>
              </a:buClr>
              <a:buSzPts val="1200"/>
              <a:buFont typeface="Arial" panose="020B0604020202020204"/>
              <a:buChar char="•"/>
            </a:pPr>
            <a:r>
              <a:rPr lang="ru-RU" b="0" i="0" dirty="0">
                <a:solidFill>
                  <a:srgbClr val="000000"/>
                </a:solidFill>
                <a:latin typeface="Arial" panose="020B0604020202020204"/>
                <a:ea typeface="Arial" panose="020B0604020202020204"/>
                <a:cs typeface="Arial" panose="020B0604020202020204"/>
                <a:sym typeface="Arial" panose="020B0604020202020204"/>
              </a:rPr>
              <a:t>иметь математическую культуру – если аналитик использует метод или алгоритм, он должен знать область его применимости,</a:t>
            </a:r>
            <a:endParaRPr dirty="0"/>
          </a:p>
          <a:p>
            <a:pPr marL="0" lvl="0" indent="-76200" algn="l" rtl="0">
              <a:spcBef>
                <a:spcPts val="0"/>
              </a:spcBef>
              <a:spcAft>
                <a:spcPts val="0"/>
              </a:spcAft>
              <a:buClr>
                <a:srgbClr val="000000"/>
              </a:buClr>
              <a:buSzPts val="1200"/>
              <a:buFont typeface="Arial" panose="020B0604020202020204"/>
              <a:buChar char="•"/>
            </a:pPr>
            <a:r>
              <a:rPr lang="ru-RU" b="0" i="0" dirty="0">
                <a:solidFill>
                  <a:srgbClr val="000000"/>
                </a:solidFill>
                <a:latin typeface="Arial" panose="020B0604020202020204"/>
                <a:ea typeface="Arial" panose="020B0604020202020204"/>
                <a:cs typeface="Arial" panose="020B0604020202020204"/>
                <a:sym typeface="Arial" panose="020B0604020202020204"/>
              </a:rPr>
              <a:t>обладать критическим мышлением – реже, чем другие люди попадаться в ловушки когнитивных искажений,</a:t>
            </a:r>
            <a:endParaRPr dirty="0"/>
          </a:p>
          <a:p>
            <a:pPr marL="0" lvl="0" indent="-76200" algn="l" rtl="0">
              <a:spcBef>
                <a:spcPts val="0"/>
              </a:spcBef>
              <a:spcAft>
                <a:spcPts val="0"/>
              </a:spcAft>
              <a:buClr>
                <a:srgbClr val="000000"/>
              </a:buClr>
              <a:buSzPts val="1200"/>
              <a:buFont typeface="Arial" panose="020B0604020202020204"/>
              <a:buChar char="•"/>
            </a:pPr>
            <a:r>
              <a:rPr lang="ru-RU" b="0" i="0" dirty="0">
                <a:solidFill>
                  <a:srgbClr val="000000"/>
                </a:solidFill>
                <a:latin typeface="Arial" panose="020B0604020202020204"/>
                <a:ea typeface="Arial" panose="020B0604020202020204"/>
                <a:cs typeface="Arial" panose="020B0604020202020204"/>
                <a:sym typeface="Arial" panose="020B0604020202020204"/>
              </a:rPr>
              <a:t>обладать продуктовым мышлением – уметь оцифровывать пользовательский опыт в метриках, а также видеть за метриками пользователей, пытающихся решить определенную задачу,</a:t>
            </a:r>
            <a:endParaRPr dirty="0"/>
          </a:p>
          <a:p>
            <a:pPr marL="0" lvl="0" indent="-76200" algn="l" rtl="0">
              <a:spcBef>
                <a:spcPts val="0"/>
              </a:spcBef>
              <a:spcAft>
                <a:spcPts val="0"/>
              </a:spcAft>
              <a:buClr>
                <a:srgbClr val="000000"/>
              </a:buClr>
              <a:buSzPts val="1200"/>
              <a:buFont typeface="Arial" panose="020B0604020202020204"/>
              <a:buChar char="•"/>
            </a:pPr>
            <a:r>
              <a:rPr lang="ru-RU" b="0" i="0" dirty="0">
                <a:solidFill>
                  <a:srgbClr val="000000"/>
                </a:solidFill>
                <a:latin typeface="Arial" panose="020B0604020202020204"/>
                <a:ea typeface="Arial" panose="020B0604020202020204"/>
                <a:cs typeface="Arial" panose="020B0604020202020204"/>
                <a:sym typeface="Arial" panose="020B0604020202020204"/>
              </a:rPr>
              <a:t>обладать бизнесовым мышлением – уметь оцифровывать бизнес-процессы компании и изменения рынка, связать это воедино с продуктом и пользователями,</a:t>
            </a:r>
            <a:endParaRPr dirty="0"/>
          </a:p>
          <a:p>
            <a:pPr marL="0" lvl="0" indent="-76200" algn="l" rtl="0">
              <a:spcBef>
                <a:spcPts val="0"/>
              </a:spcBef>
              <a:spcAft>
                <a:spcPts val="0"/>
              </a:spcAft>
              <a:buClr>
                <a:srgbClr val="000000"/>
              </a:buClr>
              <a:buSzPts val="1200"/>
              <a:buFont typeface="Arial" panose="020B0604020202020204"/>
              <a:buChar char="•"/>
            </a:pPr>
            <a:r>
              <a:rPr lang="ru-RU" b="0" i="0" dirty="0">
                <a:solidFill>
                  <a:srgbClr val="000000"/>
                </a:solidFill>
                <a:latin typeface="Arial" panose="020B0604020202020204"/>
                <a:ea typeface="Arial" panose="020B0604020202020204"/>
                <a:cs typeface="Arial" panose="020B0604020202020204"/>
                <a:sym typeface="Arial" panose="020B0604020202020204"/>
              </a:rPr>
              <a:t>быть технарём – аналитик не обязан программировать как разработчик (эффективно, отказоустойчиво и масштабируемо), но у него не должно быть технических </a:t>
            </a:r>
            <a:r>
              <a:rPr lang="ru-RU" b="0" i="0" dirty="0" err="1">
                <a:solidFill>
                  <a:srgbClr val="000000"/>
                </a:solidFill>
                <a:latin typeface="Arial" panose="020B0604020202020204"/>
                <a:ea typeface="Arial" panose="020B0604020202020204"/>
                <a:cs typeface="Arial" panose="020B0604020202020204"/>
                <a:sym typeface="Arial" panose="020B0604020202020204"/>
              </a:rPr>
              <a:t>блокеров</a:t>
            </a:r>
            <a:r>
              <a:rPr lang="ru-RU" b="0" i="0" dirty="0">
                <a:solidFill>
                  <a:srgbClr val="000000"/>
                </a:solidFill>
                <a:latin typeface="Arial" panose="020B0604020202020204"/>
                <a:ea typeface="Arial" panose="020B0604020202020204"/>
                <a:cs typeface="Arial" panose="020B0604020202020204"/>
                <a:sym typeface="Arial" panose="020B0604020202020204"/>
              </a:rPr>
              <a:t> для того, чтобы решать задачи бизнеса: почитать документацию, сходить в какую-то новую БД и вытащить нужные данные, написать парсер, воспользоваться каким-то API для автоматизации и т. д.</a:t>
            </a:r>
            <a:endParaRPr dirty="0"/>
          </a:p>
          <a:p>
            <a:pPr marL="0" lvl="0" indent="0" algn="l" rtl="0">
              <a:spcBef>
                <a:spcPts val="0"/>
              </a:spcBef>
              <a:spcAft>
                <a:spcPts val="0"/>
              </a:spcAft>
              <a:buNone/>
            </a:pPr>
            <a:endParaRPr dirty="0"/>
          </a:p>
        </p:txBody>
      </p:sp>
      <p:sp>
        <p:nvSpPr>
          <p:cNvPr id="183" name="Google Shape;18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8" name="Google Shape;368;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rtl="0"/>
            <a:endParaRPr dirty="0"/>
          </a:p>
        </p:txBody>
      </p:sp>
      <p:sp>
        <p:nvSpPr>
          <p:cNvPr id="369" name="Google Shape;369;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latin typeface="Croc" panose="020B0502020203020203" pitchFamily="34" charset="0"/>
              </a:rPr>
              <a:t>14</a:t>
            </a:fld>
            <a:endParaRPr dirty="0">
              <a:latin typeface="Croc" panose="020B0502020203020203"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8" name="Google Shape;368;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rtl="0"/>
            <a:endParaRPr dirty="0"/>
          </a:p>
        </p:txBody>
      </p:sp>
      <p:sp>
        <p:nvSpPr>
          <p:cNvPr id="369" name="Google Shape;369;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latin typeface="Croc" panose="020B0502020203020203" pitchFamily="34" charset="0"/>
              </a:rPr>
              <a:t>15</a:t>
            </a:fld>
            <a:endParaRPr dirty="0">
              <a:latin typeface="Croc" panose="020B0502020203020203" pitchFamily="34" charset="0"/>
            </a:endParaRPr>
          </a:p>
        </p:txBody>
      </p:sp>
    </p:spTree>
    <p:extLst>
      <p:ext uri="{BB962C8B-B14F-4D97-AF65-F5344CB8AC3E}">
        <p14:creationId xmlns:p14="http://schemas.microsoft.com/office/powerpoint/2010/main" val="27200097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Актуальная версия 2026. Что изменилось по сравнению с прошлым слайдом: джуну уже нужно уметь работать с ИИ-ассистентом — формулировать запрос и, главное, проверять сгенерированный код. От мидла ждут Git и базовый Docker. У сеньора Hadoop уступил место Spark и колоночным СУБД вроде ClickHouse, а оркестрация пайплайнов — Airflow и dbt.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err="1"/>
              <a:t>Титульник</a:t>
            </a:r>
            <a:endParaRPr lang="ru-RU" dirty="0"/>
          </a:p>
        </p:txBody>
      </p:sp>
      <p:sp>
        <p:nvSpPr>
          <p:cNvPr id="4" name="Номер слайда 3"/>
          <p:cNvSpPr>
            <a:spLocks noGrp="1"/>
          </p:cNvSpPr>
          <p:nvPr>
            <p:ph type="sldNum" sz="quarter" idx="10"/>
          </p:nvPr>
        </p:nvSpPr>
        <p:spPr/>
        <p:txBody>
          <a:bodyPr/>
          <a:lstStyle/>
          <a:p>
            <a:fld id="{D3194510-4DFF-4EE5-8960-AACFA22B1AD6}" type="slidenum">
              <a:rPr lang="ru-RU" smtClean="0"/>
              <a:t>17</a:t>
            </a:fld>
            <a:endParaRPr lang="ru-RU"/>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D3194510-4DFF-4EE5-8960-AACFA22B1AD6}" type="slidenum">
              <a:rPr lang="ru-RU" smtClean="0"/>
              <a:t>18</a:t>
            </a:fld>
            <a:endParaRPr lang="ru-RU"/>
          </a:p>
        </p:txBody>
      </p:sp>
    </p:spTree>
    <p:extLst>
      <p:ext uri="{BB962C8B-B14F-4D97-AF65-F5344CB8AC3E}">
        <p14:creationId xmlns:p14="http://schemas.microsoft.com/office/powerpoint/2010/main" val="13316095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panose="020B0604020202020204"/>
              <a:buNone/>
            </a:pPr>
            <a:r>
              <a:rPr lang="ru-RU" sz="1200" b="0" i="0" dirty="0">
                <a:solidFill>
                  <a:srgbClr val="000000"/>
                </a:solidFill>
                <a:latin typeface="Arial" panose="020B0604020202020204"/>
                <a:ea typeface="Arial" panose="020B0604020202020204"/>
                <a:cs typeface="Arial" panose="020B0604020202020204"/>
                <a:sym typeface="Arial" panose="020B0604020202020204"/>
              </a:rPr>
              <a:t>во время рождественских каникул, когда его исследовательская лаборатория была закрыта и ему просто некуда было деваться. </a:t>
            </a:r>
            <a:endParaRPr dirty="0"/>
          </a:p>
          <a:p>
            <a:pPr marL="0" marR="0" lvl="0" indent="0" algn="l" rtl="0">
              <a:lnSpc>
                <a:spcPct val="100000"/>
              </a:lnSpc>
              <a:spcBef>
                <a:spcPts val="0"/>
              </a:spcBef>
              <a:spcAft>
                <a:spcPts val="0"/>
              </a:spcAft>
              <a:buClr>
                <a:srgbClr val="000000"/>
              </a:buClr>
              <a:buSzPts val="1200"/>
              <a:buFont typeface="Arial" panose="020B0604020202020204"/>
              <a:buNone/>
            </a:pPr>
            <a:r>
              <a:rPr lang="ru-RU" sz="1200" b="0" i="0" dirty="0">
                <a:solidFill>
                  <a:srgbClr val="000000"/>
                </a:solidFill>
                <a:latin typeface="Arial" panose="020B0604020202020204"/>
                <a:ea typeface="Arial" panose="020B0604020202020204"/>
                <a:cs typeface="Arial" panose="020B0604020202020204"/>
                <a:sym typeface="Arial" panose="020B0604020202020204"/>
              </a:rPr>
              <a:t>Он позаимствовал многие средства программирования, присущие другим языкам.</a:t>
            </a:r>
            <a:br>
              <a:rPr lang="ru-RU" sz="1200" b="0" i="0" dirty="0">
                <a:solidFill>
                  <a:srgbClr val="000000"/>
                </a:solidFill>
                <a:latin typeface="Arial" panose="020B0604020202020204"/>
                <a:ea typeface="Arial" panose="020B0604020202020204"/>
                <a:cs typeface="Arial" panose="020B0604020202020204"/>
                <a:sym typeface="Arial" panose="020B0604020202020204"/>
              </a:rPr>
            </a:br>
            <a:r>
              <a:rPr lang="ru-RU" sz="1200" b="0" i="0" dirty="0">
                <a:solidFill>
                  <a:srgbClr val="000000"/>
                </a:solidFill>
                <a:latin typeface="Arial" panose="020B0604020202020204"/>
                <a:ea typeface="Arial" panose="020B0604020202020204"/>
                <a:cs typeface="Arial" panose="020B0604020202020204"/>
                <a:sym typeface="Arial" panose="020B0604020202020204"/>
              </a:rPr>
              <a:t>В 1991 г. после испытаний и экспериментов в узком кругу друзей и коллег по работе, Python был размещен для общего доступа на суд широкой общественности.</a:t>
            </a:r>
            <a:br>
              <a:rPr lang="ru-RU" sz="1200" b="0" i="0" dirty="0">
                <a:solidFill>
                  <a:srgbClr val="000000"/>
                </a:solidFill>
                <a:latin typeface="Arial" panose="020B0604020202020204"/>
                <a:ea typeface="Arial" panose="020B0604020202020204"/>
                <a:cs typeface="Arial" panose="020B0604020202020204"/>
                <a:sym typeface="Arial" panose="020B0604020202020204"/>
              </a:rPr>
            </a:br>
            <a:endParaRPr sz="1200" b="0" i="0" dirty="0">
              <a:solidFill>
                <a:srgbClr val="000000"/>
              </a:solidFill>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None/>
            </a:pPr>
            <a:endParaRPr b="0" i="0" dirty="0">
              <a:solidFill>
                <a:srgbClr val="000000"/>
              </a:solidFill>
              <a:latin typeface="Arial" panose="020B0604020202020204"/>
              <a:ea typeface="Arial" panose="020B0604020202020204"/>
              <a:cs typeface="Arial" panose="020B0604020202020204"/>
              <a:sym typeface="Arial" panose="020B0604020202020204"/>
            </a:endParaRPr>
          </a:p>
          <a:p>
            <a:pPr marL="0" lvl="0" indent="0" algn="l" rtl="0">
              <a:spcBef>
                <a:spcPts val="0"/>
              </a:spcBef>
              <a:spcAft>
                <a:spcPts val="0"/>
              </a:spcAft>
              <a:buNone/>
            </a:pPr>
            <a:r>
              <a:rPr lang="ru-RU" b="0" i="0" dirty="0">
                <a:solidFill>
                  <a:srgbClr val="000000"/>
                </a:solidFill>
                <a:latin typeface="Arial" panose="020B0604020202020204"/>
                <a:ea typeface="Arial" panose="020B0604020202020204"/>
                <a:cs typeface="Arial" panose="020B0604020202020204"/>
                <a:sym typeface="Arial" panose="020B0604020202020204"/>
              </a:rPr>
              <a:t>В отличие от других языков программирования, Python не только распространяется совершенно бесплатно, он не имеет абсолютно никаких ограничений в условиях применения. Никто не ограничивает коммерческое использование программных продуктов, написанных на этом языке, без каких-либо лицензионных отчислений.</a:t>
            </a:r>
            <a:br>
              <a:rPr lang="ru-RU" dirty="0"/>
            </a:br>
            <a:r>
              <a:rPr lang="ru-RU" b="0" i="0" dirty="0">
                <a:solidFill>
                  <a:srgbClr val="000000"/>
                </a:solidFill>
                <a:latin typeface="Arial" panose="020B0604020202020204"/>
                <a:ea typeface="Arial" panose="020B0604020202020204"/>
                <a:cs typeface="Arial" panose="020B0604020202020204"/>
                <a:sym typeface="Arial" panose="020B0604020202020204"/>
              </a:rPr>
              <a:t>Программисты также вольны модернизировать язык, не ставя в известность автора.</a:t>
            </a:r>
            <a:br>
              <a:rPr lang="ru-RU" dirty="0"/>
            </a:br>
            <a:r>
              <a:rPr lang="ru-RU" b="0" i="0" dirty="0">
                <a:solidFill>
                  <a:srgbClr val="000000"/>
                </a:solidFill>
                <a:latin typeface="Arial" panose="020B0604020202020204"/>
                <a:ea typeface="Arial" panose="020B0604020202020204"/>
                <a:cs typeface="Arial" panose="020B0604020202020204"/>
                <a:sym typeface="Arial" panose="020B0604020202020204"/>
              </a:rPr>
              <a:t>Наличие дружелюбного, отзывчивого сообщества пользователей считается наряду с дизайнерской интуицией Гвидо одним из факторов успеха Python. Развитие языка происходит согласно чётко регламентированному процессу создания, обсуждения, отбора и реализации документов PEP (Python </a:t>
            </a:r>
            <a:r>
              <a:rPr lang="ru-RU" b="0" i="0" dirty="0" err="1">
                <a:solidFill>
                  <a:srgbClr val="000000"/>
                </a:solidFill>
                <a:latin typeface="Arial" panose="020B0604020202020204"/>
                <a:ea typeface="Arial" panose="020B0604020202020204"/>
                <a:cs typeface="Arial" panose="020B0604020202020204"/>
                <a:sym typeface="Arial" panose="020B0604020202020204"/>
              </a:rPr>
              <a:t>Enhancement</a:t>
            </a:r>
            <a:r>
              <a:rPr lang="ru-RU" b="0" i="0" dirty="0">
                <a:solidFill>
                  <a:srgbClr val="000000"/>
                </a:solidFill>
                <a:latin typeface="Arial" panose="020B0604020202020204"/>
                <a:ea typeface="Arial" panose="020B0604020202020204"/>
                <a:cs typeface="Arial" panose="020B0604020202020204"/>
                <a:sym typeface="Arial" panose="020B0604020202020204"/>
              </a:rPr>
              <a:t> </a:t>
            </a:r>
            <a:r>
              <a:rPr lang="ru-RU" b="0" i="0" dirty="0" err="1">
                <a:solidFill>
                  <a:srgbClr val="000000"/>
                </a:solidFill>
                <a:latin typeface="Arial" panose="020B0604020202020204"/>
                <a:ea typeface="Arial" panose="020B0604020202020204"/>
                <a:cs typeface="Arial" panose="020B0604020202020204"/>
                <a:sym typeface="Arial" panose="020B0604020202020204"/>
              </a:rPr>
              <a:t>Proposal</a:t>
            </a:r>
            <a:r>
              <a:rPr lang="ru-RU" b="0" i="0" dirty="0">
                <a:solidFill>
                  <a:srgbClr val="000000"/>
                </a:solidFill>
                <a:latin typeface="Arial" panose="020B0604020202020204"/>
                <a:ea typeface="Arial" panose="020B0604020202020204"/>
                <a:cs typeface="Arial" panose="020B0604020202020204"/>
                <a:sym typeface="Arial" panose="020B0604020202020204"/>
              </a:rPr>
              <a:t>) — предложений по развитию Python.</a:t>
            </a:r>
            <a:endParaRPr dirty="0"/>
          </a:p>
        </p:txBody>
      </p:sp>
      <p:sp>
        <p:nvSpPr>
          <p:cNvPr id="348" name="Google Shape;34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Python выпускается по расписанию: новая минорная версия каждый октябрь, поддержка 5 лет. В курсе мы используем 3.13 — зрелая версия, все библиотеки курса её поддерживают. 3.10 с октября 2026 не получает даже исправлений безопасности; самая старая поддерживаемая версия теперь 3.11. Главная новость последних лет — уход от GIL: в 3.13 сборка без GIL появилась экспериментально, в 3.14 стала официально поддерживаемой. Это значит, что потоки наконец-то смогут по-настоящему параллельно выполнять Python-код. t-строки (3.14) — родственник f-строк, которые мы проходим сегодня: вместо готовой строки дают шаблон, который можно безопасно обработать (например, для SQL или HTML). 3.15 вышел 9 октября 2026: среди главного — UTF-8 по умолчанию везде, включая Windows (меньше проблем с кодировкой при open()), ключевое слово lazy import (модуль загружается при первом обращении), встроенный frozendict и новый сэмплирующий профилировщик.</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D3194510-4DFF-4EE5-8960-AACFA22B1AD6}" type="slidenum">
              <a:rPr lang="ru-RU" smtClean="0"/>
              <a:t>21</a:t>
            </a:fld>
            <a:endParaRPr lang="ru-RU"/>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ru-RU" b="0" i="0" dirty="0">
                <a:solidFill>
                  <a:srgbClr val="333A4D"/>
                </a:solidFill>
                <a:effectLst/>
                <a:latin typeface="Roboto" panose="02000000000000000000" pitchFamily="2" charset="0"/>
              </a:rPr>
              <a:t>Относительно недавно в веб-разработке стали очень популярны </a:t>
            </a:r>
            <a:r>
              <a:rPr lang="ru-RU" b="0" i="0" u="none" strike="noStrike" dirty="0">
                <a:effectLst/>
                <a:latin typeface="Roboto" panose="02000000000000000000" pitchFamily="2" charset="0"/>
                <a:hlinkClick r:id="rId3"/>
              </a:rPr>
              <a:t>Python-фреймворки</a:t>
            </a:r>
            <a:r>
              <a:rPr lang="ru-RU" b="0" i="0" dirty="0">
                <a:solidFill>
                  <a:srgbClr val="333A4D"/>
                </a:solidFill>
                <a:effectLst/>
                <a:latin typeface="Roboto" panose="02000000000000000000" pitchFamily="2" charset="0"/>
              </a:rPr>
              <a:t>, такие как </a:t>
            </a:r>
            <a:r>
              <a:rPr lang="ru-RU" b="0" i="0" u="none" strike="noStrike" dirty="0" err="1">
                <a:effectLst/>
                <a:latin typeface="Roboto" panose="02000000000000000000" pitchFamily="2" charset="0"/>
                <a:hlinkClick r:id="rId4"/>
              </a:rPr>
              <a:t>Django</a:t>
            </a:r>
            <a:r>
              <a:rPr lang="ru-RU" b="0" i="0" dirty="0">
                <a:solidFill>
                  <a:srgbClr val="333A4D"/>
                </a:solidFill>
                <a:effectLst/>
                <a:latin typeface="Roboto" panose="02000000000000000000" pitchFamily="2" charset="0"/>
              </a:rPr>
              <a:t> и </a:t>
            </a:r>
            <a:r>
              <a:rPr lang="ru-RU" b="0" i="0" dirty="0" err="1">
                <a:solidFill>
                  <a:srgbClr val="333A4D"/>
                </a:solidFill>
                <a:effectLst/>
                <a:latin typeface="Roboto" panose="02000000000000000000" pitchFamily="2" charset="0"/>
              </a:rPr>
              <a:t>Flask</a:t>
            </a:r>
            <a:r>
              <a:rPr lang="ru-RU" b="0" i="0" dirty="0">
                <a:solidFill>
                  <a:srgbClr val="333A4D"/>
                </a:solidFill>
                <a:effectLst/>
                <a:latin typeface="Roboto" panose="02000000000000000000" pitchFamily="2" charset="0"/>
              </a:rPr>
              <a:t>. Они облегчают процесс написания на языке Python кода серверной части приложений. </a:t>
            </a:r>
          </a:p>
          <a:p>
            <a:pPr marL="0" lvl="0" indent="0" algn="l" rtl="0">
              <a:spcBef>
                <a:spcPts val="0"/>
              </a:spcBef>
              <a:spcAft>
                <a:spcPts val="0"/>
              </a:spcAft>
              <a:buNone/>
            </a:pPr>
            <a:endParaRPr lang="ru-RU" b="0" i="0" dirty="0">
              <a:solidFill>
                <a:srgbClr val="333A4D"/>
              </a:solidFill>
              <a:effectLst/>
              <a:latin typeface="Roboto" panose="02000000000000000000" pitchFamily="2" charset="0"/>
            </a:endParaRPr>
          </a:p>
          <a:p>
            <a:pPr algn="l"/>
            <a:r>
              <a:rPr lang="ru-RU" b="0" i="0" dirty="0">
                <a:solidFill>
                  <a:srgbClr val="333A4D"/>
                </a:solidFill>
                <a:effectLst/>
                <a:latin typeface="Roboto" panose="02000000000000000000" pitchFamily="2" charset="0"/>
              </a:rPr>
              <a:t>В качестве примера можно привести систему обработки электронной почты. Для сбора статистики и анализа данных требуется подсчитывать количество входящих писем, содержащих определенные ключевые слова. Это можно делать вручную, или же написать простой скрипт, который все посчитает сам.</a:t>
            </a:r>
          </a:p>
          <a:p>
            <a:pPr algn="l"/>
            <a:br>
              <a:rPr lang="ru-RU" dirty="0"/>
            </a:br>
            <a:r>
              <a:rPr lang="ru-RU" b="0" i="0" dirty="0">
                <a:solidFill>
                  <a:srgbClr val="333A4D"/>
                </a:solidFill>
                <a:effectLst/>
                <a:latin typeface="Roboto" panose="02000000000000000000" pitchFamily="2" charset="0"/>
              </a:rPr>
              <a:t>Есть несколько причин применения Python для задач автоматизации:</a:t>
            </a:r>
          </a:p>
          <a:p>
            <a:pPr algn="l">
              <a:buFont typeface="Arial" panose="020B0604020202020204" pitchFamily="34" charset="0"/>
              <a:buChar char="•"/>
            </a:pPr>
            <a:r>
              <a:rPr lang="ru-RU" b="0" i="0" dirty="0">
                <a:solidFill>
                  <a:srgbClr val="333A4D"/>
                </a:solidFill>
                <a:effectLst/>
                <a:latin typeface="Roboto" panose="02000000000000000000" pitchFamily="2" charset="0"/>
              </a:rPr>
              <a:t>простой синтаксис, позволяющий быстро писать сценарии;</a:t>
            </a:r>
          </a:p>
          <a:p>
            <a:pPr algn="l">
              <a:buFont typeface="Arial" panose="020B0604020202020204" pitchFamily="34" charset="0"/>
              <a:buChar char="•"/>
            </a:pPr>
            <a:r>
              <a:rPr lang="ru-RU" b="0" i="0" dirty="0">
                <a:solidFill>
                  <a:srgbClr val="333A4D"/>
                </a:solidFill>
                <a:effectLst/>
                <a:latin typeface="Roboto" panose="02000000000000000000" pitchFamily="2" charset="0"/>
              </a:rPr>
              <a:t>легкость отладки, связанная с тем, что код не компилируется перед запуском.</a:t>
            </a:r>
          </a:p>
          <a:p>
            <a:pPr algn="l">
              <a:buFont typeface="Arial" panose="020B0604020202020204" pitchFamily="34" charset="0"/>
              <a:buChar char="•"/>
            </a:pPr>
            <a:endParaRPr lang="ru-RU" b="0" i="0" dirty="0">
              <a:solidFill>
                <a:srgbClr val="333A4D"/>
              </a:solidFill>
              <a:effectLst/>
              <a:latin typeface="Roboto" panose="02000000000000000000" pitchFamily="2" charset="0"/>
            </a:endParaRPr>
          </a:p>
          <a:p>
            <a:pPr algn="l"/>
            <a:r>
              <a:rPr lang="en-US" b="0" i="0" dirty="0">
                <a:solidFill>
                  <a:srgbClr val="333A4D"/>
                </a:solidFill>
                <a:effectLst/>
                <a:latin typeface="var(--header-font)"/>
              </a:rPr>
              <a:t>Python </a:t>
            </a:r>
            <a:r>
              <a:rPr lang="ru-RU" b="0" i="0" dirty="0">
                <a:solidFill>
                  <a:srgbClr val="333A4D"/>
                </a:solidFill>
                <a:effectLst/>
                <a:latin typeface="var(--header-font)"/>
              </a:rPr>
              <a:t>и игры(</a:t>
            </a:r>
            <a:r>
              <a:rPr lang="en-US" b="0" i="0" dirty="0">
                <a:solidFill>
                  <a:srgbClr val="2C2D30"/>
                </a:solidFill>
                <a:effectLst/>
                <a:latin typeface="Roboto" panose="02000000000000000000" pitchFamily="2" charset="0"/>
              </a:rPr>
              <a:t>EVE Online, Battlefield 2, World of Tanks</a:t>
            </a:r>
            <a:r>
              <a:rPr lang="ru-RU" b="0" i="0" dirty="0">
                <a:solidFill>
                  <a:srgbClr val="2C2D30"/>
                </a:solidFill>
                <a:effectLst/>
                <a:latin typeface="Roboto" panose="02000000000000000000" pitchFamily="2" charset="0"/>
              </a:rPr>
              <a:t>)</a:t>
            </a:r>
            <a:r>
              <a:rPr lang="ru-RU" b="0" i="0" dirty="0">
                <a:solidFill>
                  <a:srgbClr val="333A4D"/>
                </a:solidFill>
                <a:effectLst/>
                <a:latin typeface="var(--header-font)"/>
              </a:rPr>
              <a:t>, боты, </a:t>
            </a:r>
            <a:r>
              <a:rPr lang="ru-RU" b="0" i="0" dirty="0" err="1">
                <a:solidFill>
                  <a:srgbClr val="333A4D"/>
                </a:solidFill>
                <a:effectLst/>
                <a:latin typeface="var(--header-font)"/>
              </a:rPr>
              <a:t>декстопные</a:t>
            </a:r>
            <a:r>
              <a:rPr lang="ru-RU" b="0" i="0" dirty="0">
                <a:solidFill>
                  <a:srgbClr val="333A4D"/>
                </a:solidFill>
                <a:effectLst/>
                <a:latin typeface="var(--header-font)"/>
              </a:rPr>
              <a:t> приложения(</a:t>
            </a:r>
            <a:r>
              <a:rPr lang="ru-RU" b="0" i="0" dirty="0">
                <a:solidFill>
                  <a:srgbClr val="2C2D30"/>
                </a:solidFill>
                <a:effectLst/>
                <a:latin typeface="Roboto" panose="02000000000000000000" pitchFamily="2" charset="0"/>
              </a:rPr>
              <a:t>графический редактор </a:t>
            </a:r>
            <a:r>
              <a:rPr lang="en-US" b="0" i="0" dirty="0">
                <a:solidFill>
                  <a:srgbClr val="2C2D30"/>
                </a:solidFill>
                <a:effectLst/>
                <a:latin typeface="Roboto" panose="02000000000000000000" pitchFamily="2" charset="0"/>
              </a:rPr>
              <a:t>GIMP</a:t>
            </a:r>
            <a:r>
              <a:rPr lang="ru-RU" b="0" i="0" dirty="0">
                <a:solidFill>
                  <a:srgbClr val="2C2D30"/>
                </a:solidFill>
                <a:effectLst/>
                <a:latin typeface="Roboto" panose="02000000000000000000" pitchFamily="2" charset="0"/>
              </a:rPr>
              <a:t>, </a:t>
            </a:r>
            <a:r>
              <a:rPr lang="en-US" b="0" i="0" dirty="0">
                <a:solidFill>
                  <a:srgbClr val="2C2D30"/>
                </a:solidFill>
                <a:effectLst/>
                <a:latin typeface="Roboto" panose="02000000000000000000" pitchFamily="2" charset="0"/>
              </a:rPr>
              <a:t> BitTorrent</a:t>
            </a:r>
            <a:r>
              <a:rPr lang="ru-RU" b="0" i="0" dirty="0">
                <a:solidFill>
                  <a:srgbClr val="2C2D30"/>
                </a:solidFill>
                <a:effectLst/>
                <a:latin typeface="Roboto" panose="02000000000000000000" pitchFamily="2" charset="0"/>
              </a:rPr>
              <a:t>)</a:t>
            </a:r>
          </a:p>
          <a:p>
            <a:pPr algn="l"/>
            <a:endParaRPr lang="ru-RU" b="0" i="0" dirty="0">
              <a:solidFill>
                <a:srgbClr val="2C2D30"/>
              </a:solidFill>
              <a:effectLst/>
              <a:latin typeface="Roboto" panose="02000000000000000000" pitchFamily="2" charset="0"/>
            </a:endParaRPr>
          </a:p>
          <a:p>
            <a:pPr algn="l"/>
            <a:r>
              <a:rPr lang="ru-RU" b="0" i="0" dirty="0">
                <a:solidFill>
                  <a:srgbClr val="2C2D30"/>
                </a:solidFill>
                <a:effectLst/>
                <a:latin typeface="Roboto" panose="02000000000000000000" pitchFamily="2" charset="0"/>
              </a:rPr>
              <a:t>В </a:t>
            </a:r>
            <a:r>
              <a:rPr lang="ru-RU" b="1" i="0" dirty="0">
                <a:solidFill>
                  <a:srgbClr val="2C2D30"/>
                </a:solidFill>
                <a:effectLst/>
                <a:latin typeface="Roboto" panose="02000000000000000000" pitchFamily="2" charset="0"/>
              </a:rPr>
              <a:t>Amazon и </a:t>
            </a:r>
            <a:r>
              <a:rPr lang="ru-RU" b="1" i="0" dirty="0" err="1">
                <a:solidFill>
                  <a:srgbClr val="2C2D30"/>
                </a:solidFill>
                <a:effectLst/>
                <a:latin typeface="Roboto" panose="02000000000000000000" pitchFamily="2" charset="0"/>
              </a:rPr>
              <a:t>Spotify</a:t>
            </a:r>
            <a:r>
              <a:rPr lang="ru-RU" b="0" i="0" dirty="0">
                <a:solidFill>
                  <a:srgbClr val="2C2D30"/>
                </a:solidFill>
                <a:effectLst/>
                <a:latin typeface="Roboto" panose="02000000000000000000" pitchFamily="2" charset="0"/>
              </a:rPr>
              <a:t> используют Python для анализа пользовательских данных, информации о продажах и разработки персонализированных рекомендаций.</a:t>
            </a:r>
          </a:p>
          <a:p>
            <a:pPr algn="l"/>
            <a:r>
              <a:rPr lang="ru-RU" b="0" i="0" dirty="0">
                <a:solidFill>
                  <a:srgbClr val="2C2D30"/>
                </a:solidFill>
                <a:effectLst/>
                <a:latin typeface="Roboto" panose="02000000000000000000" pitchFamily="2" charset="0"/>
              </a:rPr>
              <a:t>В </a:t>
            </a:r>
            <a:r>
              <a:rPr lang="ru-RU" b="1" i="0" dirty="0">
                <a:solidFill>
                  <a:srgbClr val="2C2D30"/>
                </a:solidFill>
                <a:effectLst/>
                <a:latin typeface="Roboto" panose="02000000000000000000" pitchFamily="2" charset="0"/>
              </a:rPr>
              <a:t>Walt Disney</a:t>
            </a:r>
            <a:r>
              <a:rPr lang="ru-RU" b="0" i="0" dirty="0">
                <a:solidFill>
                  <a:srgbClr val="2C2D30"/>
                </a:solidFill>
                <a:effectLst/>
                <a:latin typeface="Roboto" panose="02000000000000000000" pitchFamily="2" charset="0"/>
              </a:rPr>
              <a:t> применяют этот язык в качестве скриптового для анимации.</a:t>
            </a:r>
          </a:p>
          <a:p>
            <a:pPr algn="l"/>
            <a:r>
              <a:rPr lang="ru-RU" b="1" i="0" dirty="0">
                <a:solidFill>
                  <a:srgbClr val="2C2D30"/>
                </a:solidFill>
                <a:effectLst/>
                <a:latin typeface="Roboto" panose="02000000000000000000" pitchFamily="2" charset="0"/>
              </a:rPr>
              <a:t>YouTube и </a:t>
            </a:r>
            <a:r>
              <a:rPr lang="ru-RU" b="1" i="0" dirty="0" err="1">
                <a:solidFill>
                  <a:srgbClr val="2C2D30"/>
                </a:solidFill>
                <a:effectLst/>
                <a:latin typeface="Roboto" panose="02000000000000000000" pitchFamily="2" charset="0"/>
              </a:rPr>
              <a:t>Instagram</a:t>
            </a:r>
            <a:r>
              <a:rPr lang="ru-RU" b="0" i="0" dirty="0">
                <a:solidFill>
                  <a:srgbClr val="2C2D30"/>
                </a:solidFill>
                <a:effectLst/>
                <a:latin typeface="Roboto" panose="02000000000000000000" pitchFamily="2" charset="0"/>
              </a:rPr>
              <a:t>… Эти проекты полностью написаны на Python. Кроме того, холдинг </a:t>
            </a:r>
            <a:r>
              <a:rPr lang="ru-RU" b="0" i="0" dirty="0" err="1">
                <a:solidFill>
                  <a:srgbClr val="2C2D30"/>
                </a:solidFill>
                <a:effectLst/>
                <a:latin typeface="Roboto" panose="02000000000000000000" pitchFamily="2" charset="0"/>
              </a:rPr>
              <a:t>Alphabet</a:t>
            </a:r>
            <a:r>
              <a:rPr lang="ru-RU" b="0" i="0" dirty="0">
                <a:solidFill>
                  <a:srgbClr val="2C2D30"/>
                </a:solidFill>
                <a:effectLst/>
                <a:latin typeface="Roboto" panose="02000000000000000000" pitchFamily="2" charset="0"/>
              </a:rPr>
              <a:t> использует «питон» для </a:t>
            </a:r>
            <a:r>
              <a:rPr lang="ru-RU" b="0" i="0" dirty="0" err="1">
                <a:solidFill>
                  <a:srgbClr val="2C2D30"/>
                </a:solidFill>
                <a:effectLst/>
                <a:latin typeface="Roboto" panose="02000000000000000000" pitchFamily="2" charset="0"/>
              </a:rPr>
              <a:t>скрейпинга</a:t>
            </a:r>
            <a:r>
              <a:rPr lang="ru-RU" b="0" i="0" dirty="0">
                <a:solidFill>
                  <a:srgbClr val="2C2D30"/>
                </a:solidFill>
                <a:effectLst/>
                <a:latin typeface="Roboto" panose="02000000000000000000" pitchFamily="2" charset="0"/>
              </a:rPr>
              <a:t> в Google — извлечения данных со страниц веб-ресурсов.</a:t>
            </a:r>
          </a:p>
          <a:p>
            <a:pPr algn="l"/>
            <a:r>
              <a:rPr lang="ru-RU" b="1" i="0" dirty="0" err="1">
                <a:solidFill>
                  <a:srgbClr val="2C2D30"/>
                </a:solidFill>
                <a:effectLst/>
                <a:latin typeface="Roboto" panose="02000000000000000000" pitchFamily="2" charset="0"/>
              </a:rPr>
              <a:t>Netflix</a:t>
            </a:r>
            <a:r>
              <a:rPr lang="ru-RU" b="0" i="0" dirty="0">
                <a:solidFill>
                  <a:srgbClr val="2C2D30"/>
                </a:solidFill>
                <a:effectLst/>
                <a:latin typeface="Roboto" panose="02000000000000000000" pitchFamily="2" charset="0"/>
              </a:rPr>
              <a:t> создала свой рекомендательный сервис с нуля на Python.</a:t>
            </a:r>
          </a:p>
          <a:p>
            <a:pPr algn="l"/>
            <a:r>
              <a:rPr lang="ru-RU" b="1" i="0" dirty="0">
                <a:solidFill>
                  <a:srgbClr val="2C2D30"/>
                </a:solidFill>
                <a:effectLst/>
                <a:latin typeface="Roboto" panose="02000000000000000000" pitchFamily="2" charset="0"/>
              </a:rPr>
              <a:t>Autodesk </a:t>
            </a:r>
            <a:r>
              <a:rPr lang="ru-RU" b="0" i="0" dirty="0">
                <a:solidFill>
                  <a:srgbClr val="2C2D30"/>
                </a:solidFill>
                <a:effectLst/>
                <a:latin typeface="Roboto" panose="02000000000000000000" pitchFamily="2" charset="0"/>
              </a:rPr>
              <a:t>в своём редакторе 3D-анимации Maya с помощью Python создаёт мультипликацию. Так же язык использует студия </a:t>
            </a:r>
            <a:r>
              <a:rPr lang="ru-RU" b="1" i="0" dirty="0">
                <a:solidFill>
                  <a:srgbClr val="2C2D30"/>
                </a:solidFill>
                <a:effectLst/>
                <a:latin typeface="Roboto" panose="02000000000000000000" pitchFamily="2" charset="0"/>
              </a:rPr>
              <a:t>Pixar</a:t>
            </a:r>
            <a:r>
              <a:rPr lang="ru-RU" b="0" i="0" dirty="0">
                <a:solidFill>
                  <a:srgbClr val="2C2D30"/>
                </a:solidFill>
                <a:effectLst/>
                <a:latin typeface="Roboto" panose="02000000000000000000" pitchFamily="2" charset="0"/>
              </a:rPr>
              <a:t>.</a:t>
            </a:r>
          </a:p>
          <a:p>
            <a:pPr algn="l"/>
            <a:r>
              <a:rPr lang="ru-RU" b="1" i="0" dirty="0" err="1">
                <a:solidFill>
                  <a:srgbClr val="2C2D30"/>
                </a:solidFill>
                <a:effectLst/>
                <a:latin typeface="Roboto" panose="02000000000000000000" pitchFamily="2" charset="0"/>
              </a:rPr>
              <a:t>JPMorgan</a:t>
            </a:r>
            <a:r>
              <a:rPr lang="ru-RU" b="1" i="0" dirty="0">
                <a:solidFill>
                  <a:srgbClr val="2C2D30"/>
                </a:solidFill>
                <a:effectLst/>
                <a:latin typeface="Roboto" panose="02000000000000000000" pitchFamily="2" charset="0"/>
              </a:rPr>
              <a:t> Chase</a:t>
            </a:r>
            <a:r>
              <a:rPr lang="ru-RU" b="0" i="0" dirty="0">
                <a:solidFill>
                  <a:srgbClr val="2C2D30"/>
                </a:solidFill>
                <a:effectLst/>
                <a:latin typeface="Roboto" panose="02000000000000000000" pitchFamily="2" charset="0"/>
              </a:rPr>
              <a:t>, крупный американский финансовый холдинг, применяет Python для прогнозирования рынка.</a:t>
            </a:r>
          </a:p>
          <a:p>
            <a:pPr algn="l"/>
            <a:r>
              <a:rPr lang="ru-RU" b="1" i="0" dirty="0">
                <a:solidFill>
                  <a:srgbClr val="2C2D30"/>
                </a:solidFill>
                <a:effectLst/>
                <a:latin typeface="Roboto" panose="02000000000000000000" pitchFamily="2" charset="0"/>
              </a:rPr>
              <a:t>NASA </a:t>
            </a:r>
            <a:r>
              <a:rPr lang="ru-RU" b="0" i="0" dirty="0">
                <a:solidFill>
                  <a:srgbClr val="2C2D30"/>
                </a:solidFill>
                <a:effectLst/>
                <a:latin typeface="Roboto" panose="02000000000000000000" pitchFamily="2" charset="0"/>
              </a:rPr>
              <a:t>работает с проектами на этом языке программирования, чтобы проводить научные вычисления.</a:t>
            </a:r>
          </a:p>
          <a:p>
            <a:pPr algn="l"/>
            <a:endParaRPr lang="ru-RU" b="0" i="0" dirty="0">
              <a:solidFill>
                <a:srgbClr val="333A4D"/>
              </a:solidFill>
              <a:effectLst/>
              <a:latin typeface="var(--header-font)"/>
            </a:endParaRPr>
          </a:p>
          <a:p>
            <a:pPr marL="0" lvl="0" indent="0" algn="l" rtl="0">
              <a:spcBef>
                <a:spcPts val="0"/>
              </a:spcBef>
              <a:spcAft>
                <a:spcPts val="0"/>
              </a:spcAft>
              <a:buNone/>
            </a:pPr>
            <a:r>
              <a:rPr lang="ru-RU" sz="1200" b="0" i="0" dirty="0">
                <a:solidFill>
                  <a:schemeClr val="dk1"/>
                </a:solidFill>
                <a:latin typeface="Arial" panose="020B0604020202020204"/>
                <a:ea typeface="Arial" panose="020B0604020202020204"/>
                <a:cs typeface="Arial" panose="020B0604020202020204"/>
                <a:sym typeface="Arial" panose="020B0604020202020204"/>
              </a:rPr>
              <a:t>Простой, но выразительный синтаксис. Знание английского языка на уровне первых классов школы — это уже победа, потому что азы Python можно считать освоенными. Дальше будет не сильно сложнее. Если же вы уже знакомы, например, с Java, то вы будете приятно удивлены тем, как легко сказать миру «привет».</a:t>
            </a:r>
            <a:endParaRPr lang="ru-RU" dirty="0"/>
          </a:p>
          <a:p>
            <a:pPr marL="0" lvl="0" indent="0" algn="l" rtl="0">
              <a:spcBef>
                <a:spcPts val="0"/>
              </a:spcBef>
              <a:spcAft>
                <a:spcPts val="0"/>
              </a:spcAft>
              <a:buNone/>
            </a:pPr>
            <a:r>
              <a:rPr lang="ru-RU" sz="1200" b="0" i="0" dirty="0">
                <a:solidFill>
                  <a:schemeClr val="dk1"/>
                </a:solidFill>
                <a:latin typeface="Arial" panose="020B0604020202020204"/>
                <a:ea typeface="Arial" panose="020B0604020202020204"/>
                <a:cs typeface="Arial" panose="020B0604020202020204"/>
                <a:sym typeface="Arial" panose="020B0604020202020204"/>
              </a:rPr>
              <a:t>Богатый выбор библиотек. И речь не только о библиотеках алгоритмов машинного обучения — на Python разрабатывают облачные хранилища, стриминговые сервисы, и даже игры (хоть в них иногда и приходится обыгрывать тормоза как фичу, а не баг).</a:t>
            </a:r>
            <a:endParaRPr lang="ru-RU" dirty="0"/>
          </a:p>
          <a:p>
            <a:pPr marL="0" lvl="0" indent="0" algn="l" rtl="0">
              <a:spcBef>
                <a:spcPts val="0"/>
              </a:spcBef>
              <a:spcAft>
                <a:spcPts val="0"/>
              </a:spcAft>
              <a:buNone/>
            </a:pPr>
            <a:r>
              <a:rPr lang="ru-RU" sz="1200" b="0" i="0" dirty="0">
                <a:solidFill>
                  <a:schemeClr val="dk1"/>
                </a:solidFill>
                <a:latin typeface="Arial" panose="020B0604020202020204"/>
                <a:ea typeface="Arial" panose="020B0604020202020204"/>
                <a:cs typeface="Arial" panose="020B0604020202020204"/>
                <a:sym typeface="Arial" panose="020B0604020202020204"/>
              </a:rPr>
              <a:t>Высокая культура документации. Сам Python прекрасно документирован, и обычно библиотеки на нём продолжают эту традицию.</a:t>
            </a:r>
            <a:endParaRPr lang="ru-RU" dirty="0"/>
          </a:p>
          <a:p>
            <a:br>
              <a:rPr lang="ru-RU" dirty="0"/>
            </a:br>
            <a:endParaRPr lang="ru-RU" b="0" i="0" dirty="0">
              <a:solidFill>
                <a:srgbClr val="333A4D"/>
              </a:solidFill>
              <a:effectLst/>
              <a:latin typeface="Roboto" panose="02000000000000000000" pitchFamily="2" charset="0"/>
            </a:endParaRPr>
          </a:p>
          <a:p>
            <a:endParaRPr lang="ru-RU" dirty="0"/>
          </a:p>
        </p:txBody>
      </p:sp>
      <p:sp>
        <p:nvSpPr>
          <p:cNvPr id="274" name="Google Shape;274;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t>22</a:t>
            </a:fld>
            <a:endParaRPr lang="ru-RU"/>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 Science и ИИ: весь стек ИИ/LLM — Python-first: PyTorch, Hugging Face, SDK OpenAI и Anthropic, фреймворки для агентов.</a:t>
            </a:r>
          </a:p>
          <a:p>
            <a:endParaRPr/>
          </a:p>
          <a:p>
            <a:r>
              <a:t>В веб-разработке на Python сейчас лидирует FastAPI (быстрые API, типизация через Pydantic); Django и Flask по-прежнему широко используются. Они облегчают процесс написания на языке Python кода серверной части приложений. </a:t>
            </a:r>
          </a:p>
          <a:p>
            <a:endParaRPr/>
          </a:p>
          <a:p>
            <a:r>
              <a:t>В качестве примера можно привести систему обработки электронной почты. Для сбора статистики и анализа данных требуется подсчитывать количество входящих писем, содержащих определенные ключевые слова. Это можно делать вручную, или же написать простой скрипт, который все посчитает сам.</a:t>
            </a:r>
          </a:p>
          <a:p>
            <a:br/>
            <a:r>
              <a:t>Есть несколько причин применения Python для задач автоматизации:</a:t>
            </a:r>
          </a:p>
          <a:p>
            <a:r>
              <a:t>простой синтаксис, позволяющий быстро писать сценарии;</a:t>
            </a:r>
          </a:p>
          <a:p>
            <a:r>
              <a:t>легкость отладки, связанная с тем, что код не компилируется перед запуском.</a:t>
            </a:r>
          </a:p>
          <a:p>
            <a:endParaRPr/>
          </a:p>
          <a:p>
            <a:r>
              <a:t>Python и игры(EVE Online, Battlefield 2, World of Tanks), боты, декстопные приложения(графический редактор GIMP,  BitTorrent)</a:t>
            </a:r>
          </a:p>
          <a:p>
            <a:endParaRPr/>
          </a:p>
          <a:p>
            <a:r>
              <a:t>В Amazon и Spotify используют Python для анализа пользовательских данных, информации о продажах и разработки персонализированных рекомендаций.</a:t>
            </a:r>
          </a:p>
          <a:p>
            <a:r>
              <a:t>В Walt Disney применяют этот язык в качестве скриптового для анимации.</a:t>
            </a:r>
          </a:p>
          <a:p>
            <a:r>
              <a:t>Python — основной язык бэкенда Instagram, широко используется в YouTube, Netflix, Spotify. Кроме того, холдинг Alphabet использует «питон» для скрейпинга в Google — извлечения данных со страниц веб-ресурсов.</a:t>
            </a:r>
          </a:p>
          <a:p>
            <a:r>
              <a:t>Netflix создала свой рекомендательный сервис с нуля на Python.</a:t>
            </a:r>
          </a:p>
          <a:p>
            <a:r>
              <a:t>Autodesk в своём редакторе 3D-анимации Maya с помощью Python создаёт мультипликацию. Так же язык использует студия Pixar.</a:t>
            </a:r>
          </a:p>
          <a:p>
            <a:r>
              <a:t>JPMorgan Chase, крупный американский финансовый холдинг, применяет Python для прогнозирования рынка.</a:t>
            </a:r>
          </a:p>
          <a:p>
            <a:r>
              <a:t>NASA работает с проектами на этом языке программирования, чтобы проводить научные вычисления.</a:t>
            </a:r>
          </a:p>
          <a:p>
            <a:endParaRPr/>
          </a:p>
          <a:p>
            <a:r>
              <a:t>Простой, но выразительный синтаксис. Знание английского языка на уровне первых классов школы — это уже победа, потому что азы Python можно считать освоенными. Дальше будет не сильно сложнее. Если же вы уже знакомы, например, с Java, то вы будете приятно удивлены тем, как легко сказать миру «привет».</a:t>
            </a:r>
          </a:p>
          <a:p>
            <a:r>
              <a:t>Богатый выбор библиотек. И речь не только о библиотеках алгоритмов машинного обучения — на Python разрабатывают облачные хранилища, стриминговые сервисы, и даже игры (хоть в них иногда и приходится обыгрывать тормоза как фичу, а не баг).</a:t>
            </a:r>
          </a:p>
          <a:p>
            <a:r>
              <a:t>Высокая культура документации. Сам Python прекрасно документирован, и обычно библиотеки на нём продолжают эту традицию.</a:t>
            </a:r>
          </a:p>
          <a:p>
            <a:br/>
            <a:endParaRP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 name="Google Shape;234;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t>24</a:t>
            </a:fld>
            <a:endParaRPr lang="ru-RU"/>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endParaRPr lang="ru-RU" b="0" i="0" dirty="0">
              <a:solidFill>
                <a:srgbClr val="333333"/>
              </a:solidFill>
              <a:effectLst/>
              <a:latin typeface="William Text Pro"/>
            </a:endParaRPr>
          </a:p>
        </p:txBody>
      </p:sp>
      <p:sp>
        <p:nvSpPr>
          <p:cNvPr id="4" name="Номер слайда 3"/>
          <p:cNvSpPr>
            <a:spLocks noGrp="1"/>
          </p:cNvSpPr>
          <p:nvPr>
            <p:ph type="sldNum" sz="quarter" idx="10"/>
          </p:nvPr>
        </p:nvSpPr>
        <p:spPr/>
        <p:txBody>
          <a:bodyPr/>
          <a:lstStyle/>
          <a:p>
            <a:fld id="{D3194510-4DFF-4EE5-8960-AACFA22B1AD6}" type="slidenum">
              <a:rPr lang="ru-RU" smtClean="0"/>
              <a:t>25</a:t>
            </a:fld>
            <a:endParaRPr lang="ru-RU"/>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метки 1"/>
          <p:cNvSpPr>
            <a:spLocks noGrp="1"/>
          </p:cNvSpPr>
          <p:nvPr>
            <p:ph type="body" idx="1"/>
          </p:nvPr>
        </p:nvSpPr>
        <p:spPr/>
        <p:txBody>
          <a:bodyPr/>
          <a:lstStyle/>
          <a:p>
            <a:pPr algn="l"/>
            <a:r>
              <a:rPr lang="ru-RU" b="0" i="0" dirty="0">
                <a:solidFill>
                  <a:srgbClr val="464848"/>
                </a:solidFill>
                <a:effectLst/>
                <a:latin typeface="Merriweather"/>
              </a:rPr>
              <a:t>Хотим определять спам — нужны примеры спам-писем, предсказывать курс акций — нужна история цен, узнать интересы пользователя — нужны его лайки или посты. Данных нужно как можно больше. Десятки тысяч примеров — это самый злой минимум для отчаянных.</a:t>
            </a:r>
          </a:p>
          <a:p>
            <a:pPr algn="l"/>
            <a:r>
              <a:rPr lang="ru-RU" b="0" i="0" dirty="0">
                <a:solidFill>
                  <a:srgbClr val="464848"/>
                </a:solidFill>
                <a:effectLst/>
                <a:latin typeface="Merriweather"/>
              </a:rPr>
              <a:t>Данные собирают как могут. Кто-то вручную — получается дольше, меньше, зато без ошибок. Кто-то автоматически — просто сливает машине всё, что нашлось, и верит в лучшее. Самые хитрые, типа </a:t>
            </a:r>
            <a:r>
              <a:rPr lang="ru-RU" b="0" i="0" dirty="0" err="1">
                <a:solidFill>
                  <a:srgbClr val="464848"/>
                </a:solidFill>
                <a:effectLst/>
                <a:latin typeface="Merriweather"/>
              </a:rPr>
              <a:t>гугла</a:t>
            </a:r>
            <a:r>
              <a:rPr lang="ru-RU" b="0" i="0" dirty="0">
                <a:solidFill>
                  <a:srgbClr val="464848"/>
                </a:solidFill>
                <a:effectLst/>
                <a:latin typeface="Merriweather"/>
              </a:rPr>
              <a:t>, используют своих же пользователей для бесплатной разметки. Вспомните </a:t>
            </a:r>
            <a:r>
              <a:rPr lang="ru-RU" b="0" i="0" dirty="0" err="1">
                <a:solidFill>
                  <a:srgbClr val="464848"/>
                </a:solidFill>
                <a:effectLst/>
                <a:latin typeface="Merriweather"/>
              </a:rPr>
              <a:t>ReCaptcha</a:t>
            </a:r>
            <a:r>
              <a:rPr lang="ru-RU" b="0" i="0" dirty="0">
                <a:solidFill>
                  <a:srgbClr val="464848"/>
                </a:solidFill>
                <a:effectLst/>
                <a:latin typeface="Merriweather"/>
              </a:rPr>
              <a:t>, которая иногда требует «найти на фотографии все дорожные знаки» — это оно и есть.</a:t>
            </a:r>
          </a:p>
          <a:p>
            <a:pPr algn="l"/>
            <a:r>
              <a:rPr lang="ru-RU" b="0" i="0" dirty="0">
                <a:solidFill>
                  <a:srgbClr val="464848"/>
                </a:solidFill>
                <a:effectLst/>
                <a:latin typeface="Merriweather"/>
              </a:rPr>
              <a:t>За хорошими наборами данных (</a:t>
            </a:r>
            <a:r>
              <a:rPr lang="ru-RU" b="0" i="0" dirty="0" err="1">
                <a:solidFill>
                  <a:srgbClr val="464848"/>
                </a:solidFill>
                <a:effectLst/>
                <a:latin typeface="Merriweather"/>
              </a:rPr>
              <a:t>датасетами</a:t>
            </a:r>
            <a:r>
              <a:rPr lang="ru-RU" b="0" i="0" dirty="0">
                <a:solidFill>
                  <a:srgbClr val="464848"/>
                </a:solidFill>
                <a:effectLst/>
                <a:latin typeface="Merriweather"/>
              </a:rPr>
              <a:t>) идёт большая охота. Крупные компании, бывает, раскрывают свои алгоритмы, но </a:t>
            </a:r>
            <a:r>
              <a:rPr lang="ru-RU" b="0" i="0" dirty="0" err="1">
                <a:solidFill>
                  <a:srgbClr val="464848"/>
                </a:solidFill>
                <a:effectLst/>
                <a:latin typeface="Merriweather"/>
              </a:rPr>
              <a:t>датасеты</a:t>
            </a:r>
            <a:r>
              <a:rPr lang="ru-RU" b="0" i="0" dirty="0">
                <a:solidFill>
                  <a:srgbClr val="464848"/>
                </a:solidFill>
                <a:effectLst/>
                <a:latin typeface="Merriweather"/>
              </a:rPr>
              <a:t> — крайне редко.</a:t>
            </a:r>
          </a:p>
          <a:p>
            <a:r>
              <a:rPr lang="ru-RU" b="0" i="0" dirty="0">
                <a:solidFill>
                  <a:srgbClr val="464848"/>
                </a:solidFill>
                <a:effectLst/>
                <a:latin typeface="Merriweather"/>
              </a:rPr>
              <a:t>Мы называем их фичами (</a:t>
            </a:r>
            <a:r>
              <a:rPr lang="ru-RU" b="0" i="0" dirty="0" err="1">
                <a:solidFill>
                  <a:srgbClr val="464848"/>
                </a:solidFill>
                <a:effectLst/>
                <a:latin typeface="Merriweather"/>
              </a:rPr>
              <a:t>features</a:t>
            </a:r>
            <a:r>
              <a:rPr lang="ru-RU" b="0" i="0" dirty="0">
                <a:solidFill>
                  <a:srgbClr val="464848"/>
                </a:solidFill>
                <a:effectLst/>
                <a:latin typeface="Merriweather"/>
              </a:rPr>
              <a:t>), так что ненавистникам англицизмов придётся страдать. Фичи, свойства, характеристики, признаки — ими могут быть пробег автомобиля, пол пользователя, цена акций, даже счетчик частоты появления слова в тексте может быть фичей.</a:t>
            </a:r>
          </a:p>
          <a:p>
            <a:r>
              <a:rPr lang="ru-RU" b="0" i="0" dirty="0">
                <a:solidFill>
                  <a:srgbClr val="464848"/>
                </a:solidFill>
                <a:effectLst/>
                <a:latin typeface="Merriweather"/>
              </a:rPr>
              <a:t>Машина должна знать, на что ей конкретно смотреть. Хорошо, когда данные просто лежат в табличках — названия их колонок и есть фичи. А если у нас сто гигабайт картинок с котами? Когда признаков много, модель работает медленно и неэффективно. Зачастую отбор правильных фич занимает больше времени, чем всё остальное обучение. </a:t>
            </a:r>
            <a:r>
              <a:rPr lang="ru-RU" b="0" i="0" dirty="0">
                <a:solidFill>
                  <a:srgbClr val="EEEEEE"/>
                </a:solidFill>
                <a:effectLst/>
                <a:latin typeface="Merriweather"/>
              </a:rPr>
              <a:t>Алгоритм</a:t>
            </a:r>
            <a:r>
              <a:rPr lang="ru-RU" b="0" i="0" dirty="0">
                <a:solidFill>
                  <a:srgbClr val="464848"/>
                </a:solidFill>
                <a:effectLst/>
                <a:latin typeface="Merriweather"/>
              </a:rPr>
              <a:t> Одну задачу можно решить разными методами примерно всегда. От выбора метода зависит точность, скорость работы и размер готовой модели. Но есть один нюанс: если данные говно, даже самый лучший алгоритм не поможет. Не зацикливайтесь на процентах, лучше соберите побольше данных.</a:t>
            </a:r>
            <a:endParaRPr lang="ru-RU"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метки 1"/>
          <p:cNvSpPr>
            <a:spLocks noGrp="1"/>
          </p:cNvSpPr>
          <p:nvPr>
            <p:ph type="body" idx="1"/>
          </p:nvPr>
        </p:nvSpPr>
        <p:spPr/>
        <p:txBody>
          <a:bodyPr/>
          <a:lstStyle/>
          <a:p>
            <a:pPr algn="l"/>
            <a:r>
              <a:rPr lang="ru-RU" b="0" i="0" dirty="0">
                <a:solidFill>
                  <a:srgbClr val="464848"/>
                </a:solidFill>
                <a:effectLst/>
                <a:latin typeface="Merriweather"/>
              </a:rPr>
              <a:t>Искусственный интеллект — название всей области, как биология или химия.</a:t>
            </a:r>
          </a:p>
          <a:p>
            <a:pPr algn="l"/>
            <a:r>
              <a:rPr lang="ru-RU" b="0" i="0" dirty="0">
                <a:solidFill>
                  <a:srgbClr val="464848"/>
                </a:solidFill>
                <a:effectLst/>
                <a:latin typeface="Merriweather"/>
              </a:rPr>
              <a:t>Машинное обучение — это раздел искусственного интеллекта. Важный, но не единственный.</a:t>
            </a:r>
          </a:p>
          <a:p>
            <a:pPr algn="l"/>
            <a:r>
              <a:rPr lang="ru-RU" b="0" i="0" dirty="0">
                <a:solidFill>
                  <a:srgbClr val="464848"/>
                </a:solidFill>
                <a:effectLst/>
                <a:latin typeface="Merriweather"/>
              </a:rPr>
              <a:t>Нейросети — один из видов машинного обучения. Популярный, но есть и другие, не хуже.</a:t>
            </a:r>
          </a:p>
          <a:p>
            <a:pPr algn="l"/>
            <a:r>
              <a:rPr lang="ru-RU" b="0" i="0" dirty="0">
                <a:solidFill>
                  <a:srgbClr val="464848"/>
                </a:solidFill>
                <a:effectLst/>
                <a:latin typeface="Merriweather"/>
              </a:rPr>
              <a:t>Глубокое обучение — архитектура нейросетей, один из подходов к их построению и обучению. На практике сегодня мало кто отличает, где глубокие нейросети, а где не очень. Говорят название конкретной сети и всё.</a:t>
            </a:r>
          </a:p>
          <a:p>
            <a:pPr algn="l"/>
            <a:r>
              <a:rPr lang="ru-RU" b="0" i="0" dirty="0">
                <a:solidFill>
                  <a:srgbClr val="464848"/>
                </a:solidFill>
                <a:effectLst/>
                <a:latin typeface="Merriweather"/>
              </a:rPr>
              <a:t>Сравнивать можно только вещи одного уровня, иначе получается полный </a:t>
            </a:r>
            <a:r>
              <a:rPr lang="ru-RU" b="0" i="0" dirty="0" err="1">
                <a:solidFill>
                  <a:srgbClr val="464848"/>
                </a:solidFill>
                <a:effectLst/>
                <a:latin typeface="Merriweather"/>
              </a:rPr>
              <a:t>буллщит</a:t>
            </a:r>
            <a:r>
              <a:rPr lang="ru-RU" b="0" i="0" dirty="0">
                <a:solidFill>
                  <a:srgbClr val="464848"/>
                </a:solidFill>
                <a:effectLst/>
                <a:latin typeface="Merriweather"/>
              </a:rPr>
              <a:t> типа «что лучше: машина или колесо?» Не отождествляйте термины без причины, чтобы не выглядеть дурачком.</a:t>
            </a:r>
          </a:p>
          <a:p>
            <a:r>
              <a:t>LLM (большие языковые модели: ChatGPT, Claude, GigaChat, YandexGPT) — это частный случай глубокого обучения: нейросеть-трансформер, обученная на огромном корпусе текстов. То есть ChatGPT — это не «весь ИИ», а маленький круг внутри глубокого обучения.</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метки 1"/>
          <p:cNvSpPr>
            <a:spLocks noGrp="1"/>
          </p:cNvSpPr>
          <p:nvPr>
            <p:ph type="body" idx="1"/>
          </p:nvPr>
        </p:nvSpPr>
        <p:spPr/>
        <p:txBody>
          <a:bodyPr/>
          <a:lstStyle/>
          <a:p>
            <a:pPr algn="l"/>
            <a:r>
              <a:rPr lang="ru-RU" b="0" i="0" dirty="0">
                <a:solidFill>
                  <a:srgbClr val="464848"/>
                </a:solidFill>
                <a:effectLst/>
                <a:latin typeface="Merriweather"/>
              </a:rPr>
              <a:t>И да. Классифицировать алгоритмы можно десятком способов. Я выбрал этот, потому что он мне кажется самым удобным для повествования. Надо понимать, что не бывает так, чтобы задачу решал только один метод. Я буду упоминать известные примеры применений, но держите в уме, что «сын маминой подруги» всё это может решить нейросетями.</a:t>
            </a:r>
            <a:endParaRPr lang="en-US" b="0" i="0" dirty="0">
              <a:solidFill>
                <a:srgbClr val="464848"/>
              </a:solidFill>
              <a:effectLst/>
              <a:latin typeface="Merriweather"/>
            </a:endParaRPr>
          </a:p>
          <a:p>
            <a:pPr algn="l"/>
            <a:r>
              <a:rPr lang="ru-RU" b="0" i="0" dirty="0">
                <a:solidFill>
                  <a:srgbClr val="464848"/>
                </a:solidFill>
                <a:effectLst/>
                <a:latin typeface="Merriweather"/>
              </a:rPr>
              <a:t>Сегодня на классических алгоритмах держится добрая половина интернета. Когда вы встречаете блок «Рекомендованные статьи» на сайте, или банк блокирует все ваши деньги на карточке после первой же покупки кофе за границей — это почти всегда дело рук одного из этих алгоритмов.</a:t>
            </a:r>
          </a:p>
          <a:p>
            <a:br>
              <a:rPr lang="ru-RU" dirty="0"/>
            </a:br>
            <a:r>
              <a:rPr lang="ru-RU" b="0" i="0" dirty="0">
                <a:solidFill>
                  <a:srgbClr val="464848"/>
                </a:solidFill>
                <a:effectLst/>
                <a:latin typeface="Merriweather"/>
              </a:rPr>
              <a:t>Да, крупные корпорации любят решать все проблемы нейросетями. Потому что лишние 2% точности для них легко конвертируются в дополнительные 2 миллиарда прибыли. Остальным же стоит включать голову. Когда задача решаема классическими методами, дешевле реализовать сколько-нибудь полезную для бизнеса систему на них, а потом думать об улучшениях. А если вы не решили задачу, то не решить её на 2% лучше вам не особо поможет.</a:t>
            </a:r>
            <a:endParaRPr lang="en-US" b="0" i="0" dirty="0">
              <a:solidFill>
                <a:srgbClr val="464848"/>
              </a:solidFill>
              <a:effectLst/>
              <a:latin typeface="Merriweather"/>
            </a:endParaRPr>
          </a:p>
          <a:p>
            <a:endParaRPr lang="en-US" b="0" i="0" dirty="0">
              <a:solidFill>
                <a:srgbClr val="464848"/>
              </a:solidFill>
              <a:effectLst/>
              <a:latin typeface="Merriweather"/>
            </a:endParaRPr>
          </a:p>
          <a:p>
            <a:pPr algn="l"/>
            <a:r>
              <a:rPr lang="ru-RU" b="0" i="0" dirty="0">
                <a:solidFill>
                  <a:srgbClr val="464848"/>
                </a:solidFill>
                <a:effectLst/>
                <a:latin typeface="Merriweather"/>
              </a:rPr>
              <a:t>При всей своей популярности, классические алгоритмы настолько просты, что их легко объяснить даже ребёнку. Сегодня они как основы арифметики — пригождаются постоянно, но некоторые всё равно стали их забывать.</a:t>
            </a:r>
            <a:endParaRPr lang="en-US" b="0" i="0" dirty="0">
              <a:solidFill>
                <a:srgbClr val="464848"/>
              </a:solidFill>
              <a:effectLst/>
              <a:latin typeface="Merriweather"/>
            </a:endParaRPr>
          </a:p>
          <a:p>
            <a:pPr algn="l"/>
            <a:endParaRPr lang="en-US" b="0" i="0" dirty="0">
              <a:solidFill>
                <a:srgbClr val="464848"/>
              </a:solidFill>
              <a:effectLst/>
              <a:latin typeface="Merriweather"/>
            </a:endParaRPr>
          </a:p>
          <a:p>
            <a:pPr algn="l"/>
            <a:r>
              <a:rPr lang="ru-RU" b="0" i="0" dirty="0">
                <a:solidFill>
                  <a:srgbClr val="464848"/>
                </a:solidFill>
                <a:effectLst/>
                <a:latin typeface="Merriweather"/>
              </a:rPr>
              <a:t>Очевидно, что с учителем машина обучится быстрее и точнее, потому в боевых задачах его используют намного чаще. Эти задачи делятся на два типа: </a:t>
            </a:r>
            <a:r>
              <a:rPr lang="ru-RU" b="1" i="0" dirty="0">
                <a:solidFill>
                  <a:srgbClr val="464848"/>
                </a:solidFill>
                <a:effectLst/>
                <a:latin typeface="Merriweather"/>
              </a:rPr>
              <a:t>классификация — предсказание категории объекта, и регрессия — предсказание места на числовой прямой</a:t>
            </a:r>
            <a:r>
              <a:rPr lang="ru-RU" b="0" i="0" dirty="0">
                <a:solidFill>
                  <a:srgbClr val="464848"/>
                </a:solidFill>
                <a:effectLst/>
                <a:latin typeface="Merriweather"/>
              </a:rPr>
              <a:t>.</a:t>
            </a:r>
          </a:p>
          <a:p>
            <a:br>
              <a:rPr lang="ru-RU" b="0" i="0" dirty="0">
                <a:solidFill>
                  <a:srgbClr val="464848"/>
                </a:solidFill>
                <a:effectLst/>
                <a:latin typeface="Merriweather"/>
              </a:rPr>
            </a:br>
            <a:endParaRPr lang="ru-RU" b="0" i="0" dirty="0">
              <a:solidFill>
                <a:srgbClr val="464848"/>
              </a:solidFill>
              <a:effectLst/>
              <a:latin typeface="Merriweathe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t>1. Python — [DA]</a:t>
            </a:r>
          </a:p>
          <a:p>
            <a:r>
              <a:t>2. Коалесценция — [DA] + [металлургия]</a:t>
            </a:r>
          </a:p>
          <a:p>
            <a:r>
              <a:t>3. Pandas — [DA]</a:t>
            </a:r>
          </a:p>
          <a:p>
            <a:r>
              <a:t>4. Pandula — [ФЕЙК]</a:t>
            </a:r>
          </a:p>
          <a:p>
            <a:r>
              <a:t>5. Корреляция — [DA]</a:t>
            </a:r>
          </a:p>
          <a:p>
            <a:r>
              <a:t>6. Метод Шарпи — [металлургия]</a:t>
            </a:r>
          </a:p>
          <a:p>
            <a:r>
              <a:t>7. Регрессия — [DA]</a:t>
            </a:r>
          </a:p>
          <a:p>
            <a:r>
              <a:t>8. RAG — [2026]</a:t>
            </a:r>
          </a:p>
          <a:p>
            <a:r>
              <a:t>9. Кластеризация — [DA]</a:t>
            </a:r>
          </a:p>
          <a:p>
            <a:r>
              <a:t>10. Преюдиция — [ловушка: право]</a:t>
            </a:r>
          </a:p>
          <a:p>
            <a:r>
              <a:t>11. Регрессия Лобачевского — [ФЕЙК]</a:t>
            </a:r>
          </a:p>
          <a:p>
            <a:r>
              <a:t>12. Конкатенация — [DA]</a:t>
            </a:r>
          </a:p>
          <a:p>
            <a:r>
              <a:t>13. Случайный лес — [DA]</a:t>
            </a:r>
          </a:p>
          <a:p>
            <a:r>
              <a:t>14. Метод опорных векторов — [DA]</a:t>
            </a:r>
          </a:p>
          <a:p>
            <a:r>
              <a:t>15. Эмбеддинг — [2026]</a:t>
            </a:r>
          </a:p>
          <a:p>
            <a:r>
              <a:t>16. Критерий согласия Фишера, Колмогорова–Смирнова — [DA]</a:t>
            </a:r>
          </a:p>
          <a:p>
            <a:r>
              <a:t>17. Критерий Штольца–Мэрфи — [ФЕЙК]</a:t>
            </a:r>
          </a:p>
          <a:p>
            <a:r>
              <a:t>18. Трюизм — [ловушка: лингвистика]</a:t>
            </a:r>
          </a:p>
          <a:p>
            <a:r>
              <a:t>19. Треугольник Серпинского — [ловушка: математика]</a:t>
            </a:r>
          </a:p>
          <a:p>
            <a:r>
              <a:t>20. Ансамблевые методы — [DA]</a:t>
            </a:r>
          </a:p>
          <a:p>
            <a:r>
              <a:t>21. Вайб-кодинг — [2026]</a:t>
            </a:r>
          </a:p>
          <a:p>
            <a:r>
              <a:t>22. Юпайтер — [DA, искажённое]</a:t>
            </a:r>
          </a:p>
          <a:p>
            <a:r>
              <a:t>23. ARCH — [DA]</a:t>
            </a:r>
          </a:p>
          <a:p>
            <a:r>
              <a:t>24. Аусформинг — [металлургия]</a:t>
            </a:r>
          </a:p>
          <a:p>
            <a:r>
              <a:t>25. Ферротензия — [ФЕЙК]</a:t>
            </a:r>
          </a:p>
          <a:p>
            <a:r>
              <a:t>26. Bash — [DA]</a:t>
            </a:r>
          </a:p>
          <a:p>
            <a:r>
              <a:t>27. Флукурзистенция — [ФЕЙК]</a:t>
            </a:r>
          </a:p>
          <a:p>
            <a:r>
              <a:t>28. Галлюцинация LLM — [2026]</a:t>
            </a:r>
          </a:p>
          <a:p>
            <a:r>
              <a:t>29. Эксимеры — [ловушка: физика]</a:t>
            </a:r>
          </a:p>
          <a:p>
            <a:r>
              <a:t>30. Фласк — [DA, искажённое]</a:t>
            </a:r>
          </a:p>
          <a:p>
            <a:r>
              <a:t>31. Птеригиум — [ловушка: медицина]</a:t>
            </a:r>
          </a:p>
          <a:p>
            <a:r>
              <a:t>32. Токен-ферментация — [ФЕЙК]</a:t>
            </a:r>
          </a:p>
          <a:p>
            <a:r>
              <a:t>33. Джанго — [DA, искажённое]</a:t>
            </a:r>
          </a:p>
          <a:p>
            <a:r>
              <a:t>34. Аустенит — [металлургия]</a:t>
            </a:r>
          </a:p>
          <a:p>
            <a:r>
              <a:t>35. Промпт-инъекция — [2026]</a:t>
            </a:r>
          </a:p>
          <a:p>
            <a:r>
              <a:t>36. Перцептрон — [DA]</a:t>
            </a:r>
          </a:p>
          <a:p>
            <a:r>
              <a:t>37. Текстура Госса — [металлургия]</a:t>
            </a:r>
          </a:p>
        </p:txBody>
      </p:sp>
      <p:sp>
        <p:nvSpPr>
          <p:cNvPr id="4" name="Номер слайда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194510-4DFF-4EE5-8960-AACFA22B1AD6}" type="slidenum">
              <a:rPr kumimoji="0" lang="ru-RU"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ru-RU" sz="1200" b="0" i="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6832602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метки 1"/>
          <p:cNvSpPr>
            <a:spLocks noGrp="1"/>
          </p:cNvSpPr>
          <p:nvPr>
            <p:ph type="body" idx="1"/>
          </p:nvPr>
        </p:nvSpPr>
        <p:spPr/>
        <p:txBody>
          <a:bodyPr/>
          <a:lstStyle/>
          <a:p>
            <a:r>
              <a:rPr dirty="0" err="1"/>
              <a:t>По</a:t>
            </a:r>
            <a:r>
              <a:rPr dirty="0"/>
              <a:t> </a:t>
            </a:r>
            <a:r>
              <a:rPr dirty="0" err="1"/>
              <a:t>рабочей</a:t>
            </a:r>
            <a:r>
              <a:rPr dirty="0"/>
              <a:t> </a:t>
            </a:r>
            <a:r>
              <a:rPr dirty="0" err="1"/>
              <a:t>программе</a:t>
            </a:r>
            <a:r>
              <a:rPr dirty="0"/>
              <a:t> 2026/2027. </a:t>
            </a:r>
            <a:r>
              <a:rPr dirty="0" err="1"/>
              <a:t>Дисциплина</a:t>
            </a:r>
            <a:r>
              <a:rPr dirty="0"/>
              <a:t> </a:t>
            </a:r>
            <a:r>
              <a:rPr dirty="0" err="1"/>
              <a:t>из</a:t>
            </a:r>
            <a:r>
              <a:rPr dirty="0"/>
              <a:t> </a:t>
            </a:r>
            <a:r>
              <a:rPr dirty="0" err="1"/>
              <a:t>блока</a:t>
            </a:r>
            <a:r>
              <a:rPr dirty="0"/>
              <a:t> Б1.В — </a:t>
            </a:r>
            <a:r>
              <a:rPr dirty="0" err="1"/>
              <a:t>части</a:t>
            </a:r>
            <a:r>
              <a:rPr dirty="0"/>
              <a:t>, </a:t>
            </a:r>
            <a:r>
              <a:rPr dirty="0" err="1"/>
              <a:t>формируемой</a:t>
            </a:r>
            <a:r>
              <a:rPr dirty="0"/>
              <a:t> </a:t>
            </a:r>
            <a:r>
              <a:rPr dirty="0" err="1"/>
              <a:t>участниками</a:t>
            </a:r>
            <a:r>
              <a:rPr dirty="0"/>
              <a:t> </a:t>
            </a:r>
            <a:r>
              <a:rPr dirty="0" err="1"/>
              <a:t>образовательных</a:t>
            </a:r>
            <a:r>
              <a:rPr dirty="0"/>
              <a:t> </a:t>
            </a:r>
            <a:r>
              <a:rPr dirty="0" err="1"/>
              <a:t>отношений</a:t>
            </a:r>
            <a:r>
              <a:rPr dirty="0"/>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метки 1"/>
          <p:cNvSpPr>
            <a:spLocks noGrp="1"/>
          </p:cNvSpPr>
          <p:nvPr>
            <p:ph type="body" idx="1"/>
          </p:nvPr>
        </p:nvSpPr>
        <p:spPr/>
        <p:txBody>
          <a:bodyPr/>
          <a:lstStyle/>
          <a:p>
            <a:endParaRPr lang="ru-RU"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метки 1"/>
          <p:cNvSpPr>
            <a:spLocks noGrp="1"/>
          </p:cNvSpPr>
          <p:nvPr>
            <p:ph type="body" idx="1"/>
          </p:nvPr>
        </p:nvSpPr>
        <p:spPr/>
        <p:txBody>
          <a:bodyPr/>
          <a:lstStyle/>
          <a:p>
            <a:r>
              <a:t>Карта курса на год. В первом семестре — Python от нуля до своих Telegram-ботов и веб-сервиса; после блоков лекций — домашние задания. Во втором — один сквозной проект DataPulse: собираем данные, кладём в базу, анализируем, обучаем модели, отдаём их через API и показываем на дашборде; всё запускается одной командой docker compose. Защита проекта и есть экзамен.</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Баллы — по рабочей программе 2026/2027. Первый семестр — зачёт, порог 61 балл (или автомат по итогам собеседования на первой паре). Второй семестр — экзамен, шкала 85/70/61 относится именно к нему.</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t>ИИ — нормальный рабочий инструмент, им пользуются все. Но цель курса — чтобы навык появился у вас, а не у агента. Поэтому: спрашивать, объяснять, искать ошибки — можно. Отдать задание агенту целиком и сдать не читая — нельзя. В начале каждого ДЗ одной строкой пишем, где помогал ИИ, — это не наказуемо, это честно. На зачёте спрашиваю по вашему коду: не можете объяснить строчку — значит, это не ваш код.</a:t>
            </a:r>
          </a:p>
        </p:txBody>
      </p:sp>
      <p:sp>
        <p:nvSpPr>
          <p:cNvPr id="4" name="Номер слайда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194510-4DFF-4EE5-8960-AACFA22B1AD6}" type="slidenum">
              <a:rPr kumimoji="0" lang="ru-RU"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ru-RU" sz="1200" b="0" i="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1433635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t>Механика автомата: в конце первой пары — короткое техническое интервью на позицию Junior Data Analyst, вопросы по Python. Прошли — зачёт автоматом, ДЗ можно не делать. Не прошли — обычный путь: ДЗ и зачёт (вопросы по коду ваших ДЗ и по лекциям). Во втором семестре автомата нет: экзамен — защита проекта.</a:t>
            </a:r>
          </a:p>
        </p:txBody>
      </p:sp>
      <p:sp>
        <p:nvSpPr>
          <p:cNvPr id="4" name="Номер слайда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194510-4DFF-4EE5-8960-AACFA22B1AD6}" type="slidenum">
              <a:rPr kumimoji="0" lang="ru-RU"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ru-RU" sz="1200" b="0" i="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220223753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метки 1"/>
          <p:cNvSpPr>
            <a:spLocks noGrp="1"/>
          </p:cNvSpPr>
          <p:nvPr>
            <p:ph type="body" idx="1"/>
          </p:nvPr>
        </p:nvSpPr>
        <p:spPr/>
        <p:txBody>
          <a:bodyPr/>
          <a:lstStyle/>
          <a:p>
            <a:endParaRPr lang="ru-RU"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9" name="Google Shape;439;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0" name="Google Shape;440;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t>37</a:t>
            </a:fld>
            <a:endParaRPr lang="ru-RU"/>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D3194510-4DFF-4EE5-8960-AACFA22B1AD6}" type="slidenum">
              <a:rPr lang="ru-RU" smtClean="0"/>
              <a:t>38</a:t>
            </a:fld>
            <a:endParaRPr lang="ru-RU"/>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D3194510-4DFF-4EE5-8960-AACFA22B1AD6}" type="slidenum">
              <a:rPr lang="ru-RU" smtClean="0"/>
              <a:t>39</a:t>
            </a:fld>
            <a:endParaRPr lang="ru-RU"/>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Актуальный набор инструментов курса: терминал, uv (установка Python и библиотек, виртуальные окружения), WSL2 для Windows (понадобится во 2 семестре для Docker), VS Code с расширением Jupyter, Git и GitHub для сдачи ДЗ, ИИ-ассистент — по правилам политики по ИИ.</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For Table">
  <p:cSld name="For Table">
    <p:spTree>
      <p:nvGrpSpPr>
        <p:cNvPr id="1" name="Shape 73"/>
        <p:cNvGrpSpPr/>
        <p:nvPr/>
      </p:nvGrpSpPr>
      <p:grpSpPr>
        <a:xfrm>
          <a:off x="0" y="0"/>
          <a:ext cx="0" cy="0"/>
          <a:chOff x="0" y="0"/>
          <a:chExt cx="0" cy="0"/>
        </a:xfrm>
      </p:grpSpPr>
      <p:sp>
        <p:nvSpPr>
          <p:cNvPr id="74" name="Google Shape;74;p76"/>
          <p:cNvSpPr txBox="1">
            <a:spLocks noGrp="1"/>
          </p:cNvSpPr>
          <p:nvPr>
            <p:ph type="title"/>
          </p:nvPr>
        </p:nvSpPr>
        <p:spPr>
          <a:xfrm>
            <a:off x="586001" y="474130"/>
            <a:ext cx="10566837" cy="498598"/>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rgbClr val="3A393C"/>
              </a:buClr>
              <a:buSzPts val="2800"/>
              <a:buFont typeface="Arial" panose="020B0604020202020204"/>
              <a:buNone/>
              <a:defRPr sz="3600" b="1" i="0" u="none" strike="noStrike" cap="none">
                <a:solidFill>
                  <a:srgbClr val="3A393C"/>
                </a:solidFill>
                <a:latin typeface="Croc" panose="020B0502020203020203" pitchFamily="34" charset="0"/>
                <a:ea typeface="Croc" panose="020B0502020203020203" pitchFamily="34" charset="0"/>
                <a:cs typeface="Arial" panose="020B0604020202020204"/>
                <a:sym typeface="Arial" panose="020B060402020202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76" name="Google Shape;76;p76"/>
          <p:cNvSpPr txBox="1">
            <a:spLocks noGrp="1"/>
          </p:cNvSpPr>
          <p:nvPr>
            <p:ph type="sldNum" idx="12"/>
          </p:nvPr>
        </p:nvSpPr>
        <p:spPr>
          <a:xfrm>
            <a:off x="8885851" y="6363938"/>
            <a:ext cx="2743200" cy="276959"/>
          </a:xfrm>
          <a:prstGeom prst="rect">
            <a:avLst/>
          </a:prstGeom>
          <a:noFill/>
          <a:ln>
            <a:noFill/>
          </a:ln>
        </p:spPr>
        <p:txBody>
          <a:bodyPr spcFirstLastPara="1" wrap="square" lIns="91425" tIns="45700" rIns="0" bIns="45700" anchor="ctr" anchorCtr="0">
            <a:spAutoFit/>
          </a:bodyPr>
          <a:lstStyle>
            <a:lvl1pPr marL="0" lvl="0" indent="0" algn="r">
              <a:spcBef>
                <a:spcPts val="0"/>
              </a:spcBef>
              <a:buNone/>
              <a:defRPr b="0" i="0">
                <a:latin typeface="Croc" panose="020B0502020203020203" pitchFamily="34" charset="0"/>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ru-RU" smtClean="0"/>
              <a:t>‹#›</a:t>
            </a:fld>
            <a:endParaRPr lang="ru-RU"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Пользовательский макет">
  <p:cSld name="Пользовательский макет">
    <p:bg>
      <p:bgPr>
        <a:solidFill>
          <a:schemeClr val="lt1"/>
        </a:solidFill>
        <a:effectLst/>
      </p:bgPr>
    </p:bg>
    <p:spTree>
      <p:nvGrpSpPr>
        <p:cNvPr id="1" name="Shape 24"/>
        <p:cNvGrpSpPr/>
        <p:nvPr/>
      </p:nvGrpSpPr>
      <p:grpSpPr>
        <a:xfrm>
          <a:off x="0" y="0"/>
          <a:ext cx="0" cy="0"/>
          <a:chOff x="0" y="0"/>
          <a:chExt cx="0" cy="0"/>
        </a:xfrm>
      </p:grpSpPr>
      <p:sp>
        <p:nvSpPr>
          <p:cNvPr id="25" name="Google Shape;25;p21"/>
          <p:cNvSpPr txBox="1">
            <a:spLocks noGrp="1"/>
          </p:cNvSpPr>
          <p:nvPr>
            <p:ph type="title"/>
          </p:nvPr>
        </p:nvSpPr>
        <p:spPr>
          <a:xfrm>
            <a:off x="561974" y="559126"/>
            <a:ext cx="11079164" cy="566412"/>
          </a:xfrm>
          <a:prstGeom prst="rect">
            <a:avLst/>
          </a:prstGeom>
          <a:noFill/>
          <a:ln>
            <a:noFill/>
          </a:ln>
        </p:spPr>
        <p:txBody>
          <a:bodyPr spcFirstLastPara="1" wrap="square" lIns="0" tIns="0" rIns="0" bIns="0" anchor="ctr" anchorCtr="0">
            <a:noAutofit/>
          </a:bodyPr>
          <a:lstStyle>
            <a:lvl1pPr marR="0" lvl="0" algn="l" rtl="0">
              <a:lnSpc>
                <a:spcPct val="90000"/>
              </a:lnSpc>
              <a:spcBef>
                <a:spcPts val="0"/>
              </a:spcBef>
              <a:spcAft>
                <a:spcPts val="0"/>
              </a:spcAft>
              <a:buClr>
                <a:schemeClr val="lt1"/>
              </a:buClr>
              <a:buSzPts val="3600"/>
              <a:buFont typeface="Montserrat"/>
              <a:buNone/>
              <a:defRPr sz="3600" b="1" i="0" u="none" strike="noStrike" cap="none">
                <a:solidFill>
                  <a:schemeClr val="lt1"/>
                </a:solidFill>
                <a:latin typeface="Montserrat"/>
                <a:ea typeface="Montserrat"/>
                <a:cs typeface="Montserrat"/>
                <a:sym typeface="Montserra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 name="Google Shape;26;p21"/>
          <p:cNvSpPr txBox="1">
            <a:spLocks noGrp="1"/>
          </p:cNvSpPr>
          <p:nvPr>
            <p:ph type="sldNum" idx="12"/>
          </p:nvPr>
        </p:nvSpPr>
        <p:spPr>
          <a:xfrm>
            <a:off x="8989245" y="6146306"/>
            <a:ext cx="2654968" cy="200359"/>
          </a:xfrm>
          <a:prstGeom prst="rect">
            <a:avLst/>
          </a:prstGeom>
          <a:noFill/>
          <a:ln>
            <a:noFill/>
          </a:ln>
        </p:spPr>
        <p:txBody>
          <a:bodyPr spcFirstLastPara="1" wrap="square" lIns="0" tIns="0" rIns="0" bIns="0" anchor="ctr" anchorCtr="0">
            <a:spAutoFit/>
          </a:bodyPr>
          <a:lstStyle>
            <a:lvl1pPr marL="0" lvl="0" indent="0" algn="r">
              <a:spcBef>
                <a:spcPts val="0"/>
              </a:spcBef>
              <a:buNone/>
              <a:defRPr sz="1200" b="0" i="0">
                <a:solidFill>
                  <a:schemeClr val="lt1"/>
                </a:solidFill>
                <a:latin typeface="Montserrat"/>
                <a:ea typeface="Montserrat"/>
                <a:cs typeface="Montserrat"/>
                <a:sym typeface="Montserrat"/>
              </a:defRPr>
            </a:lvl1pPr>
            <a:lvl2pPr marL="0" lvl="1" indent="0" algn="r">
              <a:spcBef>
                <a:spcPts val="0"/>
              </a:spcBef>
              <a:buNone/>
              <a:defRPr sz="1200" b="0" i="0">
                <a:solidFill>
                  <a:schemeClr val="lt1"/>
                </a:solidFill>
                <a:latin typeface="Montserrat"/>
                <a:ea typeface="Montserrat"/>
                <a:cs typeface="Montserrat"/>
                <a:sym typeface="Montserrat"/>
              </a:defRPr>
            </a:lvl2pPr>
            <a:lvl3pPr marL="0" lvl="2" indent="0" algn="r">
              <a:spcBef>
                <a:spcPts val="0"/>
              </a:spcBef>
              <a:buNone/>
              <a:defRPr sz="1200" b="0" i="0">
                <a:solidFill>
                  <a:schemeClr val="lt1"/>
                </a:solidFill>
                <a:latin typeface="Montserrat"/>
                <a:ea typeface="Montserrat"/>
                <a:cs typeface="Montserrat"/>
                <a:sym typeface="Montserrat"/>
              </a:defRPr>
            </a:lvl3pPr>
            <a:lvl4pPr marL="0" lvl="3" indent="0" algn="r">
              <a:spcBef>
                <a:spcPts val="0"/>
              </a:spcBef>
              <a:buNone/>
              <a:defRPr sz="1200" b="0" i="0">
                <a:solidFill>
                  <a:schemeClr val="lt1"/>
                </a:solidFill>
                <a:latin typeface="Montserrat"/>
                <a:ea typeface="Montserrat"/>
                <a:cs typeface="Montserrat"/>
                <a:sym typeface="Montserrat"/>
              </a:defRPr>
            </a:lvl4pPr>
            <a:lvl5pPr marL="0" lvl="4" indent="0" algn="r">
              <a:spcBef>
                <a:spcPts val="0"/>
              </a:spcBef>
              <a:buNone/>
              <a:defRPr sz="1200" b="0" i="0">
                <a:solidFill>
                  <a:schemeClr val="lt1"/>
                </a:solidFill>
                <a:latin typeface="Montserrat"/>
                <a:ea typeface="Montserrat"/>
                <a:cs typeface="Montserrat"/>
                <a:sym typeface="Montserrat"/>
              </a:defRPr>
            </a:lvl5pPr>
            <a:lvl6pPr marL="0" lvl="5" indent="0" algn="r">
              <a:spcBef>
                <a:spcPts val="0"/>
              </a:spcBef>
              <a:buNone/>
              <a:defRPr sz="1200" b="0" i="0">
                <a:solidFill>
                  <a:schemeClr val="lt1"/>
                </a:solidFill>
                <a:latin typeface="Montserrat"/>
                <a:ea typeface="Montserrat"/>
                <a:cs typeface="Montserrat"/>
                <a:sym typeface="Montserrat"/>
              </a:defRPr>
            </a:lvl6pPr>
            <a:lvl7pPr marL="0" lvl="6" indent="0" algn="r">
              <a:spcBef>
                <a:spcPts val="0"/>
              </a:spcBef>
              <a:buNone/>
              <a:defRPr sz="1200" b="0" i="0">
                <a:solidFill>
                  <a:schemeClr val="lt1"/>
                </a:solidFill>
                <a:latin typeface="Montserrat"/>
                <a:ea typeface="Montserrat"/>
                <a:cs typeface="Montserrat"/>
                <a:sym typeface="Montserrat"/>
              </a:defRPr>
            </a:lvl7pPr>
            <a:lvl8pPr marL="0" lvl="7" indent="0" algn="r">
              <a:spcBef>
                <a:spcPts val="0"/>
              </a:spcBef>
              <a:buNone/>
              <a:defRPr sz="1200" b="0" i="0">
                <a:solidFill>
                  <a:schemeClr val="lt1"/>
                </a:solidFill>
                <a:latin typeface="Montserrat"/>
                <a:ea typeface="Montserrat"/>
                <a:cs typeface="Montserrat"/>
                <a:sym typeface="Montserrat"/>
              </a:defRPr>
            </a:lvl8pPr>
            <a:lvl9pPr marL="0" lvl="8" indent="0" algn="r">
              <a:spcBef>
                <a:spcPts val="0"/>
              </a:spcBef>
              <a:buNone/>
              <a:defRPr sz="1200" b="0" i="0">
                <a:solidFill>
                  <a:schemeClr val="lt1"/>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ru-RU"/>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Текстовый">
  <p:cSld name="Текстовый">
    <p:spTree>
      <p:nvGrpSpPr>
        <p:cNvPr id="1" name="Shape 15"/>
        <p:cNvGrpSpPr/>
        <p:nvPr/>
      </p:nvGrpSpPr>
      <p:grpSpPr>
        <a:xfrm>
          <a:off x="0" y="0"/>
          <a:ext cx="0" cy="0"/>
          <a:chOff x="0" y="0"/>
          <a:chExt cx="0" cy="0"/>
        </a:xfrm>
      </p:grpSpPr>
      <p:sp>
        <p:nvSpPr>
          <p:cNvPr id="16" name="Google Shape;16;p18"/>
          <p:cNvSpPr txBox="1">
            <a:spLocks noGrp="1"/>
          </p:cNvSpPr>
          <p:nvPr>
            <p:ph type="title"/>
          </p:nvPr>
        </p:nvSpPr>
        <p:spPr>
          <a:xfrm>
            <a:off x="586001" y="474130"/>
            <a:ext cx="10566837" cy="398571"/>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rgbClr val="3A393C"/>
              </a:buClr>
              <a:buSzPts val="2800"/>
              <a:buFont typeface="Arial" panose="020B0604020202020204"/>
              <a:buNone/>
              <a:defRPr sz="2800" b="0" i="0" u="none" strike="noStrike" cap="none">
                <a:solidFill>
                  <a:srgbClr val="3A393C"/>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18"/>
          <p:cNvSpPr txBox="1">
            <a:spLocks noGrp="1"/>
          </p:cNvSpPr>
          <p:nvPr>
            <p:ph type="body" idx="1"/>
          </p:nvPr>
        </p:nvSpPr>
        <p:spPr>
          <a:xfrm>
            <a:off x="586001" y="1249017"/>
            <a:ext cx="5818044" cy="27699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500"/>
              </a:spcBef>
              <a:spcAft>
                <a:spcPts val="0"/>
              </a:spcAft>
              <a:buSzPts val="1800"/>
              <a:buNone/>
              <a:defRPr sz="1800" b="0" i="0">
                <a:solidFill>
                  <a:srgbClr val="3A393C"/>
                </a:solidFill>
                <a:latin typeface="Arial" panose="020B0604020202020204"/>
                <a:ea typeface="Arial" panose="020B0604020202020204"/>
                <a:cs typeface="Arial" panose="020B0604020202020204"/>
                <a:sym typeface="Arial" panose="020B0604020202020204"/>
              </a:defRPr>
            </a:lvl1pPr>
            <a:lvl2pPr marL="914400" lvl="1" indent="-320040" algn="l">
              <a:lnSpc>
                <a:spcPct val="100000"/>
              </a:lnSpc>
              <a:spcBef>
                <a:spcPts val="500"/>
              </a:spcBef>
              <a:spcAft>
                <a:spcPts val="0"/>
              </a:spcAft>
              <a:buSzPts val="1440"/>
              <a:buChar char="•"/>
              <a:defRPr/>
            </a:lvl2pPr>
            <a:lvl3pPr marL="1371600" lvl="2" indent="-302895" algn="l">
              <a:lnSpc>
                <a:spcPct val="100000"/>
              </a:lnSpc>
              <a:spcBef>
                <a:spcPts val="0"/>
              </a:spcBef>
              <a:spcAft>
                <a:spcPts val="0"/>
              </a:spcAft>
              <a:buSzPts val="1170"/>
              <a:buChar char="•"/>
              <a:defRPr/>
            </a:lvl3pPr>
            <a:lvl4pPr marL="1828800" lvl="3" indent="-342900" algn="l">
              <a:lnSpc>
                <a:spcPct val="100000"/>
              </a:lnSpc>
              <a:spcBef>
                <a:spcPts val="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18"/>
          <p:cNvSpPr txBox="1">
            <a:spLocks noGrp="1"/>
          </p:cNvSpPr>
          <p:nvPr>
            <p:ph type="sldNum" idx="12"/>
          </p:nvPr>
        </p:nvSpPr>
        <p:spPr>
          <a:xfrm>
            <a:off x="8885851" y="6363918"/>
            <a:ext cx="2743200" cy="276999"/>
          </a:xfrm>
          <a:prstGeom prst="rect">
            <a:avLst/>
          </a:prstGeom>
          <a:noFill/>
          <a:ln>
            <a:noFill/>
          </a:ln>
        </p:spPr>
        <p:txBody>
          <a:bodyPr spcFirstLastPara="1" wrap="square" lIns="91425" tIns="45700" rIns="0" bIns="4570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ru-RU"/>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Таблица, диаграмма">
    <p:spTree>
      <p:nvGrpSpPr>
        <p:cNvPr id="1" name=""/>
        <p:cNvGrpSpPr/>
        <p:nvPr/>
      </p:nvGrpSpPr>
      <p:grpSpPr>
        <a:xfrm>
          <a:off x="0" y="0"/>
          <a:ext cx="0" cy="0"/>
          <a:chOff x="0" y="0"/>
          <a:chExt cx="0" cy="0"/>
        </a:xfrm>
      </p:grpSpPr>
      <p:sp>
        <p:nvSpPr>
          <p:cNvPr id="5" name="Заголовок 55"/>
          <p:cNvSpPr>
            <a:spLocks noGrp="1"/>
          </p:cNvSpPr>
          <p:nvPr>
            <p:ph type="title" hasCustomPrompt="1"/>
          </p:nvPr>
        </p:nvSpPr>
        <p:spPr>
          <a:xfrm>
            <a:off x="586001" y="474130"/>
            <a:ext cx="10566837" cy="387798"/>
          </a:xfrm>
          <a:prstGeom prst="rect">
            <a:avLst/>
          </a:prstGeom>
        </p:spPr>
        <p:txBody>
          <a:bodyPr lIns="0" tIns="0" rIns="0" bIns="0">
            <a:spAutoFit/>
          </a:bodyPr>
          <a:lstStyle>
            <a:lvl1pPr>
              <a:defRPr sz="2800" b="1">
                <a:solidFill>
                  <a:schemeClr val="tx1">
                    <a:lumMod val="75000"/>
                  </a:schemeClr>
                </a:solidFill>
              </a:defRPr>
            </a:lvl1pPr>
          </a:lstStyle>
          <a:p>
            <a:r>
              <a:rPr lang="ru-RU" dirty="0"/>
              <a:t>Заголовок</a:t>
            </a:r>
            <a:r>
              <a:rPr lang="en-US" dirty="0"/>
              <a:t>, Arial Bold 28 px</a:t>
            </a:r>
            <a:endParaRPr lang="ru-RU" dirty="0"/>
          </a:p>
        </p:txBody>
      </p:sp>
      <p:sp>
        <p:nvSpPr>
          <p:cNvPr id="7" name="Рисунок 10"/>
          <p:cNvSpPr>
            <a:spLocks noChangeAspect="1"/>
          </p:cNvSpPr>
          <p:nvPr userDrawn="1"/>
        </p:nvSpPr>
        <p:spPr>
          <a:xfrm>
            <a:off x="587154" y="6422332"/>
            <a:ext cx="557698" cy="144000"/>
          </a:xfrm>
          <a:custGeom>
            <a:avLst/>
            <a:gdLst>
              <a:gd name="connsiteX0" fmla="*/ 336523 w 1360664"/>
              <a:gd name="connsiteY0" fmla="*/ 6698 h 351328"/>
              <a:gd name="connsiteX1" fmla="*/ 473765 w 1360664"/>
              <a:gd name="connsiteY1" fmla="*/ 6698 h 351328"/>
              <a:gd name="connsiteX2" fmla="*/ 622521 w 1360664"/>
              <a:gd name="connsiteY2" fmla="*/ 132659 h 351328"/>
              <a:gd name="connsiteX3" fmla="*/ 470005 w 1360664"/>
              <a:gd name="connsiteY3" fmla="*/ 260030 h 351328"/>
              <a:gd name="connsiteX4" fmla="*/ 415367 w 1360664"/>
              <a:gd name="connsiteY4" fmla="*/ 260030 h 351328"/>
              <a:gd name="connsiteX5" fmla="*/ 415367 w 1360664"/>
              <a:gd name="connsiteY5" fmla="*/ 347569 h 351328"/>
              <a:gd name="connsiteX6" fmla="*/ 336758 w 1360664"/>
              <a:gd name="connsiteY6" fmla="*/ 347569 h 351328"/>
              <a:gd name="connsiteX7" fmla="*/ 336758 w 1360664"/>
              <a:gd name="connsiteY7" fmla="*/ 6698 h 351328"/>
              <a:gd name="connsiteX8" fmla="*/ 336523 w 1360664"/>
              <a:gd name="connsiteY8" fmla="*/ 6698 h 351328"/>
              <a:gd name="connsiteX9" fmla="*/ 651192 w 1360664"/>
              <a:gd name="connsiteY9" fmla="*/ 176134 h 351328"/>
              <a:gd name="connsiteX10" fmla="*/ 829911 w 1360664"/>
              <a:gd name="connsiteY10" fmla="*/ 0 h 351328"/>
              <a:gd name="connsiteX11" fmla="*/ 1008748 w 1360664"/>
              <a:gd name="connsiteY11" fmla="*/ 176134 h 351328"/>
              <a:gd name="connsiteX12" fmla="*/ 829911 w 1360664"/>
              <a:gd name="connsiteY12" fmla="*/ 352269 h 351328"/>
              <a:gd name="connsiteX13" fmla="*/ 651192 w 1360664"/>
              <a:gd name="connsiteY13" fmla="*/ 176134 h 351328"/>
              <a:gd name="connsiteX14" fmla="*/ 651192 w 1360664"/>
              <a:gd name="connsiteY14" fmla="*/ 176134 h 351328"/>
              <a:gd name="connsiteX15" fmla="*/ 829911 w 1360664"/>
              <a:gd name="connsiteY15" fmla="*/ 279536 h 351328"/>
              <a:gd name="connsiteX16" fmla="*/ 731798 w 1360664"/>
              <a:gd name="connsiteY16" fmla="*/ 176252 h 351328"/>
              <a:gd name="connsiteX17" fmla="*/ 829911 w 1360664"/>
              <a:gd name="connsiteY17" fmla="*/ 72968 h 351328"/>
              <a:gd name="connsiteX18" fmla="*/ 928025 w 1360664"/>
              <a:gd name="connsiteY18" fmla="*/ 176252 h 351328"/>
              <a:gd name="connsiteX19" fmla="*/ 829911 w 1360664"/>
              <a:gd name="connsiteY19" fmla="*/ 279536 h 351328"/>
              <a:gd name="connsiteX20" fmla="*/ 829911 w 1360664"/>
              <a:gd name="connsiteY20" fmla="*/ 279536 h 351328"/>
              <a:gd name="connsiteX21" fmla="*/ 1140467 w 1360664"/>
              <a:gd name="connsiteY21" fmla="*/ 156277 h 351328"/>
              <a:gd name="connsiteX22" fmla="*/ 1263608 w 1360664"/>
              <a:gd name="connsiteY22" fmla="*/ 6698 h 351328"/>
              <a:gd name="connsiteX23" fmla="*/ 1355964 w 1360664"/>
              <a:gd name="connsiteY23" fmla="*/ 6698 h 351328"/>
              <a:gd name="connsiteX24" fmla="*/ 1217900 w 1360664"/>
              <a:gd name="connsiteY24" fmla="*/ 168262 h 351328"/>
              <a:gd name="connsiteX25" fmla="*/ 1361017 w 1360664"/>
              <a:gd name="connsiteY25" fmla="*/ 347569 h 351328"/>
              <a:gd name="connsiteX26" fmla="*/ 1261023 w 1360664"/>
              <a:gd name="connsiteY26" fmla="*/ 347569 h 351328"/>
              <a:gd name="connsiteX27" fmla="*/ 1140467 w 1360664"/>
              <a:gd name="connsiteY27" fmla="*/ 192115 h 351328"/>
              <a:gd name="connsiteX28" fmla="*/ 1140467 w 1360664"/>
              <a:gd name="connsiteY28" fmla="*/ 347451 h 351328"/>
              <a:gd name="connsiteX29" fmla="*/ 1061859 w 1360664"/>
              <a:gd name="connsiteY29" fmla="*/ 347451 h 351328"/>
              <a:gd name="connsiteX30" fmla="*/ 1061859 w 1360664"/>
              <a:gd name="connsiteY30" fmla="*/ 6698 h 351328"/>
              <a:gd name="connsiteX31" fmla="*/ 1140467 w 1360664"/>
              <a:gd name="connsiteY31" fmla="*/ 6698 h 351328"/>
              <a:gd name="connsiteX32" fmla="*/ 1140467 w 1360664"/>
              <a:gd name="connsiteY32" fmla="*/ 156277 h 351328"/>
              <a:gd name="connsiteX33" fmla="*/ 1140467 w 1360664"/>
              <a:gd name="connsiteY33" fmla="*/ 156277 h 351328"/>
              <a:gd name="connsiteX34" fmla="*/ 78608 w 1360664"/>
              <a:gd name="connsiteY34" fmla="*/ 156277 h 351328"/>
              <a:gd name="connsiteX35" fmla="*/ 201750 w 1360664"/>
              <a:gd name="connsiteY35" fmla="*/ 6698 h 351328"/>
              <a:gd name="connsiteX36" fmla="*/ 294106 w 1360664"/>
              <a:gd name="connsiteY36" fmla="*/ 6698 h 351328"/>
              <a:gd name="connsiteX37" fmla="*/ 156042 w 1360664"/>
              <a:gd name="connsiteY37" fmla="*/ 168262 h 351328"/>
              <a:gd name="connsiteX38" fmla="*/ 299158 w 1360664"/>
              <a:gd name="connsiteY38" fmla="*/ 347569 h 351328"/>
              <a:gd name="connsiteX39" fmla="*/ 199282 w 1360664"/>
              <a:gd name="connsiteY39" fmla="*/ 347569 h 351328"/>
              <a:gd name="connsiteX40" fmla="*/ 78608 w 1360664"/>
              <a:gd name="connsiteY40" fmla="*/ 192115 h 351328"/>
              <a:gd name="connsiteX41" fmla="*/ 78608 w 1360664"/>
              <a:gd name="connsiteY41" fmla="*/ 347451 h 351328"/>
              <a:gd name="connsiteX42" fmla="*/ 0 w 1360664"/>
              <a:gd name="connsiteY42" fmla="*/ 347451 h 351328"/>
              <a:gd name="connsiteX43" fmla="*/ 0 w 1360664"/>
              <a:gd name="connsiteY43" fmla="*/ 6698 h 351328"/>
              <a:gd name="connsiteX44" fmla="*/ 78608 w 1360664"/>
              <a:gd name="connsiteY44" fmla="*/ 6698 h 351328"/>
              <a:gd name="connsiteX45" fmla="*/ 78608 w 1360664"/>
              <a:gd name="connsiteY45" fmla="*/ 156277 h 351328"/>
              <a:gd name="connsiteX46" fmla="*/ 78608 w 1360664"/>
              <a:gd name="connsiteY46" fmla="*/ 156277 h 351328"/>
              <a:gd name="connsiteX47" fmla="*/ 415132 w 1360664"/>
              <a:gd name="connsiteY47" fmla="*/ 75671 h 351328"/>
              <a:gd name="connsiteX48" fmla="*/ 415132 w 1360664"/>
              <a:gd name="connsiteY48" fmla="*/ 192350 h 351328"/>
              <a:gd name="connsiteX49" fmla="*/ 462132 w 1360664"/>
              <a:gd name="connsiteY49" fmla="*/ 192350 h 351328"/>
              <a:gd name="connsiteX50" fmla="*/ 541681 w 1360664"/>
              <a:gd name="connsiteY50" fmla="*/ 132777 h 351328"/>
              <a:gd name="connsiteX51" fmla="*/ 466715 w 1360664"/>
              <a:gd name="connsiteY51" fmla="*/ 75553 h 351328"/>
              <a:gd name="connsiteX52" fmla="*/ 415132 w 1360664"/>
              <a:gd name="connsiteY52" fmla="*/ 75553 h 351328"/>
              <a:gd name="connsiteX53" fmla="*/ 415132 w 1360664"/>
              <a:gd name="connsiteY53" fmla="*/ 75671 h 351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360664" h="351328">
                <a:moveTo>
                  <a:pt x="336523" y="6698"/>
                </a:moveTo>
                <a:lnTo>
                  <a:pt x="473765" y="6698"/>
                </a:lnTo>
                <a:cubicBezTo>
                  <a:pt x="569763" y="6698"/>
                  <a:pt x="622521" y="58281"/>
                  <a:pt x="622521" y="132659"/>
                </a:cubicBezTo>
                <a:cubicBezTo>
                  <a:pt x="622521" y="207037"/>
                  <a:pt x="567648" y="260030"/>
                  <a:pt x="470005" y="260030"/>
                </a:cubicBezTo>
                <a:lnTo>
                  <a:pt x="415367" y="260030"/>
                </a:lnTo>
                <a:lnTo>
                  <a:pt x="415367" y="347569"/>
                </a:lnTo>
                <a:lnTo>
                  <a:pt x="336758" y="347569"/>
                </a:lnTo>
                <a:lnTo>
                  <a:pt x="336758" y="6698"/>
                </a:lnTo>
                <a:lnTo>
                  <a:pt x="336523" y="6698"/>
                </a:lnTo>
                <a:close/>
                <a:moveTo>
                  <a:pt x="651192" y="176134"/>
                </a:moveTo>
                <a:cubicBezTo>
                  <a:pt x="651192" y="70853"/>
                  <a:pt x="735088" y="0"/>
                  <a:pt x="829911" y="0"/>
                </a:cubicBezTo>
                <a:cubicBezTo>
                  <a:pt x="924735" y="0"/>
                  <a:pt x="1008748" y="67798"/>
                  <a:pt x="1008748" y="176134"/>
                </a:cubicBezTo>
                <a:cubicBezTo>
                  <a:pt x="1008748" y="284471"/>
                  <a:pt x="926850" y="352269"/>
                  <a:pt x="829911" y="352269"/>
                </a:cubicBezTo>
                <a:cubicBezTo>
                  <a:pt x="732973" y="352387"/>
                  <a:pt x="651192" y="281533"/>
                  <a:pt x="651192" y="176134"/>
                </a:cubicBezTo>
                <a:lnTo>
                  <a:pt x="651192" y="176134"/>
                </a:lnTo>
                <a:close/>
                <a:moveTo>
                  <a:pt x="829911" y="279536"/>
                </a:moveTo>
                <a:cubicBezTo>
                  <a:pt x="769750" y="279536"/>
                  <a:pt x="731798" y="232653"/>
                  <a:pt x="731798" y="176252"/>
                </a:cubicBezTo>
                <a:cubicBezTo>
                  <a:pt x="731798" y="119851"/>
                  <a:pt x="769398" y="72968"/>
                  <a:pt x="829911" y="72968"/>
                </a:cubicBezTo>
                <a:cubicBezTo>
                  <a:pt x="890424" y="72968"/>
                  <a:pt x="928025" y="119264"/>
                  <a:pt x="928025" y="176252"/>
                </a:cubicBezTo>
                <a:cubicBezTo>
                  <a:pt x="927907" y="233240"/>
                  <a:pt x="889954" y="279536"/>
                  <a:pt x="829911" y="279536"/>
                </a:cubicBezTo>
                <a:lnTo>
                  <a:pt x="829911" y="279536"/>
                </a:lnTo>
                <a:close/>
                <a:moveTo>
                  <a:pt x="1140467" y="156277"/>
                </a:moveTo>
                <a:lnTo>
                  <a:pt x="1263608" y="6698"/>
                </a:lnTo>
                <a:lnTo>
                  <a:pt x="1355964" y="6698"/>
                </a:lnTo>
                <a:lnTo>
                  <a:pt x="1217900" y="168262"/>
                </a:lnTo>
                <a:lnTo>
                  <a:pt x="1361017" y="347569"/>
                </a:lnTo>
                <a:lnTo>
                  <a:pt x="1261023" y="347569"/>
                </a:lnTo>
                <a:lnTo>
                  <a:pt x="1140467" y="192115"/>
                </a:lnTo>
                <a:lnTo>
                  <a:pt x="1140467" y="347451"/>
                </a:lnTo>
                <a:lnTo>
                  <a:pt x="1061859" y="347451"/>
                </a:lnTo>
                <a:lnTo>
                  <a:pt x="1061859" y="6698"/>
                </a:lnTo>
                <a:lnTo>
                  <a:pt x="1140467" y="6698"/>
                </a:lnTo>
                <a:lnTo>
                  <a:pt x="1140467" y="156277"/>
                </a:lnTo>
                <a:lnTo>
                  <a:pt x="1140467" y="156277"/>
                </a:lnTo>
                <a:close/>
                <a:moveTo>
                  <a:pt x="78608" y="156277"/>
                </a:moveTo>
                <a:lnTo>
                  <a:pt x="201750" y="6698"/>
                </a:lnTo>
                <a:lnTo>
                  <a:pt x="294106" y="6698"/>
                </a:lnTo>
                <a:lnTo>
                  <a:pt x="156042" y="168262"/>
                </a:lnTo>
                <a:lnTo>
                  <a:pt x="299158" y="347569"/>
                </a:lnTo>
                <a:lnTo>
                  <a:pt x="199282" y="347569"/>
                </a:lnTo>
                <a:lnTo>
                  <a:pt x="78608" y="192115"/>
                </a:lnTo>
                <a:lnTo>
                  <a:pt x="78608" y="347451"/>
                </a:lnTo>
                <a:lnTo>
                  <a:pt x="0" y="347451"/>
                </a:lnTo>
                <a:lnTo>
                  <a:pt x="0" y="6698"/>
                </a:lnTo>
                <a:lnTo>
                  <a:pt x="78608" y="6698"/>
                </a:lnTo>
                <a:lnTo>
                  <a:pt x="78608" y="156277"/>
                </a:lnTo>
                <a:lnTo>
                  <a:pt x="78608" y="156277"/>
                </a:lnTo>
                <a:close/>
                <a:moveTo>
                  <a:pt x="415132" y="75671"/>
                </a:moveTo>
                <a:lnTo>
                  <a:pt x="415132" y="192350"/>
                </a:lnTo>
                <a:lnTo>
                  <a:pt x="462132" y="192350"/>
                </a:lnTo>
                <a:cubicBezTo>
                  <a:pt x="518650" y="192350"/>
                  <a:pt x="541681" y="169437"/>
                  <a:pt x="541681" y="132777"/>
                </a:cubicBezTo>
                <a:cubicBezTo>
                  <a:pt x="541681" y="103636"/>
                  <a:pt x="522998" y="75553"/>
                  <a:pt x="466715" y="75553"/>
                </a:cubicBezTo>
                <a:lnTo>
                  <a:pt x="415132" y="75553"/>
                </a:lnTo>
                <a:lnTo>
                  <a:pt x="415132" y="75671"/>
                </a:lnTo>
                <a:close/>
              </a:path>
            </a:pathLst>
          </a:custGeom>
          <a:solidFill>
            <a:srgbClr val="00A460"/>
          </a:solidFill>
          <a:ln w="1168" cap="flat">
            <a:noFill/>
            <a:prstDash val="solid"/>
            <a:miter/>
          </a:ln>
        </p:spPr>
        <p:txBody>
          <a:bodyPr rtlCol="0" anchor="ctr"/>
          <a:lstStyle/>
          <a:p>
            <a:endParaRPr lang="ru-RU"/>
          </a:p>
        </p:txBody>
      </p:sp>
      <p:sp>
        <p:nvSpPr>
          <p:cNvPr id="3" name="Номер слайда 2"/>
          <p:cNvSpPr>
            <a:spLocks noGrp="1"/>
          </p:cNvSpPr>
          <p:nvPr>
            <p:ph type="sldNum" sz="quarter" idx="10"/>
          </p:nvPr>
        </p:nvSpPr>
        <p:spPr/>
        <p:txBody>
          <a:bodyPr/>
          <a:lstStyle/>
          <a:p>
            <a:fld id="{1947F118-66FC-BE48-93F4-28945D1606A6}"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dirty="0"/>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Croc" panose="020B0502020203020203" pitchFamily="34" charset="0"/>
              </a:defRPr>
            </a:lvl1pPr>
          </a:lstStyle>
          <a:p>
            <a:fld id="{546C4442-DC2B-4CDC-9776-D734847D2FFA}" type="datetimeFigureOut">
              <a:rPr lang="ru-RU" smtClean="0"/>
              <a:t>19.10.2026</a:t>
            </a:fld>
            <a:endParaRPr lang="ru-RU" dirty="0"/>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Croc" panose="020B0502020203020203" pitchFamily="34" charset="0"/>
              </a:defRPr>
            </a:lvl1pPr>
          </a:lstStyle>
          <a:p>
            <a:endParaRPr lang="ru-RU" dirty="0"/>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Croc" panose="020B0502020203020203" pitchFamily="34" charset="0"/>
              </a:defRPr>
            </a:lvl1pPr>
          </a:lstStyle>
          <a:p>
            <a:fld id="{3F32E96D-4ADC-4D01-A0B1-ED7E4C3E83EE}" type="slidenum">
              <a:rPr lang="ru-RU" smtClean="0"/>
              <a:t>‹#›</a:t>
            </a:fld>
            <a:endParaRPr lang="ru-RU"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b="0" i="0" kern="1200">
          <a:solidFill>
            <a:schemeClr val="tx1"/>
          </a:solidFill>
          <a:latin typeface="Croc" panose="020B0502020203020203"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roc" panose="020B0502020203020203"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roc" panose="020B0502020203020203"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roc" panose="020B0502020203020203"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roc" panose="020B0502020203020203"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roc" panose="020B050202020302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image" Target="../media/image13.emf"/><Relationship Id="rId5" Type="http://schemas.openxmlformats.org/officeDocument/2006/relationships/oleObject" Target="../embeddings/oleObject1.bin"/><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slideLayout" Target="../slideLayouts/slideLayout2.xml"/><Relationship Id="rId7" Type="http://schemas.openxmlformats.org/officeDocument/2006/relationships/image" Target="../media/image16.png"/><Relationship Id="rId2" Type="http://schemas.openxmlformats.org/officeDocument/2006/relationships/tags" Target="../tags/tag2.xml"/><Relationship Id="rId1" Type="http://schemas.openxmlformats.org/officeDocument/2006/relationships/vmlDrawing" Target="../drawings/vmlDrawing2.vml"/><Relationship Id="rId6" Type="http://schemas.openxmlformats.org/officeDocument/2006/relationships/image" Target="../media/image13.emf"/><Relationship Id="rId5" Type="http://schemas.openxmlformats.org/officeDocument/2006/relationships/oleObject" Target="../embeddings/oleObject1.bin"/><Relationship Id="rId10" Type="http://schemas.openxmlformats.org/officeDocument/2006/relationships/image" Target="../media/image12.png"/><Relationship Id="rId4" Type="http://schemas.openxmlformats.org/officeDocument/2006/relationships/notesSlide" Target="../notesSlides/notesSlide14.xml"/><Relationship Id="rId9" Type="http://schemas.openxmlformats.org/officeDocument/2006/relationships/image" Target="../media/image18.png"/></Relationships>
</file>

<file path=ppt/slides/_rels/slide1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slideLayout" Target="../slideLayouts/slideLayout2.xml"/><Relationship Id="rId7" Type="http://schemas.openxmlformats.org/officeDocument/2006/relationships/image" Target="../media/image16.png"/><Relationship Id="rId2" Type="http://schemas.openxmlformats.org/officeDocument/2006/relationships/tags" Target="../tags/tag3.xml"/><Relationship Id="rId1" Type="http://schemas.openxmlformats.org/officeDocument/2006/relationships/vmlDrawing" Target="../drawings/vmlDrawing3.vml"/><Relationship Id="rId6" Type="http://schemas.openxmlformats.org/officeDocument/2006/relationships/image" Target="../media/image13.emf"/><Relationship Id="rId5" Type="http://schemas.openxmlformats.org/officeDocument/2006/relationships/oleObject" Target="../embeddings/oleObject1.bin"/><Relationship Id="rId10" Type="http://schemas.openxmlformats.org/officeDocument/2006/relationships/image" Target="../media/image12.png"/><Relationship Id="rId4" Type="http://schemas.openxmlformats.org/officeDocument/2006/relationships/notesSlide" Target="../notesSlides/notesSlide15.xml"/><Relationship Id="rId9"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9.jp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jpe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26.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2.jpe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33.jpg"/><Relationship Id="rId4" Type="http://schemas.openxmlformats.org/officeDocument/2006/relationships/image" Target="../media/image2.sv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34.jpg"/><Relationship Id="rId5" Type="http://schemas.openxmlformats.org/officeDocument/2006/relationships/image" Target="../media/image6.png"/><Relationship Id="rId4" Type="http://schemas.openxmlformats.org/officeDocument/2006/relationships/image" Target="../media/image2.sv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38.jpg"/><Relationship Id="rId3" Type="http://schemas.openxmlformats.org/officeDocument/2006/relationships/image" Target="../media/image37.png"/><Relationship Id="rId7"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hyperlink" Target="mailto:vorobyevdaniel@gmail.com" TargetMode="External"/><Relationship Id="rId5" Type="http://schemas.openxmlformats.org/officeDocument/2006/relationships/hyperlink" Target="https://stepik.org/course/3356/syllabus" TargetMode="External"/><Relationship Id="rId4" Type="http://schemas.openxmlformats.org/officeDocument/2006/relationships/hyperlink" Target="https://github.com/HerrEnot/MISIS_2022/"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39.jpeg"/><Relationship Id="rId7" Type="http://schemas.openxmlformats.org/officeDocument/2006/relationships/image" Target="../media/image43.jp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jpeg"/><Relationship Id="rId4" Type="http://schemas.openxmlformats.org/officeDocument/2006/relationships/image" Target="../media/image40.jpeg"/></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0.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42425"/>
        </a:solidFill>
        <a:effectLst/>
      </p:bgPr>
    </p:bg>
    <p:spTree>
      <p:nvGrpSpPr>
        <p:cNvPr id="1" name=""/>
        <p:cNvGrpSpPr/>
        <p:nvPr/>
      </p:nvGrpSpPr>
      <p:grpSpPr>
        <a:xfrm>
          <a:off x="0" y="0"/>
          <a:ext cx="0" cy="0"/>
          <a:chOff x="0" y="0"/>
          <a:chExt cx="0" cy="0"/>
        </a:xfrm>
      </p:grpSpPr>
      <p:pic>
        <p:nvPicPr>
          <p:cNvPr id="16" name="Рисунок 15"/>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75885" y="-972454"/>
            <a:ext cx="5483077" cy="5400000"/>
          </a:xfrm>
          <a:prstGeom prst="rect">
            <a:avLst/>
          </a:prstGeom>
        </p:spPr>
      </p:pic>
      <p:sp>
        <p:nvSpPr>
          <p:cNvPr id="19" name="TextBox 18"/>
          <p:cNvSpPr txBox="1"/>
          <p:nvPr/>
        </p:nvSpPr>
        <p:spPr>
          <a:xfrm>
            <a:off x="346364" y="391245"/>
            <a:ext cx="10349346" cy="6069965"/>
          </a:xfrm>
          <a:prstGeom prst="rect">
            <a:avLst/>
          </a:prstGeom>
          <a:noFill/>
        </p:spPr>
        <p:txBody>
          <a:bodyPr wrap="square" lIns="0" rtlCol="0">
            <a:spAutoFit/>
          </a:bodyPr>
          <a:lstStyle/>
          <a:p>
            <a:pPr>
              <a:lnSpc>
                <a:spcPct val="90000"/>
              </a:lnSpc>
            </a:pPr>
            <a:endParaRPr lang="ru-RU" sz="4800" dirty="0">
              <a:solidFill>
                <a:schemeClr val="bg1"/>
              </a:solidFill>
              <a:latin typeface="Croc" panose="020B0502020203020203" pitchFamily="34" charset="0"/>
            </a:endParaRPr>
          </a:p>
          <a:p>
            <a:pPr>
              <a:lnSpc>
                <a:spcPct val="90000"/>
              </a:lnSpc>
            </a:pPr>
            <a:r>
              <a:rPr lang="ru-RU" sz="4800" dirty="0">
                <a:solidFill>
                  <a:schemeClr val="bg1"/>
                </a:solidFill>
                <a:latin typeface="Croc" panose="020B0502020203020203" pitchFamily="34" charset="0"/>
              </a:rPr>
              <a:t>Языки программирования для работы с большими данными.</a:t>
            </a:r>
          </a:p>
          <a:p>
            <a:pPr>
              <a:lnSpc>
                <a:spcPct val="90000"/>
              </a:lnSpc>
            </a:pPr>
            <a:endParaRPr lang="ru-RU" sz="4800" dirty="0">
              <a:solidFill>
                <a:schemeClr val="bg1"/>
              </a:solidFill>
              <a:latin typeface="Croc" panose="020B0502020203020203" pitchFamily="34" charset="0"/>
            </a:endParaRPr>
          </a:p>
          <a:p>
            <a:pPr>
              <a:lnSpc>
                <a:spcPct val="90000"/>
              </a:lnSpc>
            </a:pPr>
            <a:endParaRPr lang="ru-RU" sz="4800" dirty="0">
              <a:solidFill>
                <a:schemeClr val="bg1"/>
              </a:solidFill>
              <a:latin typeface="Croc" panose="020B0502020203020203" pitchFamily="34" charset="0"/>
            </a:endParaRPr>
          </a:p>
          <a:p>
            <a:pPr>
              <a:lnSpc>
                <a:spcPct val="90000"/>
              </a:lnSpc>
            </a:pPr>
            <a:r>
              <a:rPr lang="ru-RU" sz="4800" dirty="0">
                <a:solidFill>
                  <a:schemeClr val="bg1"/>
                </a:solidFill>
                <a:latin typeface="Croc" panose="020B0502020203020203" pitchFamily="34" charset="0"/>
              </a:rPr>
              <a:t>Python, часть 1.Вводная лекция</a:t>
            </a:r>
          </a:p>
          <a:p>
            <a:pPr>
              <a:lnSpc>
                <a:spcPct val="90000"/>
              </a:lnSpc>
            </a:pPr>
            <a:r>
              <a:rPr lang="ru-RU" sz="4800" dirty="0">
                <a:solidFill>
                  <a:schemeClr val="bg1"/>
                </a:solidFill>
              </a:rPr>
              <a:t>1 семестр 2026/2027 уч. года</a:t>
            </a:r>
          </a:p>
          <a:p>
            <a:pPr>
              <a:lnSpc>
                <a:spcPct val="90000"/>
              </a:lnSpc>
            </a:pPr>
            <a:endParaRPr lang="ru-RU" sz="4800" dirty="0">
              <a:solidFill>
                <a:schemeClr val="bg1"/>
              </a:solidFill>
              <a:latin typeface="Croc" panose="020B0502020203020203" pitchFamily="34" charset="0"/>
            </a:endParaRPr>
          </a:p>
          <a:p>
            <a:pPr>
              <a:lnSpc>
                <a:spcPct val="90000"/>
              </a:lnSpc>
            </a:pPr>
            <a:endParaRPr lang="ru-RU" sz="4800" dirty="0">
              <a:solidFill>
                <a:schemeClr val="bg1"/>
              </a:solidFill>
              <a:latin typeface="Croc" panose="020B0502020203020203" pitchFamily="34" charset="0"/>
            </a:endParaRPr>
          </a:p>
        </p:txBody>
      </p:sp>
      <p:sp>
        <p:nvSpPr>
          <p:cNvPr id="20" name="TextBox 19"/>
          <p:cNvSpPr txBox="1"/>
          <p:nvPr/>
        </p:nvSpPr>
        <p:spPr>
          <a:xfrm>
            <a:off x="596019" y="6038189"/>
            <a:ext cx="6356349" cy="584775"/>
          </a:xfrm>
          <a:prstGeom prst="rect">
            <a:avLst/>
          </a:prstGeom>
          <a:noFill/>
        </p:spPr>
        <p:txBody>
          <a:bodyPr wrap="square" lIns="0" rtlCol="0">
            <a:spAutoFit/>
          </a:bodyPr>
          <a:lstStyle/>
          <a:p>
            <a:r>
              <a:rPr lang="ru-RU" sz="3200" dirty="0">
                <a:solidFill>
                  <a:schemeClr val="bg1"/>
                </a:solidFill>
                <a:latin typeface="Croc" panose="020B0502020203020203" pitchFamily="34" charset="0"/>
              </a:rPr>
              <a:t>Воробьев Даниил</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4" name="Прямоугольник 1703"/>
          <p:cNvSpPr/>
          <p:nvPr/>
        </p:nvSpPr>
        <p:spPr>
          <a:xfrm>
            <a:off x="0" y="3813602"/>
            <a:ext cx="12192000" cy="3067057"/>
          </a:xfrm>
          <a:prstGeom prst="rect">
            <a:avLst/>
          </a:prstGeom>
          <a:solidFill>
            <a:srgbClr val="6F26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3" name="Заголовок 2"/>
          <p:cNvSpPr>
            <a:spLocks noGrp="1"/>
          </p:cNvSpPr>
          <p:nvPr>
            <p:ph type="title"/>
          </p:nvPr>
        </p:nvSpPr>
        <p:spPr>
          <a:xfrm>
            <a:off x="514881" y="223266"/>
            <a:ext cx="10566837" cy="498598"/>
          </a:xfrm>
        </p:spPr>
        <p:txBody>
          <a:bodyPr/>
          <a:lstStyle/>
          <a:p>
            <a:r>
              <a:rPr lang="en-US" b="0" i="0" dirty="0">
                <a:solidFill>
                  <a:srgbClr val="4E4E4E"/>
                </a:solidFill>
                <a:effectLst/>
                <a:latin typeface="-apple-system"/>
              </a:rPr>
              <a:t>Who is this guy</a:t>
            </a:r>
            <a:r>
              <a:rPr lang="ru-RU" b="0" i="0" dirty="0">
                <a:solidFill>
                  <a:srgbClr val="4E4E4E"/>
                </a:solidFill>
                <a:effectLst/>
                <a:latin typeface="-apple-system"/>
              </a:rPr>
              <a:t>?</a:t>
            </a:r>
            <a:r>
              <a:rPr lang="ru-RU" b="0" dirty="0">
                <a:solidFill>
                  <a:schemeClr val="tx1">
                    <a:lumMod val="50000"/>
                  </a:schemeClr>
                </a:solidFill>
              </a:rPr>
              <a:t> </a:t>
            </a:r>
            <a:endParaRPr lang="ru-RU" b="0" dirty="0"/>
          </a:p>
        </p:txBody>
      </p:sp>
      <p:sp>
        <p:nvSpPr>
          <p:cNvPr id="1694" name="Прямоугольник 1693"/>
          <p:cNvSpPr/>
          <p:nvPr/>
        </p:nvSpPr>
        <p:spPr>
          <a:xfrm>
            <a:off x="1123075" y="4419444"/>
            <a:ext cx="1177566" cy="954107"/>
          </a:xfrm>
          <a:prstGeom prst="rect">
            <a:avLst/>
          </a:prstGeom>
        </p:spPr>
        <p:txBody>
          <a:bodyPr wrap="none" lIns="0">
            <a:spAutoFit/>
          </a:bodyPr>
          <a:lstStyle/>
          <a:p>
            <a:r>
              <a:rPr lang="ru-RU" sz="5600" b="1" dirty="0">
                <a:solidFill>
                  <a:schemeClr val="bg1"/>
                </a:solidFill>
                <a:latin typeface="Croc" panose="020B0502020203020203" pitchFamily="34" charset="0"/>
              </a:rPr>
              <a:t>1</a:t>
            </a:r>
            <a:r>
              <a:rPr lang="ru-RU" altLang="en-US" sz="5600" b="1" dirty="0">
                <a:solidFill>
                  <a:schemeClr val="bg1"/>
                </a:solidFill>
                <a:latin typeface="Croc" panose="020B0502020203020203" pitchFamily="34" charset="0"/>
              </a:rPr>
              <a:t>6</a:t>
            </a:r>
            <a:r>
              <a:rPr lang="ru-RU" sz="5600" b="1" dirty="0">
                <a:solidFill>
                  <a:schemeClr val="bg1"/>
                </a:solidFill>
                <a:latin typeface="Croc" panose="020B0502020203020203" pitchFamily="34" charset="0"/>
              </a:rPr>
              <a:t>+</a:t>
            </a:r>
          </a:p>
        </p:txBody>
      </p:sp>
      <p:sp>
        <p:nvSpPr>
          <p:cNvPr id="1695" name="Прямоугольник 1694"/>
          <p:cNvSpPr/>
          <p:nvPr/>
        </p:nvSpPr>
        <p:spPr>
          <a:xfrm>
            <a:off x="1113075" y="5317456"/>
            <a:ext cx="1257717" cy="400110"/>
          </a:xfrm>
          <a:prstGeom prst="rect">
            <a:avLst/>
          </a:prstGeom>
        </p:spPr>
        <p:txBody>
          <a:bodyPr wrap="none" lIns="0">
            <a:spAutoFit/>
          </a:bodyPr>
          <a:lstStyle/>
          <a:p>
            <a:r>
              <a:rPr lang="ru-RU" sz="2000" b="1" dirty="0">
                <a:solidFill>
                  <a:schemeClr val="bg1"/>
                </a:solidFill>
                <a:latin typeface="Croc Light" panose="020B0402020203020203" pitchFamily="34" charset="0"/>
              </a:rPr>
              <a:t>лет опыта</a:t>
            </a:r>
            <a:endParaRPr lang="ru-RU" sz="2000" b="1" dirty="0">
              <a:solidFill>
                <a:schemeClr val="bg1"/>
              </a:solidFill>
              <a:latin typeface="Circe Light" pitchFamily="34" charset="-52"/>
            </a:endParaRPr>
          </a:p>
        </p:txBody>
      </p:sp>
      <p:sp>
        <p:nvSpPr>
          <p:cNvPr id="20" name="Прямоугольник 19"/>
          <p:cNvSpPr/>
          <p:nvPr/>
        </p:nvSpPr>
        <p:spPr>
          <a:xfrm>
            <a:off x="2836506" y="472565"/>
            <a:ext cx="6140131" cy="3724096"/>
          </a:xfrm>
          <a:prstGeom prst="rect">
            <a:avLst/>
          </a:prstGeom>
        </p:spPr>
        <p:txBody>
          <a:bodyPr wrap="square" lIns="0" numCol="1" spcCol="144000">
            <a:spAutoFit/>
          </a:bodyPr>
          <a:lstStyle/>
          <a:p>
            <a:r>
              <a:rPr lang="ru-RU" sz="2000" b="1" dirty="0">
                <a:solidFill>
                  <a:srgbClr val="343336"/>
                </a:solidFill>
                <a:latin typeface="Croc" panose="020B0502020203020203" pitchFamily="34" charset="0"/>
              </a:rPr>
              <a:t>	Воробьев Даниил</a:t>
            </a:r>
          </a:p>
          <a:p>
            <a:endParaRPr lang="ru-RU" b="1" dirty="0">
              <a:solidFill>
                <a:srgbClr val="343336"/>
              </a:solidFill>
              <a:latin typeface="Croc" panose="020B0502020203020203" pitchFamily="34" charset="0"/>
            </a:endParaRPr>
          </a:p>
          <a:p>
            <a:r>
              <a:rPr lang="ru-RU" dirty="0">
                <a:solidFill>
                  <a:srgbClr val="343336"/>
                </a:solidFill>
                <a:latin typeface="Croc" panose="020B0502020203020203" pitchFamily="34" charset="0"/>
              </a:rPr>
              <a:t>Ведущий аналитик, Отраслевой Эксперт, Функциональный Архитектор, Product owner, Руководитель отдела RND и промышленной аналитики в компании GlowByte</a:t>
            </a:r>
          </a:p>
          <a:p>
            <a:endParaRPr lang="ru-RU" dirty="0">
              <a:solidFill>
                <a:srgbClr val="343336"/>
              </a:solidFill>
              <a:latin typeface="Croc" panose="020B0502020203020203" pitchFamily="34" charset="0"/>
            </a:endParaRPr>
          </a:p>
          <a:p>
            <a:r>
              <a:rPr lang="ru-RU" b="1" dirty="0"/>
              <a:t>Специализация </a:t>
            </a:r>
            <a:r>
              <a:rPr lang="ru-RU" dirty="0"/>
              <a:t>– бизнес анализ, системный анализ, дата анализ, функциональная архитектура, документирование, описание бизнес процессов, системы прогнозирования, ТОИР, рекомендательные системы, КХД, </a:t>
            </a:r>
            <a:r>
              <a:rPr lang="en-US" dirty="0"/>
              <a:t>HADOOP, </a:t>
            </a:r>
            <a:r>
              <a:rPr lang="ru-RU" dirty="0"/>
              <a:t>промышленные решения, системы мониторинга, АСУТП</a:t>
            </a:r>
            <a:r>
              <a:rPr lang="en-US" dirty="0"/>
              <a:t>, </a:t>
            </a:r>
            <a:r>
              <a:rPr lang="ru-RU" dirty="0"/>
              <a:t>инженерные решения.</a:t>
            </a:r>
          </a:p>
          <a:p>
            <a:endParaRPr lang="ru-RU" dirty="0">
              <a:solidFill>
                <a:srgbClr val="343336"/>
              </a:solidFill>
              <a:latin typeface="Croc" panose="020B0502020203020203" pitchFamily="34" charset="0"/>
            </a:endParaRPr>
          </a:p>
        </p:txBody>
      </p:sp>
      <p:pic>
        <p:nvPicPr>
          <p:cNvPr id="7" name="Рисунок 6"/>
          <p:cNvPicPr>
            <a:picLocks noChangeAspect="1"/>
          </p:cNvPicPr>
          <p:nvPr/>
        </p:nvPicPr>
        <p:blipFill>
          <a:blip r:embed="rId3"/>
          <a:stretch>
            <a:fillRect/>
          </a:stretch>
        </p:blipFill>
        <p:spPr>
          <a:xfrm>
            <a:off x="374073" y="968820"/>
            <a:ext cx="2178895" cy="2715663"/>
          </a:xfrm>
          <a:prstGeom prst="rect">
            <a:avLst/>
          </a:prstGeom>
        </p:spPr>
      </p:pic>
      <p:grpSp>
        <p:nvGrpSpPr>
          <p:cNvPr id="29" name="Группа 28"/>
          <p:cNvGrpSpPr/>
          <p:nvPr/>
        </p:nvGrpSpPr>
        <p:grpSpPr>
          <a:xfrm>
            <a:off x="3285215" y="4363349"/>
            <a:ext cx="1177566" cy="1440463"/>
            <a:chOff x="6102025" y="4393024"/>
            <a:chExt cx="1177566" cy="1440463"/>
          </a:xfrm>
        </p:grpSpPr>
        <p:sp>
          <p:nvSpPr>
            <p:cNvPr id="30" name="Прямоугольник 29"/>
            <p:cNvSpPr/>
            <p:nvPr/>
          </p:nvSpPr>
          <p:spPr>
            <a:xfrm>
              <a:off x="6102025" y="4393024"/>
              <a:ext cx="1177566" cy="954107"/>
            </a:xfrm>
            <a:prstGeom prst="rect">
              <a:avLst/>
            </a:prstGeom>
          </p:spPr>
          <p:txBody>
            <a:bodyPr wrap="none" lIns="0">
              <a:spAutoFit/>
            </a:bodyPr>
            <a:lstStyle/>
            <a:p>
              <a:r>
                <a:rPr lang="ru-RU" altLang="ru-RU" sz="5600" b="1" dirty="0">
                  <a:solidFill>
                    <a:schemeClr val="bg1"/>
                  </a:solidFill>
                  <a:latin typeface="Croc" panose="020B0502020203020203" pitchFamily="34" charset="0"/>
                </a:rPr>
                <a:t>40</a:t>
              </a:r>
              <a:r>
                <a:rPr lang="ru-RU" sz="5600" b="1" dirty="0">
                  <a:solidFill>
                    <a:schemeClr val="bg1"/>
                  </a:solidFill>
                  <a:latin typeface="Croc" panose="020B0502020203020203" pitchFamily="34" charset="0"/>
                </a:rPr>
                <a:t>+</a:t>
              </a:r>
            </a:p>
          </p:txBody>
        </p:sp>
        <p:sp>
          <p:nvSpPr>
            <p:cNvPr id="31" name="Прямоугольник 30"/>
            <p:cNvSpPr/>
            <p:nvPr/>
          </p:nvSpPr>
          <p:spPr>
            <a:xfrm>
              <a:off x="6102025" y="5125601"/>
              <a:ext cx="1122551" cy="707886"/>
            </a:xfrm>
            <a:prstGeom prst="rect">
              <a:avLst/>
            </a:prstGeom>
          </p:spPr>
          <p:txBody>
            <a:bodyPr wrap="none" lIns="0">
              <a:spAutoFit/>
            </a:bodyPr>
            <a:lstStyle/>
            <a:p>
              <a:r>
                <a:rPr lang="ru-RU" sz="2000" b="1" dirty="0">
                  <a:solidFill>
                    <a:schemeClr val="bg1"/>
                  </a:solidFill>
                  <a:latin typeface="Croc Light" panose="020B0402020203020203" pitchFamily="34" charset="0"/>
                </a:rPr>
                <a:t>крупных</a:t>
              </a:r>
            </a:p>
            <a:p>
              <a:r>
                <a:rPr lang="ru-RU" sz="2000" b="1" dirty="0">
                  <a:solidFill>
                    <a:schemeClr val="bg1"/>
                  </a:solidFill>
                  <a:latin typeface="Croc Light" panose="020B0402020203020203" pitchFamily="34" charset="0"/>
                </a:rPr>
                <a:t>проектов</a:t>
              </a:r>
            </a:p>
          </p:txBody>
        </p:sp>
      </p:grpSp>
      <p:pic>
        <p:nvPicPr>
          <p:cNvPr id="12" name="Google Shape;86;p3"/>
          <p:cNvPicPr preferRelativeResize="0"/>
          <p:nvPr/>
        </p:nvPicPr>
        <p:blipFill rotWithShape="1">
          <a:blip r:embed="rId4"/>
          <a:srcRect/>
          <a:stretch>
            <a:fillRect/>
          </a:stretch>
        </p:blipFill>
        <p:spPr>
          <a:xfrm>
            <a:off x="9549973" y="654231"/>
            <a:ext cx="2267954" cy="3030252"/>
          </a:xfrm>
          <a:prstGeom prst="rect">
            <a:avLst/>
          </a:prstGeom>
          <a:noFill/>
          <a:ln>
            <a:noFill/>
          </a:ln>
        </p:spPr>
      </p:pic>
      <p:pic>
        <p:nvPicPr>
          <p:cNvPr id="13" name="Google Shape;85;p3" descr="облако слов"/>
          <p:cNvPicPr preferRelativeResize="0"/>
          <p:nvPr/>
        </p:nvPicPr>
        <p:blipFill rotWithShape="1">
          <a:blip r:embed="rId5"/>
          <a:srcRect/>
          <a:stretch>
            <a:fillRect/>
          </a:stretch>
        </p:blipFill>
        <p:spPr>
          <a:xfrm>
            <a:off x="8237403" y="3829976"/>
            <a:ext cx="3954597" cy="3067057"/>
          </a:xfrm>
          <a:prstGeom prst="rect">
            <a:avLst/>
          </a:prstGeom>
          <a:noFill/>
          <a:ln>
            <a:noFill/>
          </a:ln>
        </p:spPr>
      </p:pic>
      <p:grpSp>
        <p:nvGrpSpPr>
          <p:cNvPr id="28" name="Группа 27"/>
          <p:cNvGrpSpPr/>
          <p:nvPr/>
        </p:nvGrpSpPr>
        <p:grpSpPr>
          <a:xfrm>
            <a:off x="5830559" y="4351004"/>
            <a:ext cx="1177566" cy="1440463"/>
            <a:chOff x="6102025" y="4393024"/>
            <a:chExt cx="1177566" cy="1440463"/>
          </a:xfrm>
        </p:grpSpPr>
        <p:sp>
          <p:nvSpPr>
            <p:cNvPr id="32" name="Прямоугольник 31"/>
            <p:cNvSpPr/>
            <p:nvPr/>
          </p:nvSpPr>
          <p:spPr>
            <a:xfrm>
              <a:off x="6102025" y="4393024"/>
              <a:ext cx="1177566" cy="954107"/>
            </a:xfrm>
            <a:prstGeom prst="rect">
              <a:avLst/>
            </a:prstGeom>
          </p:spPr>
          <p:txBody>
            <a:bodyPr wrap="none" lIns="0">
              <a:spAutoFit/>
            </a:bodyPr>
            <a:lstStyle/>
            <a:p>
              <a:r>
                <a:rPr lang="ru-RU" sz="5600" b="1" dirty="0">
                  <a:solidFill>
                    <a:schemeClr val="bg1"/>
                  </a:solidFill>
                  <a:latin typeface="Croc" panose="020B0502020203020203" pitchFamily="34" charset="0"/>
                </a:rPr>
                <a:t>20+</a:t>
              </a:r>
            </a:p>
          </p:txBody>
        </p:sp>
        <p:sp>
          <p:nvSpPr>
            <p:cNvPr id="33" name="Прямоугольник 32"/>
            <p:cNvSpPr/>
            <p:nvPr/>
          </p:nvSpPr>
          <p:spPr>
            <a:xfrm>
              <a:off x="6102025" y="5125601"/>
              <a:ext cx="770852" cy="707886"/>
            </a:xfrm>
            <a:prstGeom prst="rect">
              <a:avLst/>
            </a:prstGeom>
          </p:spPr>
          <p:txBody>
            <a:bodyPr wrap="none" lIns="0">
              <a:spAutoFit/>
            </a:bodyPr>
            <a:lstStyle/>
            <a:p>
              <a:r>
                <a:rPr lang="ru-RU" sz="2000" b="1" dirty="0">
                  <a:solidFill>
                    <a:schemeClr val="bg1"/>
                  </a:solidFill>
                  <a:latin typeface="Croc Light" panose="020B0402020203020203" pitchFamily="34" charset="0"/>
                </a:rPr>
                <a:t>ролей</a:t>
              </a:r>
            </a:p>
            <a:p>
              <a:endParaRPr lang="ru-RU" sz="2000" b="1" dirty="0">
                <a:solidFill>
                  <a:schemeClr val="bg1"/>
                </a:solidFill>
                <a:latin typeface="Croc Light" panose="020B0402020203020203" pitchFamily="34" charset="0"/>
              </a:endParaRPr>
            </a:p>
          </p:txBody>
        </p:sp>
      </p:grpSp>
      <p:pic>
        <p:nvPicPr>
          <p:cNvPr id="17"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01969" y="6291563"/>
            <a:ext cx="1231941" cy="4818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42425"/>
        </a:solidFill>
        <a:effectLst/>
      </p:bgPr>
    </p:bg>
    <p:spTree>
      <p:nvGrpSpPr>
        <p:cNvPr id="1" name=""/>
        <p:cNvGrpSpPr/>
        <p:nvPr/>
      </p:nvGrpSpPr>
      <p:grpSpPr>
        <a:xfrm>
          <a:off x="0" y="0"/>
          <a:ext cx="0" cy="0"/>
          <a:chOff x="0" y="0"/>
          <a:chExt cx="0" cy="0"/>
        </a:xfrm>
      </p:grpSpPr>
      <p:pic>
        <p:nvPicPr>
          <p:cNvPr id="16" name="Рисунок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75885" y="-972454"/>
            <a:ext cx="5483077" cy="5400000"/>
          </a:xfrm>
          <a:prstGeom prst="rect">
            <a:avLst/>
          </a:prstGeom>
        </p:spPr>
      </p:pic>
      <p:sp>
        <p:nvSpPr>
          <p:cNvPr id="19" name="TextBox 18"/>
          <p:cNvSpPr txBox="1"/>
          <p:nvPr/>
        </p:nvSpPr>
        <p:spPr>
          <a:xfrm>
            <a:off x="500724" y="19386"/>
            <a:ext cx="8499475" cy="3416320"/>
          </a:xfrm>
          <a:prstGeom prst="rect">
            <a:avLst/>
          </a:prstGeom>
          <a:noFill/>
        </p:spPr>
        <p:txBody>
          <a:bodyPr wrap="square" lIns="0"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ru-RU" sz="9600" b="0" dirty="0">
                <a:solidFill>
                  <a:schemeClr val="bg1"/>
                </a:solidFill>
              </a:rPr>
              <a:t>Проверим </a:t>
            </a:r>
            <a:r>
              <a:rPr lang="ru-RU" sz="9600" b="0" dirty="0" err="1">
                <a:solidFill>
                  <a:schemeClr val="bg1"/>
                </a:solidFill>
              </a:rPr>
              <a:t>статы</a:t>
            </a:r>
            <a:r>
              <a:rPr lang="ru-RU" sz="9600" b="0" dirty="0">
                <a:solidFill>
                  <a:schemeClr val="bg1"/>
                </a:solidFill>
              </a:rPr>
              <a:t> группы</a:t>
            </a:r>
            <a:endParaRPr kumimoji="0" lang="ru-RU" sz="4800" b="0" i="0" u="none" strike="noStrike" kern="1200" cap="none" spc="0" normalizeH="0" baseline="0" noProof="0" dirty="0">
              <a:ln>
                <a:noFill/>
              </a:ln>
              <a:solidFill>
                <a:prstClr val="white"/>
              </a:solidFill>
              <a:effectLst/>
              <a:uLnTx/>
              <a:uFillTx/>
              <a:latin typeface="Croc" panose="020B0502020203020203" pitchFamily="34" charset="0"/>
              <a:ea typeface="+mn-ea"/>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ru-RU" sz="4800" b="0" i="0" u="none" strike="noStrike" kern="1200" cap="none" spc="0" normalizeH="0" baseline="0" noProof="0" dirty="0">
              <a:ln>
                <a:noFill/>
              </a:ln>
              <a:solidFill>
                <a:prstClr val="white"/>
              </a:solidFill>
              <a:effectLst/>
              <a:uLnTx/>
              <a:uFillTx/>
              <a:latin typeface="Croc" panose="020B0502020203020203" pitchFamily="34" charset="0"/>
              <a:ea typeface="+mn-ea"/>
              <a:cs typeface="+mn-cs"/>
            </a:endParaRPr>
          </a:p>
        </p:txBody>
      </p:sp>
      <p:pic>
        <p:nvPicPr>
          <p:cNvPr id="4"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1969" y="6291563"/>
            <a:ext cx="1231941" cy="481826"/>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Мем: &quot;ПЕРЕКЛИЧКА!!!&quot; - Все шаблоны - Meme-arsenal.com">
            <a:extLst>
              <a:ext uri="{FF2B5EF4-FFF2-40B4-BE49-F238E27FC236}">
                <a16:creationId xmlns:a16="http://schemas.microsoft.com/office/drawing/2014/main" id="{F5988712-F396-4ABE-9F79-9E08A4AFFBF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7531"/>
          <a:stretch/>
        </p:blipFill>
        <p:spPr bwMode="auto">
          <a:xfrm>
            <a:off x="2034866" y="2873000"/>
            <a:ext cx="4762500" cy="3109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4792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42425"/>
        </a:solidFill>
        <a:effectLst/>
      </p:bgPr>
    </p:bg>
    <p:spTree>
      <p:nvGrpSpPr>
        <p:cNvPr id="1" name=""/>
        <p:cNvGrpSpPr/>
        <p:nvPr/>
      </p:nvGrpSpPr>
      <p:grpSpPr>
        <a:xfrm>
          <a:off x="0" y="0"/>
          <a:ext cx="0" cy="0"/>
          <a:chOff x="0" y="0"/>
          <a:chExt cx="0" cy="0"/>
        </a:xfrm>
      </p:grpSpPr>
      <p:pic>
        <p:nvPicPr>
          <p:cNvPr id="16" name="Рисунок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75885" y="-972454"/>
            <a:ext cx="5483077" cy="5400000"/>
          </a:xfrm>
          <a:prstGeom prst="rect">
            <a:avLst/>
          </a:prstGeom>
        </p:spPr>
      </p:pic>
      <p:sp>
        <p:nvSpPr>
          <p:cNvPr id="19" name="TextBox 18"/>
          <p:cNvSpPr txBox="1"/>
          <p:nvPr/>
        </p:nvSpPr>
        <p:spPr>
          <a:xfrm>
            <a:off x="500724" y="19386"/>
            <a:ext cx="8499475" cy="3416320"/>
          </a:xfrm>
          <a:prstGeom prst="rect">
            <a:avLst/>
          </a:prstGeom>
          <a:noFill/>
        </p:spPr>
        <p:txBody>
          <a:bodyPr wrap="square" lIns="0"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lang="ru-RU" sz="5400" b="0" dirty="0">
                <a:solidFill>
                  <a:schemeClr val="bg1"/>
                </a:solidFill>
              </a:rPr>
              <a:t>Вас обманули. </a:t>
            </a:r>
            <a:r>
              <a:rPr lang="ru-RU" sz="5400" b="0" dirty="0" err="1">
                <a:solidFill>
                  <a:schemeClr val="bg1"/>
                </a:solidFill>
              </a:rPr>
              <a:t>6 раз.</a:t>
            </a:r>
            <a:endParaRPr kumimoji="0" lang="ru-RU" sz="4800" b="0" i="0" u="none" strike="noStrike" kern="1200" cap="none" spc="0" normalizeH="0" baseline="0" noProof="0" dirty="0">
              <a:ln>
                <a:noFill/>
              </a:ln>
              <a:solidFill>
                <a:prstClr val="white"/>
              </a:solidFill>
              <a:effectLst/>
              <a:uLnTx/>
              <a:uFillTx/>
              <a:latin typeface="Croc" panose="020B0502020203020203" pitchFamily="34" charset="0"/>
              <a:ea typeface="+mn-ea"/>
              <a:cs typeface="+mn-cs"/>
            </a:endParaRPr>
          </a:p>
          <a:p>
            <a:pPr marL="0" marR="0" lvl="0" indent="0" algn="l" defTabSz="914400" rtl="0" eaLnBrk="1" fontAlgn="auto" latinLnBrk="0" hangingPunct="1">
              <a:lnSpc>
                <a:spcPct val="90000"/>
              </a:lnSpc>
              <a:spcBef>
                <a:spcPts val="0"/>
              </a:spcBef>
              <a:spcAft>
                <a:spcPts val="0"/>
              </a:spcAft>
              <a:buClrTx/>
              <a:buSzTx/>
              <a:buFontTx/>
              <a:buNone/>
              <a:tabLst/>
              <a:defRPr/>
            </a:pPr>
            <a:endParaRPr kumimoji="0" lang="ru-RU" sz="4800" b="0" i="0" u="none" strike="noStrike" kern="1200" cap="none" spc="0" normalizeH="0" baseline="0" noProof="0" dirty="0">
              <a:ln>
                <a:noFill/>
              </a:ln>
              <a:solidFill>
                <a:prstClr val="white"/>
              </a:solidFill>
              <a:effectLst/>
              <a:uLnTx/>
              <a:uFillTx/>
              <a:latin typeface="Croc" panose="020B0502020203020203" pitchFamily="34" charset="0"/>
              <a:ea typeface="+mn-ea"/>
              <a:cs typeface="+mn-cs"/>
            </a:endParaRPr>
          </a:p>
        </p:txBody>
      </p:sp>
      <p:pic>
        <p:nvPicPr>
          <p:cNvPr id="4"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1969" y="6291563"/>
            <a:ext cx="1231941" cy="481826"/>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p:cNvSpPr txBox="1"/>
          <p:nvPr/>
        </p:nvSpPr>
        <p:spPr>
          <a:xfrm>
            <a:off x="502920" y="1691640"/>
            <a:ext cx="6309360" cy="3931920"/>
          </a:xfrm>
          <a:prstGeom prst="rect">
            <a:avLst/>
          </a:prstGeom>
          <a:noFill/>
        </p:spPr>
        <p:txBody>
          <a:bodyPr wrap="square" lIns="45720" rIns="45720" anchor="t">
            <a:noAutofit/>
          </a:bodyPr>
          <a:lstStyle/>
          <a:p>
            <a:pPr algn="l">
              <a:spcAft>
                <a:spcPts val="1000"/>
              </a:spcAft>
            </a:pPr>
            <a:r>
              <a:rPr sz="1800" b="1" i="0" dirty="0" err="1">
                <a:solidFill>
                  <a:srgbClr val="FFFFFF"/>
                </a:solidFill>
                <a:latin typeface="Croc"/>
              </a:rPr>
              <a:t>Pandula</a:t>
            </a:r>
            <a:r>
              <a:rPr sz="1800" b="1" i="0" dirty="0">
                <a:solidFill>
                  <a:srgbClr val="FFFFFF"/>
                </a:solidFill>
                <a:latin typeface="Croc"/>
              </a:rPr>
              <a:t> — </a:t>
            </a:r>
            <a:r>
              <a:rPr sz="1800" b="0" i="0" dirty="0">
                <a:solidFill>
                  <a:srgbClr val="F0E9FC"/>
                </a:solidFill>
                <a:latin typeface="Croc"/>
              </a:rPr>
              <a:t>Pandas + </a:t>
            </a:r>
            <a:r>
              <a:rPr sz="1800" b="0" i="0" dirty="0" err="1">
                <a:solidFill>
                  <a:srgbClr val="F0E9FC"/>
                </a:solidFill>
                <a:latin typeface="Croc"/>
              </a:rPr>
              <a:t>Дракула</a:t>
            </a:r>
            <a:r>
              <a:rPr sz="1800" b="0" i="0" dirty="0">
                <a:solidFill>
                  <a:srgbClr val="F0E9FC"/>
                </a:solidFill>
                <a:latin typeface="Croc"/>
              </a:rPr>
              <a:t>. </a:t>
            </a:r>
            <a:r>
              <a:rPr sz="1800" b="0" i="0" dirty="0" err="1">
                <a:solidFill>
                  <a:srgbClr val="F0E9FC"/>
                </a:solidFill>
                <a:latin typeface="Croc"/>
              </a:rPr>
              <a:t>Такой</a:t>
            </a:r>
            <a:r>
              <a:rPr sz="1800" b="0" i="0" dirty="0">
                <a:solidFill>
                  <a:srgbClr val="F0E9FC"/>
                </a:solidFill>
                <a:latin typeface="Croc"/>
              </a:rPr>
              <a:t> </a:t>
            </a:r>
            <a:r>
              <a:rPr sz="1800" b="0" i="0" dirty="0" err="1">
                <a:solidFill>
                  <a:srgbClr val="F0E9FC"/>
                </a:solidFill>
                <a:latin typeface="Croc"/>
              </a:rPr>
              <a:t>библиотеки</a:t>
            </a:r>
            <a:r>
              <a:rPr sz="1800" b="0" i="0" dirty="0">
                <a:solidFill>
                  <a:srgbClr val="F0E9FC"/>
                </a:solidFill>
                <a:latin typeface="Croc"/>
              </a:rPr>
              <a:t> </a:t>
            </a:r>
            <a:r>
              <a:rPr sz="1800" b="0" i="0" dirty="0" err="1">
                <a:solidFill>
                  <a:srgbClr val="F0E9FC"/>
                </a:solidFill>
                <a:latin typeface="Croc"/>
              </a:rPr>
              <a:t>нет</a:t>
            </a:r>
            <a:endParaRPr sz="1800" b="0" i="0" dirty="0">
              <a:solidFill>
                <a:srgbClr val="F0E9FC"/>
              </a:solidFill>
              <a:latin typeface="Croc"/>
            </a:endParaRPr>
          </a:p>
          <a:p>
            <a:pPr algn="l">
              <a:spcAft>
                <a:spcPts val="1000"/>
              </a:spcAft>
            </a:pPr>
            <a:r>
              <a:rPr sz="1800" b="1" i="0" dirty="0" err="1">
                <a:solidFill>
                  <a:srgbClr val="FFFFFF"/>
                </a:solidFill>
                <a:latin typeface="Croc"/>
              </a:rPr>
              <a:t>Регрессия</a:t>
            </a:r>
            <a:r>
              <a:rPr sz="1800" b="1" i="0" dirty="0">
                <a:solidFill>
                  <a:srgbClr val="FFFFFF"/>
                </a:solidFill>
                <a:latin typeface="Croc"/>
              </a:rPr>
              <a:t> </a:t>
            </a:r>
            <a:r>
              <a:rPr sz="1800" b="1" i="0" dirty="0" err="1">
                <a:solidFill>
                  <a:srgbClr val="FFFFFF"/>
                </a:solidFill>
                <a:latin typeface="Croc"/>
              </a:rPr>
              <a:t>Лобачевского</a:t>
            </a:r>
            <a:r>
              <a:rPr sz="1800" b="1" i="0" dirty="0">
                <a:solidFill>
                  <a:srgbClr val="FFFFFF"/>
                </a:solidFill>
                <a:latin typeface="Croc"/>
              </a:rPr>
              <a:t> — </a:t>
            </a:r>
            <a:r>
              <a:rPr sz="1800" b="0" i="0" dirty="0" err="1">
                <a:solidFill>
                  <a:srgbClr val="F0E9FC"/>
                </a:solidFill>
                <a:latin typeface="Croc"/>
              </a:rPr>
              <a:t>метода</a:t>
            </a:r>
            <a:r>
              <a:rPr sz="1800" b="0" i="0" dirty="0">
                <a:solidFill>
                  <a:srgbClr val="F0E9FC"/>
                </a:solidFill>
                <a:latin typeface="Croc"/>
              </a:rPr>
              <a:t> </a:t>
            </a:r>
            <a:r>
              <a:rPr sz="1800" b="0" i="0" dirty="0" err="1">
                <a:solidFill>
                  <a:srgbClr val="F0E9FC"/>
                </a:solidFill>
                <a:latin typeface="Croc"/>
              </a:rPr>
              <a:t>нет</a:t>
            </a:r>
            <a:r>
              <a:rPr sz="1800" b="0" i="0" dirty="0">
                <a:solidFill>
                  <a:srgbClr val="F0E9FC"/>
                </a:solidFill>
                <a:latin typeface="Croc"/>
              </a:rPr>
              <a:t> (а </a:t>
            </a:r>
            <a:r>
              <a:rPr sz="1800" b="0" i="0" dirty="0" err="1">
                <a:solidFill>
                  <a:srgbClr val="F0E9FC"/>
                </a:solidFill>
                <a:latin typeface="Croc"/>
              </a:rPr>
              <a:t>вот</a:t>
            </a:r>
            <a:r>
              <a:rPr sz="1800" b="0" i="0" dirty="0">
                <a:solidFill>
                  <a:srgbClr val="F0E9FC"/>
                </a:solidFill>
                <a:latin typeface="Croc"/>
              </a:rPr>
              <a:t> </a:t>
            </a:r>
            <a:r>
              <a:rPr sz="1800" b="0" i="0" dirty="0" err="1">
                <a:solidFill>
                  <a:srgbClr val="F0E9FC"/>
                </a:solidFill>
                <a:latin typeface="Croc"/>
              </a:rPr>
              <a:t>сплайны</a:t>
            </a:r>
            <a:r>
              <a:rPr sz="1800" b="0" i="0" dirty="0">
                <a:solidFill>
                  <a:srgbClr val="F0E9FC"/>
                </a:solidFill>
                <a:latin typeface="Croc"/>
              </a:rPr>
              <a:t> </a:t>
            </a:r>
            <a:r>
              <a:rPr sz="1800" b="0" i="0" dirty="0" err="1">
                <a:solidFill>
                  <a:srgbClr val="F0E9FC"/>
                </a:solidFill>
                <a:latin typeface="Croc"/>
              </a:rPr>
              <a:t>Лобачевского</a:t>
            </a:r>
            <a:r>
              <a:rPr sz="1800" b="0" i="0" dirty="0">
                <a:solidFill>
                  <a:srgbClr val="F0E9FC"/>
                </a:solidFill>
                <a:latin typeface="Croc"/>
              </a:rPr>
              <a:t> — </a:t>
            </a:r>
            <a:r>
              <a:rPr sz="1800" b="0" i="0" dirty="0" err="1">
                <a:solidFill>
                  <a:srgbClr val="F0E9FC"/>
                </a:solidFill>
                <a:latin typeface="Croc"/>
              </a:rPr>
              <a:t>есть</a:t>
            </a:r>
            <a:r>
              <a:rPr sz="1800" b="0" i="0" dirty="0">
                <a:solidFill>
                  <a:srgbClr val="F0E9FC"/>
                </a:solidFill>
                <a:latin typeface="Croc"/>
              </a:rPr>
              <a:t>!)</a:t>
            </a:r>
          </a:p>
          <a:p>
            <a:pPr algn="l">
              <a:spcAft>
                <a:spcPts val="1000"/>
              </a:spcAft>
            </a:pPr>
            <a:r>
              <a:rPr sz="1800" b="1" i="0" dirty="0" err="1">
                <a:solidFill>
                  <a:srgbClr val="FFFFFF"/>
                </a:solidFill>
                <a:latin typeface="Croc"/>
              </a:rPr>
              <a:t>Критерий</a:t>
            </a:r>
            <a:r>
              <a:rPr sz="1800" b="1" i="0" dirty="0">
                <a:solidFill>
                  <a:srgbClr val="FFFFFF"/>
                </a:solidFill>
                <a:latin typeface="Croc"/>
              </a:rPr>
              <a:t> </a:t>
            </a:r>
            <a:r>
              <a:rPr sz="1800" b="1" i="0" dirty="0" err="1">
                <a:solidFill>
                  <a:srgbClr val="FFFFFF"/>
                </a:solidFill>
                <a:latin typeface="Croc"/>
              </a:rPr>
              <a:t>Штольца</a:t>
            </a:r>
            <a:r>
              <a:rPr sz="1800" b="1" i="0" dirty="0">
                <a:solidFill>
                  <a:srgbClr val="FFFFFF"/>
                </a:solidFill>
                <a:latin typeface="Croc"/>
              </a:rPr>
              <a:t>–</a:t>
            </a:r>
            <a:r>
              <a:rPr sz="1800" b="1" i="0" dirty="0" err="1">
                <a:solidFill>
                  <a:srgbClr val="FFFFFF"/>
                </a:solidFill>
                <a:latin typeface="Croc"/>
              </a:rPr>
              <a:t>Мэрфи</a:t>
            </a:r>
            <a:r>
              <a:rPr sz="1800" b="1" i="0" dirty="0">
                <a:solidFill>
                  <a:srgbClr val="FFFFFF"/>
                </a:solidFill>
                <a:latin typeface="Croc"/>
              </a:rPr>
              <a:t> — </a:t>
            </a:r>
            <a:r>
              <a:rPr sz="1800" b="0" i="0" dirty="0" err="1">
                <a:solidFill>
                  <a:srgbClr val="F0E9FC"/>
                </a:solidFill>
                <a:latin typeface="Croc"/>
              </a:rPr>
              <a:t>склеен</a:t>
            </a:r>
            <a:r>
              <a:rPr sz="1800" b="0" i="0" dirty="0">
                <a:solidFill>
                  <a:srgbClr val="F0E9FC"/>
                </a:solidFill>
                <a:latin typeface="Croc"/>
              </a:rPr>
              <a:t> </a:t>
            </a:r>
            <a:r>
              <a:rPr sz="1800" b="0" i="0" dirty="0" err="1">
                <a:solidFill>
                  <a:srgbClr val="F0E9FC"/>
                </a:solidFill>
                <a:latin typeface="Croc"/>
              </a:rPr>
              <a:t>из</a:t>
            </a:r>
            <a:r>
              <a:rPr sz="1800" b="0" i="0" dirty="0">
                <a:solidFill>
                  <a:srgbClr val="F0E9FC"/>
                </a:solidFill>
                <a:latin typeface="Croc"/>
              </a:rPr>
              <a:t> </a:t>
            </a:r>
            <a:r>
              <a:rPr sz="1800" b="0" i="0" dirty="0" err="1">
                <a:solidFill>
                  <a:srgbClr val="F0E9FC"/>
                </a:solidFill>
                <a:latin typeface="Croc"/>
              </a:rPr>
              <a:t>двух</a:t>
            </a:r>
            <a:r>
              <a:rPr sz="1800" b="0" i="0" dirty="0">
                <a:solidFill>
                  <a:srgbClr val="F0E9FC"/>
                </a:solidFill>
                <a:latin typeface="Croc"/>
              </a:rPr>
              <a:t> </a:t>
            </a:r>
            <a:r>
              <a:rPr sz="1800" b="0" i="0" dirty="0" err="1">
                <a:solidFill>
                  <a:srgbClr val="F0E9FC"/>
                </a:solidFill>
                <a:latin typeface="Croc"/>
              </a:rPr>
              <a:t>настоящих</a:t>
            </a:r>
            <a:r>
              <a:rPr sz="1800" b="0" i="0" dirty="0">
                <a:solidFill>
                  <a:srgbClr val="F0E9FC"/>
                </a:solidFill>
                <a:latin typeface="Croc"/>
              </a:rPr>
              <a:t> </a:t>
            </a:r>
            <a:r>
              <a:rPr sz="1800" b="0" i="0" dirty="0" err="1">
                <a:solidFill>
                  <a:srgbClr val="F0E9FC"/>
                </a:solidFill>
                <a:latin typeface="Croc"/>
              </a:rPr>
              <a:t>фамилий</a:t>
            </a:r>
            <a:endParaRPr sz="1800" b="0" i="0" dirty="0">
              <a:solidFill>
                <a:srgbClr val="F0E9FC"/>
              </a:solidFill>
              <a:latin typeface="Croc"/>
            </a:endParaRPr>
          </a:p>
          <a:p>
            <a:pPr algn="l">
              <a:spcAft>
                <a:spcPts val="1000"/>
              </a:spcAft>
            </a:pPr>
            <a:r>
              <a:rPr sz="1800" b="1" i="0" dirty="0" err="1">
                <a:solidFill>
                  <a:srgbClr val="FFFFFF"/>
                </a:solidFill>
                <a:latin typeface="Croc"/>
              </a:rPr>
              <a:t>Ферротензия</a:t>
            </a:r>
            <a:r>
              <a:rPr sz="1800" b="1" i="0" dirty="0">
                <a:solidFill>
                  <a:srgbClr val="FFFFFF"/>
                </a:solidFill>
                <a:latin typeface="Croc"/>
              </a:rPr>
              <a:t> — </a:t>
            </a:r>
            <a:r>
              <a:rPr sz="1800" b="0" i="0" dirty="0" err="1">
                <a:solidFill>
                  <a:srgbClr val="F0E9FC"/>
                </a:solidFill>
                <a:latin typeface="Croc"/>
              </a:rPr>
              <a:t>металлургия</a:t>
            </a:r>
            <a:r>
              <a:rPr sz="1800" b="0" i="0" dirty="0">
                <a:solidFill>
                  <a:srgbClr val="F0E9FC"/>
                </a:solidFill>
                <a:latin typeface="Croc"/>
              </a:rPr>
              <a:t> </a:t>
            </a:r>
            <a:r>
              <a:rPr sz="1800" b="0" i="0" dirty="0" err="1">
                <a:solidFill>
                  <a:srgbClr val="F0E9FC"/>
                </a:solidFill>
                <a:latin typeface="Croc"/>
              </a:rPr>
              <a:t>такого</a:t>
            </a:r>
            <a:r>
              <a:rPr sz="1800" b="0" i="0" dirty="0">
                <a:solidFill>
                  <a:srgbClr val="F0E9FC"/>
                </a:solidFill>
                <a:latin typeface="Croc"/>
              </a:rPr>
              <a:t> </a:t>
            </a:r>
            <a:r>
              <a:rPr sz="1800" b="0" i="0" dirty="0" err="1">
                <a:solidFill>
                  <a:srgbClr val="F0E9FC"/>
                </a:solidFill>
                <a:latin typeface="Croc"/>
              </a:rPr>
              <a:t>не</a:t>
            </a:r>
            <a:r>
              <a:rPr sz="1800" b="0" i="0" dirty="0">
                <a:solidFill>
                  <a:srgbClr val="F0E9FC"/>
                </a:solidFill>
                <a:latin typeface="Croc"/>
              </a:rPr>
              <a:t> </a:t>
            </a:r>
            <a:r>
              <a:rPr sz="1800" b="0" i="0" dirty="0" err="1">
                <a:solidFill>
                  <a:srgbClr val="F0E9FC"/>
                </a:solidFill>
                <a:latin typeface="Croc"/>
              </a:rPr>
              <a:t>знает</a:t>
            </a:r>
            <a:endParaRPr sz="1800" b="0" i="0" dirty="0">
              <a:solidFill>
                <a:srgbClr val="F0E9FC"/>
              </a:solidFill>
              <a:latin typeface="Croc"/>
            </a:endParaRPr>
          </a:p>
          <a:p>
            <a:pPr algn="l">
              <a:spcAft>
                <a:spcPts val="1000"/>
              </a:spcAft>
            </a:pPr>
            <a:r>
              <a:rPr sz="1800" b="1" i="0" dirty="0" err="1">
                <a:solidFill>
                  <a:srgbClr val="FFFFFF"/>
                </a:solidFill>
                <a:latin typeface="Croc"/>
              </a:rPr>
              <a:t>Флукурзистенция</a:t>
            </a:r>
            <a:r>
              <a:rPr sz="1800" b="1" i="0" dirty="0">
                <a:solidFill>
                  <a:srgbClr val="FFFFFF"/>
                </a:solidFill>
                <a:latin typeface="Croc"/>
              </a:rPr>
              <a:t> — </a:t>
            </a:r>
            <a:r>
              <a:rPr sz="1800" b="0" i="0" dirty="0" err="1">
                <a:solidFill>
                  <a:srgbClr val="F0E9FC"/>
                </a:solidFill>
                <a:latin typeface="Croc"/>
              </a:rPr>
              <a:t>просто</a:t>
            </a:r>
            <a:r>
              <a:rPr sz="1800" b="0" i="0" dirty="0">
                <a:solidFill>
                  <a:srgbClr val="F0E9FC"/>
                </a:solidFill>
                <a:latin typeface="Croc"/>
              </a:rPr>
              <a:t> </a:t>
            </a:r>
            <a:r>
              <a:rPr sz="1800" b="0" i="0" dirty="0" err="1">
                <a:solidFill>
                  <a:srgbClr val="F0E9FC"/>
                </a:solidFill>
                <a:latin typeface="Croc"/>
              </a:rPr>
              <a:t>набор</a:t>
            </a:r>
            <a:r>
              <a:rPr sz="1800" b="0" i="0" dirty="0">
                <a:solidFill>
                  <a:srgbClr val="F0E9FC"/>
                </a:solidFill>
                <a:latin typeface="Croc"/>
              </a:rPr>
              <a:t> </a:t>
            </a:r>
            <a:r>
              <a:rPr sz="1800" b="0" i="0" dirty="0" err="1">
                <a:solidFill>
                  <a:srgbClr val="F0E9FC"/>
                </a:solidFill>
                <a:latin typeface="Croc"/>
              </a:rPr>
              <a:t>звуков</a:t>
            </a:r>
            <a:endParaRPr sz="1800" b="0" i="0" dirty="0">
              <a:solidFill>
                <a:srgbClr val="F0E9FC"/>
              </a:solidFill>
              <a:latin typeface="Croc"/>
            </a:endParaRPr>
          </a:p>
          <a:p>
            <a:pPr algn="l">
              <a:spcAft>
                <a:spcPts val="1000"/>
              </a:spcAft>
            </a:pPr>
            <a:r>
              <a:rPr sz="1800" b="1" i="0" dirty="0" err="1">
                <a:solidFill>
                  <a:srgbClr val="FFFFFF"/>
                </a:solidFill>
                <a:latin typeface="Croc"/>
              </a:rPr>
              <a:t>Токен-ферментация</a:t>
            </a:r>
            <a:r>
              <a:rPr sz="1800" b="1" i="0" dirty="0">
                <a:solidFill>
                  <a:srgbClr val="FFFFFF"/>
                </a:solidFill>
                <a:latin typeface="Croc"/>
              </a:rPr>
              <a:t> — </a:t>
            </a:r>
            <a:r>
              <a:rPr sz="1800" b="0" i="0" dirty="0">
                <a:solidFill>
                  <a:srgbClr val="F0E9FC"/>
                </a:solidFill>
                <a:latin typeface="Croc"/>
              </a:rPr>
              <a:t>LLM-</a:t>
            </a:r>
            <a:r>
              <a:rPr sz="1800" b="0" i="0" dirty="0" err="1">
                <a:solidFill>
                  <a:srgbClr val="F0E9FC"/>
                </a:solidFill>
                <a:latin typeface="Croc"/>
              </a:rPr>
              <a:t>жаргон</a:t>
            </a:r>
            <a:r>
              <a:rPr sz="1800" b="0" i="0" dirty="0">
                <a:solidFill>
                  <a:srgbClr val="F0E9FC"/>
                </a:solidFill>
                <a:latin typeface="Croc"/>
              </a:rPr>
              <a:t>, </a:t>
            </a:r>
            <a:r>
              <a:rPr sz="1800" b="0" i="0" dirty="0" err="1">
                <a:solidFill>
                  <a:srgbClr val="F0E9FC"/>
                </a:solidFill>
                <a:latin typeface="Croc"/>
              </a:rPr>
              <a:t>которого</a:t>
            </a:r>
            <a:r>
              <a:rPr sz="1800" b="0" i="0" dirty="0">
                <a:solidFill>
                  <a:srgbClr val="F0E9FC"/>
                </a:solidFill>
                <a:latin typeface="Croc"/>
              </a:rPr>
              <a:t> </a:t>
            </a:r>
            <a:r>
              <a:rPr sz="1800" b="0" i="0" dirty="0" err="1">
                <a:solidFill>
                  <a:srgbClr val="F0E9FC"/>
                </a:solidFill>
                <a:latin typeface="Croc"/>
              </a:rPr>
              <a:t>не</a:t>
            </a:r>
            <a:r>
              <a:rPr sz="1800" b="0" i="0" dirty="0">
                <a:solidFill>
                  <a:srgbClr val="F0E9FC"/>
                </a:solidFill>
                <a:latin typeface="Croc"/>
              </a:rPr>
              <a:t> </a:t>
            </a:r>
            <a:r>
              <a:rPr sz="1800" b="0" i="0" dirty="0" err="1">
                <a:solidFill>
                  <a:srgbClr val="F0E9FC"/>
                </a:solidFill>
                <a:latin typeface="Croc"/>
              </a:rPr>
              <a:t>существует</a:t>
            </a:r>
            <a:endParaRPr sz="1800" b="0" i="0" dirty="0">
              <a:solidFill>
                <a:srgbClr val="F0E9FC"/>
              </a:solidFill>
              <a:latin typeface="Croc"/>
            </a:endParaRPr>
          </a:p>
        </p:txBody>
      </p:sp>
      <p:sp>
        <p:nvSpPr>
          <p:cNvPr id="21" name="TextBox 20"/>
          <p:cNvSpPr txBox="1"/>
          <p:nvPr/>
        </p:nvSpPr>
        <p:spPr>
          <a:xfrm>
            <a:off x="1600200" y="5715000"/>
            <a:ext cx="10058400" cy="548640"/>
          </a:xfrm>
          <a:prstGeom prst="rect">
            <a:avLst/>
          </a:prstGeom>
          <a:noFill/>
        </p:spPr>
        <p:txBody>
          <a:bodyPr wrap="square" lIns="45720" rIns="45720" anchor="t">
            <a:noAutofit/>
          </a:bodyPr>
          <a:lstStyle/>
          <a:p>
            <a:pPr algn="l"/>
            <a:r>
              <a:rPr sz="1400" b="0" i="1">
                <a:solidFill>
                  <a:srgbClr val="F2F2F2"/>
                </a:solidFill>
                <a:latin typeface="Croc"/>
              </a:rPr>
              <a:t>Если слово звучит умно — это ещё не значит, что оно существует. Через полгода то же самое вам будет уверенно рассказывать нейросеть.</a:t>
            </a:r>
          </a:p>
        </p:txBody>
      </p:sp>
      <p:pic>
        <p:nvPicPr>
          <p:cNvPr id="22" name="Мем s09_03_confidence_interval" descr="s09_03_confidence_interval.png"/>
          <p:cNvPicPr>
            <a:picLocks noChangeAspect="1"/>
          </p:cNvPicPr>
          <p:nvPr/>
        </p:nvPicPr>
        <p:blipFill>
          <a:blip r:embed="rId5"/>
          <a:stretch>
            <a:fillRect/>
          </a:stretch>
        </p:blipFill>
        <p:spPr>
          <a:xfrm>
            <a:off x="7288560" y="1600200"/>
            <a:ext cx="4259519" cy="3977639"/>
          </a:xfrm>
          <a:prstGeom prst="rect">
            <a:avLst/>
          </a:prstGeom>
        </p:spPr>
      </p:pic>
    </p:spTree>
    <p:extLst>
      <p:ext uri="{BB962C8B-B14F-4D97-AF65-F5344CB8AC3E}">
        <p14:creationId xmlns:p14="http://schemas.microsoft.com/office/powerpoint/2010/main" val="19947925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42425"/>
        </a:solidFill>
        <a:effectLst/>
      </p:bgPr>
    </p:bg>
    <p:spTree>
      <p:nvGrpSpPr>
        <p:cNvPr id="1" name=""/>
        <p:cNvGrpSpPr/>
        <p:nvPr/>
      </p:nvGrpSpPr>
      <p:grpSpPr>
        <a:xfrm>
          <a:off x="0" y="0"/>
          <a:ext cx="0" cy="0"/>
          <a:chOff x="0" y="0"/>
          <a:chExt cx="0" cy="0"/>
        </a:xfrm>
      </p:grpSpPr>
      <p:pic>
        <p:nvPicPr>
          <p:cNvPr id="16" name="Рисунок 15"/>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24225" y="-2541908"/>
            <a:ext cx="5483077" cy="5400000"/>
          </a:xfrm>
          <a:prstGeom prst="rect">
            <a:avLst/>
          </a:prstGeom>
        </p:spPr>
      </p:pic>
      <p:sp>
        <p:nvSpPr>
          <p:cNvPr id="19" name="TextBox 18"/>
          <p:cNvSpPr txBox="1"/>
          <p:nvPr/>
        </p:nvSpPr>
        <p:spPr>
          <a:xfrm>
            <a:off x="596019" y="4137849"/>
            <a:ext cx="8499475" cy="1421928"/>
          </a:xfrm>
          <a:prstGeom prst="rect">
            <a:avLst/>
          </a:prstGeom>
          <a:noFill/>
        </p:spPr>
        <p:txBody>
          <a:bodyPr wrap="square" lIns="0" rtlCol="0">
            <a:spAutoFit/>
          </a:bodyPr>
          <a:lstStyle/>
          <a:p>
            <a:pPr>
              <a:lnSpc>
                <a:spcPct val="90000"/>
              </a:lnSpc>
            </a:pPr>
            <a:r>
              <a:rPr lang="en-US" sz="4800" dirty="0">
                <a:solidFill>
                  <a:schemeClr val="bg1"/>
                </a:solidFill>
                <a:latin typeface="Croc" panose="020B0502020203020203" pitchFamily="34" charset="0"/>
              </a:rPr>
              <a:t>PART </a:t>
            </a:r>
            <a:r>
              <a:rPr lang="ru-RU" sz="4800" dirty="0">
                <a:solidFill>
                  <a:schemeClr val="bg1"/>
                </a:solidFill>
                <a:latin typeface="Croc" panose="020B0502020203020203" pitchFamily="34" charset="0"/>
              </a:rPr>
              <a:t>2</a:t>
            </a:r>
            <a:r>
              <a:rPr lang="en-US" sz="4800" dirty="0">
                <a:solidFill>
                  <a:schemeClr val="bg1"/>
                </a:solidFill>
                <a:latin typeface="Croc" panose="020B0502020203020203" pitchFamily="34" charset="0"/>
              </a:rPr>
              <a:t> </a:t>
            </a:r>
          </a:p>
          <a:p>
            <a:pPr>
              <a:lnSpc>
                <a:spcPct val="90000"/>
              </a:lnSpc>
            </a:pPr>
            <a:r>
              <a:rPr lang="ru-RU" sz="4800" dirty="0">
                <a:solidFill>
                  <a:schemeClr val="bg1"/>
                </a:solidFill>
                <a:latin typeface="Croc" panose="020B0502020203020203" pitchFamily="34" charset="0"/>
                <a:sym typeface="Arial" panose="020B0604020202020204"/>
              </a:rPr>
              <a:t>Аналитика Данных</a:t>
            </a:r>
            <a:endParaRPr lang="ru-RU" sz="4800" dirty="0">
              <a:solidFill>
                <a:schemeClr val="bg1"/>
              </a:solidFill>
              <a:latin typeface="Croc" panose="020B0502020203020203" pitchFamily="34" charset="0"/>
            </a:endParaRPr>
          </a:p>
        </p:txBody>
      </p:sp>
      <p:pic>
        <p:nvPicPr>
          <p:cNvPr id="20" name="Мем s05_01_excel_diagramma" descr="s05_01_excel_diagramma.png"/>
          <p:cNvPicPr>
            <a:picLocks noChangeAspect="1"/>
          </p:cNvPicPr>
          <p:nvPr/>
        </p:nvPicPr>
        <p:blipFill>
          <a:blip r:embed="rId5"/>
          <a:stretch>
            <a:fillRect/>
          </a:stretch>
        </p:blipFill>
        <p:spPr>
          <a:xfrm>
            <a:off x="6203052" y="963577"/>
            <a:ext cx="5483077" cy="471578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42425"/>
        </a:solidFill>
        <a:effectLst/>
      </p:bgPr>
    </p:bg>
    <p:spTree>
      <p:nvGrpSpPr>
        <p:cNvPr id="1" name=""/>
        <p:cNvGrpSpPr/>
        <p:nvPr/>
      </p:nvGrpSpPr>
      <p:grpSpPr>
        <a:xfrm>
          <a:off x="0" y="0"/>
          <a:ext cx="0" cy="0"/>
          <a:chOff x="0" y="0"/>
          <a:chExt cx="0" cy="0"/>
        </a:xfrm>
      </p:grpSpPr>
      <p:pic>
        <p:nvPicPr>
          <p:cNvPr id="4098" name="Picture 2" descr="Full view">
            <a:extLst>
              <a:ext uri="{FF2B5EF4-FFF2-40B4-BE49-F238E27FC236}">
                <a16:creationId xmlns:a16="http://schemas.microsoft.com/office/drawing/2014/main" id="{BEE53FB3-EF2E-4DDB-930A-646B8DEEA4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1857375"/>
            <a:ext cx="6477000" cy="5000625"/>
          </a:xfrm>
          <a:prstGeom prst="rect">
            <a:avLst/>
          </a:prstGeom>
          <a:noFill/>
          <a:extLst>
            <a:ext uri="{909E8E84-426E-40DD-AFC4-6F175D3DCCD1}">
              <a14:hiddenFill xmlns:a14="http://schemas.microsoft.com/office/drawing/2010/main">
                <a:solidFill>
                  <a:srgbClr val="FFFFFF"/>
                </a:solidFill>
              </a14:hiddenFill>
            </a:ext>
          </a:extLst>
        </p:spPr>
      </p:pic>
      <p:pic>
        <p:nvPicPr>
          <p:cNvPr id="97" name="Рисунок 96"/>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8771" y="5567778"/>
            <a:ext cx="3943107" cy="3883363"/>
          </a:xfrm>
          <a:prstGeom prst="rect">
            <a:avLst/>
          </a:prstGeom>
        </p:spPr>
      </p:pic>
      <p:sp>
        <p:nvSpPr>
          <p:cNvPr id="3" name="Заголовок 2"/>
          <p:cNvSpPr>
            <a:spLocks noGrp="1"/>
          </p:cNvSpPr>
          <p:nvPr>
            <p:ph type="title"/>
          </p:nvPr>
        </p:nvSpPr>
        <p:spPr>
          <a:xfrm>
            <a:off x="586001" y="474130"/>
            <a:ext cx="10566837" cy="498598"/>
          </a:xfrm>
        </p:spPr>
        <p:txBody>
          <a:bodyPr/>
          <a:lstStyle/>
          <a:p>
            <a:r>
              <a:rPr lang="ru-RU" b="0" dirty="0">
                <a:solidFill>
                  <a:schemeClr val="bg1"/>
                </a:solidFill>
              </a:rPr>
              <a:t>Чем занимаются аналитики данных?</a:t>
            </a:r>
          </a:p>
        </p:txBody>
      </p:sp>
      <p:sp>
        <p:nvSpPr>
          <p:cNvPr id="4" name="TextBox 3"/>
          <p:cNvSpPr txBox="1"/>
          <p:nvPr/>
        </p:nvSpPr>
        <p:spPr>
          <a:xfrm>
            <a:off x="10751893" y="6409366"/>
            <a:ext cx="868101" cy="246221"/>
          </a:xfrm>
          <a:prstGeom prst="rect">
            <a:avLst/>
          </a:prstGeom>
          <a:noFill/>
        </p:spPr>
        <p:txBody>
          <a:bodyPr wrap="square" rIns="0" rtlCol="0" anchor="b">
            <a:spAutoFit/>
          </a:bodyPr>
          <a:lstStyle/>
          <a:p>
            <a:pPr algn="r"/>
            <a:r>
              <a:rPr lang="en-US" sz="1000" dirty="0">
                <a:solidFill>
                  <a:schemeClr val="bg1"/>
                </a:solidFill>
                <a:latin typeface="Croc" panose="020B0502020203020203" pitchFamily="34" charset="0"/>
              </a:rPr>
              <a:t>N</a:t>
            </a:r>
            <a:endParaRPr lang="ru-RU" sz="1000" dirty="0">
              <a:solidFill>
                <a:schemeClr val="bg1"/>
              </a:solidFill>
              <a:latin typeface="Croc" panose="020B0502020203020203" pitchFamily="34" charset="0"/>
            </a:endParaRPr>
          </a:p>
        </p:txBody>
      </p:sp>
      <p:sp>
        <p:nvSpPr>
          <p:cNvPr id="5" name="TextBox 4"/>
          <p:cNvSpPr txBox="1"/>
          <p:nvPr/>
        </p:nvSpPr>
        <p:spPr>
          <a:xfrm>
            <a:off x="586001" y="1028343"/>
            <a:ext cx="5128999" cy="4247317"/>
          </a:xfrm>
          <a:prstGeom prst="rect">
            <a:avLst/>
          </a:prstGeom>
          <a:noFill/>
        </p:spPr>
        <p:txBody>
          <a:bodyPr wrap="square" lIns="0" rtlCol="0">
            <a:spAutoFit/>
          </a:bodyPr>
          <a:lstStyle/>
          <a:p>
            <a:r>
              <a:rPr lang="ru-RU" dirty="0">
                <a:solidFill>
                  <a:schemeClr val="bg1"/>
                </a:solidFill>
                <a:latin typeface="Croc" panose="020B0502020203020203" pitchFamily="34" charset="0"/>
              </a:rPr>
              <a:t>Аналитик данных извлекает из данных смысл: структурирует их, формулирует и проверяет гипотезы, находит закономерности и делает выводы. Его работа помогает принимать решения в бизнесе, управлении и науке. </a:t>
            </a:r>
          </a:p>
          <a:p>
            <a:endParaRPr lang="ru-RU" dirty="0">
              <a:solidFill>
                <a:schemeClr val="bg1"/>
              </a:solidFill>
              <a:latin typeface="Croc" panose="020B0502020203020203" pitchFamily="34" charset="0"/>
            </a:endParaRPr>
          </a:p>
          <a:p>
            <a:r>
              <a:rPr lang="ru-RU" dirty="0">
                <a:solidFill>
                  <a:schemeClr val="bg1"/>
                </a:solidFill>
                <a:latin typeface="Croc" panose="020B0502020203020203" pitchFamily="34" charset="0"/>
              </a:rPr>
              <a:t>Аналитик данных — важный участник бизнеса, потому что обеспечивает уверенность в принятии решений. Создавать новый продукт очень дорого, а ошибка при внедрении новой функции может стоить компании репутации и прибыли. Дата-аналитики проводят А/B-тесты и строят модели, чтобы проверить, как пользователи или клиенты реагируют на нововведения, и оценить перспективы того или иного проекта.</a:t>
            </a:r>
          </a:p>
        </p:txBody>
      </p:sp>
      <p:sp>
        <p:nvSpPr>
          <p:cNvPr id="76" name="TextBox 75"/>
          <p:cNvSpPr txBox="1"/>
          <p:nvPr/>
        </p:nvSpPr>
        <p:spPr>
          <a:xfrm>
            <a:off x="6361205" y="1119694"/>
            <a:ext cx="5258789" cy="646331"/>
          </a:xfrm>
          <a:prstGeom prst="rect">
            <a:avLst/>
          </a:prstGeom>
          <a:noFill/>
        </p:spPr>
        <p:txBody>
          <a:bodyPr wrap="square" lIns="0" rtlCol="0">
            <a:spAutoFit/>
          </a:bodyPr>
          <a:lstStyle/>
          <a:p>
            <a:r>
              <a:rPr lang="ru-RU" b="1" dirty="0">
                <a:solidFill>
                  <a:schemeClr val="bg1"/>
                </a:solidFill>
                <a:latin typeface="Croc" panose="020B0502020203020203" pitchFamily="34" charset="0"/>
              </a:rPr>
              <a:t>Чтобы делать свою работу хорошо, аналитик должен понимать бизнес-процессы.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7"/>
          <p:cNvSpPr/>
          <p:nvPr/>
        </p:nvSpPr>
        <p:spPr>
          <a:xfrm>
            <a:off x="0" y="0"/>
            <a:ext cx="12192001" cy="6858000"/>
          </a:xfrm>
          <a:custGeom>
            <a:avLst/>
            <a:gdLst/>
            <a:ahLst/>
            <a:cxnLst/>
            <a:rect l="l" t="t" r="r" b="b"/>
            <a:pathLst>
              <a:path w="10059670" h="5655310" extrusionOk="0">
                <a:moveTo>
                  <a:pt x="0" y="5655289"/>
                </a:moveTo>
                <a:lnTo>
                  <a:pt x="10059346" y="5655289"/>
                </a:lnTo>
                <a:lnTo>
                  <a:pt x="10059346" y="0"/>
                </a:lnTo>
                <a:lnTo>
                  <a:pt x="0" y="0"/>
                </a:lnTo>
                <a:lnTo>
                  <a:pt x="0" y="5655289"/>
                </a:lnTo>
                <a:close/>
              </a:path>
            </a:pathLst>
          </a:custGeom>
          <a:solidFill>
            <a:srgbClr val="FD645A"/>
          </a:solidFill>
          <a:ln>
            <a:noFill/>
          </a:ln>
        </p:spPr>
        <p:txBody>
          <a:bodyPr spcFirstLastPara="1" wrap="square" lIns="0" tIns="0" rIns="0" bIns="0" anchor="t" anchorCtr="0">
            <a:noAutofit/>
          </a:bodyPr>
          <a:lstStyle/>
          <a:p>
            <a:pPr marL="0" marR="0" lvl="0" indent="0" algn="l" rtl="0">
              <a:spcBef>
                <a:spcPts val="0"/>
              </a:spcBef>
              <a:spcAft>
                <a:spcPts val="0"/>
              </a:spcAft>
              <a:buNone/>
            </a:pPr>
            <a:endParaRPr/>
          </a:p>
          <a:p>
            <a:pPr marL="0" marR="0" lvl="0" indent="0" algn="l" rtl="0">
              <a:spcBef>
                <a:spcPts val="0"/>
              </a:spcBef>
              <a:spcAft>
                <a:spcPts val="0"/>
              </a:spcAft>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152" name="Google Shape;152;p7"/>
          <p:cNvSpPr/>
          <p:nvPr/>
        </p:nvSpPr>
        <p:spPr>
          <a:xfrm>
            <a:off x="1" y="0"/>
            <a:ext cx="6701539" cy="6858000"/>
          </a:xfrm>
          <a:custGeom>
            <a:avLst/>
            <a:gdLst/>
            <a:ahLst/>
            <a:cxnLst/>
            <a:rect l="l" t="t" r="r" b="b"/>
            <a:pathLst>
              <a:path w="6701539" h="6858000" extrusionOk="0">
                <a:moveTo>
                  <a:pt x="0" y="0"/>
                </a:moveTo>
                <a:lnTo>
                  <a:pt x="6701539" y="0"/>
                </a:lnTo>
                <a:lnTo>
                  <a:pt x="5489823" y="6858000"/>
                </a:lnTo>
                <a:lnTo>
                  <a:pt x="0" y="6858000"/>
                </a:lnTo>
                <a:close/>
              </a:path>
            </a:pathLst>
          </a:custGeom>
          <a:solidFill>
            <a:srgbClr val="6F26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153" name="Google Shape;153;p7"/>
          <p:cNvSpPr txBox="1"/>
          <p:nvPr/>
        </p:nvSpPr>
        <p:spPr>
          <a:xfrm>
            <a:off x="291100" y="801226"/>
            <a:ext cx="11609799" cy="4519145"/>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r>
              <a:rPr lang="ru-RU" sz="19900" b="1" dirty="0">
                <a:solidFill>
                  <a:srgbClr val="171616"/>
                </a:solidFill>
                <a:latin typeface="Arial" panose="020B0604020202020204"/>
                <a:ea typeface="Arial" panose="020B0604020202020204"/>
                <a:cs typeface="Arial" panose="020B0604020202020204"/>
                <a:sym typeface="Arial" panose="020B0604020202020204"/>
              </a:rPr>
              <a:t>DA </a:t>
            </a:r>
            <a:r>
              <a:rPr lang="ru-RU" sz="19900" b="1" dirty="0" err="1">
                <a:solidFill>
                  <a:srgbClr val="171616"/>
                </a:solidFill>
                <a:latin typeface="Arial" panose="020B0604020202020204"/>
                <a:ea typeface="Arial" panose="020B0604020202020204"/>
                <a:cs typeface="Arial" panose="020B0604020202020204"/>
                <a:sym typeface="Arial" panose="020B0604020202020204"/>
              </a:rPr>
              <a:t>vs</a:t>
            </a:r>
            <a:r>
              <a:rPr lang="ru-RU" sz="19900" b="1" dirty="0">
                <a:solidFill>
                  <a:srgbClr val="171616"/>
                </a:solidFill>
                <a:latin typeface="Arial" panose="020B0604020202020204"/>
                <a:ea typeface="Arial" panose="020B0604020202020204"/>
                <a:cs typeface="Arial" panose="020B0604020202020204"/>
                <a:sym typeface="Arial" panose="020B0604020202020204"/>
              </a:rPr>
              <a:t> DS</a:t>
            </a:r>
          </a:p>
          <a:p>
            <a:pPr marL="0" marR="0" lvl="0" indent="0" algn="ctr" rtl="0">
              <a:spcBef>
                <a:spcPts val="1000"/>
              </a:spcBef>
              <a:spcAft>
                <a:spcPts val="1000"/>
              </a:spcAft>
              <a:buNone/>
            </a:pPr>
            <a:r>
              <a:rPr lang="ru-RU" sz="7200" dirty="0" err="1">
                <a:solidFill>
                  <a:srgbClr val="171616"/>
                </a:solidFill>
                <a:latin typeface="Arial" panose="020B0604020202020204"/>
                <a:ea typeface="Arial" panose="020B0604020202020204"/>
                <a:cs typeface="Arial" panose="020B0604020202020204"/>
                <a:sym typeface="Arial" panose="020B0604020202020204"/>
              </a:rPr>
              <a:t>Fight</a:t>
            </a:r>
            <a:r>
              <a:rPr lang="ru-RU" sz="7200" dirty="0">
                <a:solidFill>
                  <a:srgbClr val="171616"/>
                </a:solidFill>
                <a:latin typeface="Arial" panose="020B0604020202020204"/>
                <a:ea typeface="Arial" panose="020B0604020202020204"/>
                <a:cs typeface="Arial" panose="020B0604020202020204"/>
                <a:sym typeface="Arial" panose="020B0604020202020204"/>
              </a:rPr>
              <a:t>!</a:t>
            </a:r>
            <a:endParaRPr sz="123400" b="1" dirty="0">
              <a:solidFill>
                <a:srgbClr val="171616"/>
              </a:solidFill>
              <a:latin typeface="Arial" panose="020B0604020202020204"/>
              <a:ea typeface="Arial" panose="020B0604020202020204"/>
              <a:cs typeface="Arial" panose="020B0604020202020204"/>
              <a:sym typeface="Arial" panose="020B0604020202020204"/>
            </a:endParaRPr>
          </a:p>
        </p:txBody>
      </p:sp>
      <p:sp>
        <p:nvSpPr>
          <p:cNvPr id="155" name="Google Shape;155;p7"/>
          <p:cNvSpPr txBox="1"/>
          <p:nvPr/>
        </p:nvSpPr>
        <p:spPr>
          <a:xfrm>
            <a:off x="4658143" y="6266561"/>
            <a:ext cx="5258789" cy="523220"/>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endParaRPr sz="2800" b="1" i="1" u="sng">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8"/>
          <p:cNvSpPr/>
          <p:nvPr/>
        </p:nvSpPr>
        <p:spPr>
          <a:xfrm>
            <a:off x="0" y="0"/>
            <a:ext cx="12192001" cy="6858000"/>
          </a:xfrm>
          <a:custGeom>
            <a:avLst/>
            <a:gdLst/>
            <a:ahLst/>
            <a:cxnLst/>
            <a:rect l="l" t="t" r="r" b="b"/>
            <a:pathLst>
              <a:path w="10059670" h="5655310" extrusionOk="0">
                <a:moveTo>
                  <a:pt x="0" y="5655289"/>
                </a:moveTo>
                <a:lnTo>
                  <a:pt x="10059346" y="5655289"/>
                </a:lnTo>
                <a:lnTo>
                  <a:pt x="10059346" y="0"/>
                </a:lnTo>
                <a:lnTo>
                  <a:pt x="0" y="0"/>
                </a:lnTo>
                <a:lnTo>
                  <a:pt x="0" y="5655289"/>
                </a:lnTo>
                <a:close/>
              </a:path>
            </a:pathLst>
          </a:custGeom>
          <a:solidFill>
            <a:srgbClr val="FD645A"/>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162" name="Google Shape;162;p8"/>
          <p:cNvSpPr/>
          <p:nvPr/>
        </p:nvSpPr>
        <p:spPr>
          <a:xfrm>
            <a:off x="1" y="0"/>
            <a:ext cx="6701539" cy="6858000"/>
          </a:xfrm>
          <a:custGeom>
            <a:avLst/>
            <a:gdLst/>
            <a:ahLst/>
            <a:cxnLst/>
            <a:rect l="l" t="t" r="r" b="b"/>
            <a:pathLst>
              <a:path w="6701539" h="6858000" extrusionOk="0">
                <a:moveTo>
                  <a:pt x="0" y="0"/>
                </a:moveTo>
                <a:lnTo>
                  <a:pt x="6701539" y="0"/>
                </a:lnTo>
                <a:lnTo>
                  <a:pt x="5489823" y="6858000"/>
                </a:lnTo>
                <a:lnTo>
                  <a:pt x="0" y="6858000"/>
                </a:lnTo>
                <a:close/>
              </a:path>
            </a:pathLst>
          </a:custGeom>
          <a:solidFill>
            <a:srgbClr val="6F26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163" name="Google Shape;163;p8"/>
          <p:cNvSpPr txBox="1">
            <a:spLocks noGrp="1"/>
          </p:cNvSpPr>
          <p:nvPr>
            <p:ph type="title"/>
          </p:nvPr>
        </p:nvSpPr>
        <p:spPr>
          <a:xfrm>
            <a:off x="3248050" y="152980"/>
            <a:ext cx="10566837" cy="498598"/>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rgbClr val="3A393C"/>
              </a:buClr>
              <a:buSzPts val="2800"/>
              <a:buFont typeface="Arial" panose="020B0604020202020204"/>
              <a:buNone/>
            </a:pPr>
            <a:r>
              <a:rPr lang="ru-RU" b="0" dirty="0">
                <a:solidFill>
                  <a:schemeClr val="lt1"/>
                </a:solidFill>
              </a:rPr>
              <a:t>«DA или DS вот в чем вопрос…»</a:t>
            </a:r>
          </a:p>
        </p:txBody>
      </p:sp>
      <p:sp>
        <p:nvSpPr>
          <p:cNvPr id="164" name="Google Shape;164;p8"/>
          <p:cNvSpPr txBox="1"/>
          <p:nvPr/>
        </p:nvSpPr>
        <p:spPr>
          <a:xfrm>
            <a:off x="511354" y="1939739"/>
            <a:ext cx="5324100" cy="4313961"/>
          </a:xfrm>
          <a:prstGeom prst="rect">
            <a:avLst/>
          </a:prstGeom>
          <a:noFill/>
          <a:ln>
            <a:noFill/>
          </a:ln>
        </p:spPr>
        <p:txBody>
          <a:bodyPr spcFirstLastPara="1" wrap="square" lIns="0" tIns="45700" rIns="91425" bIns="45700" anchor="t" anchorCtr="0">
            <a:spAutoFit/>
          </a:bodyPr>
          <a:lstStyle/>
          <a:p>
            <a:pPr marL="342900" marR="0" lvl="0" indent="-342900" algn="l" rtl="0">
              <a:spcBef>
                <a:spcPts val="0"/>
              </a:spcBef>
              <a:spcAft>
                <a:spcPts val="0"/>
              </a:spcAft>
              <a:buClr>
                <a:schemeClr val="lt1"/>
              </a:buClr>
              <a:buSzPts val="2400"/>
              <a:buFont typeface="Arial" panose="020B0604020202020204"/>
              <a:buChar char="•"/>
            </a:pPr>
            <a:r>
              <a:rPr lang="ru-RU" sz="2400" b="1" dirty="0">
                <a:solidFill>
                  <a:schemeClr val="lt1"/>
                </a:solidFill>
                <a:latin typeface="Arial" panose="020B0604020202020204"/>
                <a:ea typeface="Arial" panose="020B0604020202020204"/>
                <a:cs typeface="Arial" panose="020B0604020202020204"/>
                <a:sym typeface="Arial" panose="020B0604020202020204"/>
              </a:rPr>
              <a:t>Отличное знание предметной области</a:t>
            </a:r>
            <a:endParaRPr sz="2400" b="1" dirty="0">
              <a:solidFill>
                <a:schemeClr val="lt1"/>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00000"/>
              </a:lnSpc>
              <a:spcBef>
                <a:spcPts val="1000"/>
              </a:spcBef>
              <a:spcAft>
                <a:spcPts val="0"/>
              </a:spcAft>
              <a:buClr>
                <a:srgbClr val="FFFFFF"/>
              </a:buClr>
              <a:buSzPts val="2400"/>
              <a:buFont typeface="Arial" panose="020B0604020202020204"/>
              <a:buChar char="•"/>
            </a:pPr>
            <a:r>
              <a:rPr lang="ru-RU" sz="2400" b="1" i="0" u="none" strike="noStrike" cap="none" dirty="0">
                <a:solidFill>
                  <a:schemeClr val="lt1"/>
                </a:solidFill>
                <a:latin typeface="Arial" panose="020B0604020202020204"/>
                <a:ea typeface="Arial" panose="020B0604020202020204"/>
                <a:cs typeface="Arial" panose="020B0604020202020204"/>
                <a:sym typeface="Arial" panose="020B0604020202020204"/>
              </a:rPr>
              <a:t>Знание особенностей ведения бизнеса</a:t>
            </a:r>
            <a:endParaRPr dirty="0"/>
          </a:p>
          <a:p>
            <a:pPr marL="342900" marR="0" lvl="0" indent="-342900" algn="l" rtl="0">
              <a:spcBef>
                <a:spcPts val="1000"/>
              </a:spcBef>
              <a:spcAft>
                <a:spcPts val="0"/>
              </a:spcAft>
              <a:buClr>
                <a:srgbClr val="FFFFFF"/>
              </a:buClr>
              <a:buSzPts val="2400"/>
              <a:buFont typeface="Arial" panose="020B0604020202020204"/>
              <a:buChar char="•"/>
            </a:pPr>
            <a:r>
              <a:rPr lang="ru-RU" sz="2400" b="1" i="0" dirty="0">
                <a:solidFill>
                  <a:schemeClr val="lt1"/>
                </a:solidFill>
                <a:latin typeface="Arial" panose="020B0604020202020204"/>
                <a:ea typeface="Arial" panose="020B0604020202020204"/>
                <a:cs typeface="Arial" panose="020B0604020202020204"/>
                <a:sym typeface="Arial" panose="020B0604020202020204"/>
              </a:rPr>
              <a:t>Знание статистики</a:t>
            </a:r>
            <a:endParaRPr dirty="0"/>
          </a:p>
          <a:p>
            <a:pPr marL="342900" marR="0" lvl="0" indent="-342900" algn="l" rtl="0">
              <a:spcBef>
                <a:spcPts val="1000"/>
              </a:spcBef>
              <a:spcAft>
                <a:spcPts val="0"/>
              </a:spcAft>
              <a:buClr>
                <a:srgbClr val="FFFFFF"/>
              </a:buClr>
              <a:buSzPts val="2400"/>
              <a:buFont typeface="Arial" panose="020B0604020202020204"/>
              <a:buChar char="•"/>
            </a:pPr>
            <a:r>
              <a:rPr lang="ru-RU" sz="2400" b="1" dirty="0">
                <a:solidFill>
                  <a:schemeClr val="lt1"/>
                </a:solidFill>
                <a:latin typeface="Arial" panose="020B0604020202020204"/>
                <a:ea typeface="Arial" panose="020B0604020202020204"/>
                <a:cs typeface="Arial" panose="020B0604020202020204"/>
                <a:sym typeface="Arial" panose="020B0604020202020204"/>
              </a:rPr>
              <a:t>Python, </a:t>
            </a:r>
            <a:r>
              <a:rPr lang="ru-RU" sz="2400" b="1" dirty="0" err="1">
                <a:solidFill>
                  <a:schemeClr val="lt1"/>
                </a:solidFill>
                <a:latin typeface="Arial" panose="020B0604020202020204"/>
                <a:ea typeface="Arial" panose="020B0604020202020204"/>
                <a:cs typeface="Arial" panose="020B0604020202020204"/>
                <a:sym typeface="Arial" panose="020B0604020202020204"/>
              </a:rPr>
              <a:t>Pandas</a:t>
            </a:r>
            <a:r>
              <a:rPr lang="ru-RU" sz="2400" b="1" dirty="0">
                <a:solidFill>
                  <a:schemeClr val="lt1"/>
                </a:solidFill>
                <a:latin typeface="Arial" panose="020B0604020202020204"/>
                <a:ea typeface="Arial" panose="020B0604020202020204"/>
                <a:cs typeface="Arial" panose="020B0604020202020204"/>
                <a:sym typeface="Arial" panose="020B0604020202020204"/>
              </a:rPr>
              <a:t> и немного ML</a:t>
            </a:r>
            <a:endParaRPr sz="2400" b="1" dirty="0">
              <a:solidFill>
                <a:schemeClr val="lt1"/>
              </a:solidFill>
              <a:latin typeface="Arial" panose="020B0604020202020204"/>
              <a:ea typeface="Arial" panose="020B0604020202020204"/>
              <a:cs typeface="Arial" panose="020B0604020202020204"/>
              <a:sym typeface="Arial" panose="020B0604020202020204"/>
            </a:endParaRPr>
          </a:p>
          <a:p>
            <a:pPr marL="342900" marR="0" lvl="0" indent="-342900" algn="l" rtl="0">
              <a:spcBef>
                <a:spcPts val="1000"/>
              </a:spcBef>
              <a:spcAft>
                <a:spcPts val="0"/>
              </a:spcAft>
              <a:buClr>
                <a:srgbClr val="FFFFFF"/>
              </a:buClr>
              <a:buSzPts val="2400"/>
              <a:buFont typeface="Arial" panose="020B0604020202020204"/>
              <a:buChar char="•"/>
            </a:pPr>
            <a:r>
              <a:rPr lang="ru-RU" sz="2400" b="1" dirty="0">
                <a:solidFill>
                  <a:schemeClr val="lt1"/>
                </a:solidFill>
                <a:latin typeface="Arial" panose="020B0604020202020204"/>
                <a:ea typeface="Arial" panose="020B0604020202020204"/>
                <a:cs typeface="Arial" panose="020B0604020202020204"/>
                <a:sym typeface="Arial" panose="020B0604020202020204"/>
              </a:rPr>
              <a:t>SQL, EXCEL</a:t>
            </a:r>
            <a:endParaRPr sz="2400" b="1" i="0" dirty="0">
              <a:solidFill>
                <a:schemeClr val="lt1"/>
              </a:solidFill>
              <a:latin typeface="Arial" panose="020B0604020202020204"/>
              <a:ea typeface="Arial" panose="020B0604020202020204"/>
              <a:cs typeface="Arial" panose="020B0604020202020204"/>
              <a:sym typeface="Arial" panose="020B0604020202020204"/>
            </a:endParaRPr>
          </a:p>
          <a:p>
            <a:pPr marL="342900" marR="0" lvl="0" indent="-190500" algn="l" rtl="0">
              <a:lnSpc>
                <a:spcPct val="100000"/>
              </a:lnSpc>
              <a:spcBef>
                <a:spcPts val="1000"/>
              </a:spcBef>
              <a:spcAft>
                <a:spcPts val="0"/>
              </a:spcAft>
              <a:buClr>
                <a:srgbClr val="FFFFFF"/>
              </a:buClr>
              <a:buSzPts val="2400"/>
              <a:buFont typeface="Arial" panose="020B0604020202020204"/>
              <a:buNone/>
            </a:pPr>
            <a:endParaRPr sz="2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a:p>
            <a:pPr marL="342900" marR="0" lvl="0" indent="-190500" algn="l" rtl="0">
              <a:spcBef>
                <a:spcPts val="1000"/>
              </a:spcBef>
              <a:spcAft>
                <a:spcPts val="1000"/>
              </a:spcAft>
              <a:buClr>
                <a:schemeClr val="lt1"/>
              </a:buClr>
              <a:buSzPts val="2400"/>
              <a:buFont typeface="Arial" panose="020B0604020202020204"/>
              <a:buNone/>
            </a:pPr>
            <a:endParaRPr sz="2400"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65" name="Google Shape;165;p8"/>
          <p:cNvSpPr txBox="1"/>
          <p:nvPr/>
        </p:nvSpPr>
        <p:spPr>
          <a:xfrm>
            <a:off x="6784720" y="1525729"/>
            <a:ext cx="5324100" cy="3785611"/>
          </a:xfrm>
          <a:prstGeom prst="rect">
            <a:avLst/>
          </a:prstGeom>
          <a:noFill/>
          <a:ln>
            <a:noFill/>
          </a:ln>
        </p:spPr>
        <p:txBody>
          <a:bodyPr spcFirstLastPara="1" wrap="square" lIns="0" tIns="45700" rIns="91425" bIns="45700" anchor="t" anchorCtr="0">
            <a:spAutoFit/>
          </a:bodyPr>
          <a:lstStyle/>
          <a:p>
            <a:pPr marL="342900" marR="0" lvl="0" indent="-342900" algn="l" rtl="0">
              <a:spcBef>
                <a:spcPts val="0"/>
              </a:spcBef>
              <a:spcAft>
                <a:spcPts val="0"/>
              </a:spcAft>
              <a:buClr>
                <a:schemeClr val="lt1"/>
              </a:buClr>
              <a:buSzPts val="2400"/>
              <a:buFont typeface="Arial" panose="020B0604020202020204"/>
              <a:buChar char="•"/>
            </a:pPr>
            <a:r>
              <a:rPr lang="ru-RU" sz="2400" b="1" dirty="0">
                <a:solidFill>
                  <a:schemeClr val="lt1"/>
                </a:solidFill>
                <a:latin typeface="Arial" panose="020B0604020202020204"/>
                <a:ea typeface="Arial" panose="020B0604020202020204"/>
                <a:cs typeface="Arial" panose="020B0604020202020204"/>
                <a:sym typeface="Arial" panose="020B0604020202020204"/>
              </a:rPr>
              <a:t>Отличная</a:t>
            </a:r>
            <a:r>
              <a:rPr lang="ru-RU" sz="2400" b="1" i="0" dirty="0">
                <a:solidFill>
                  <a:schemeClr val="lt1"/>
                </a:solidFill>
                <a:latin typeface="Arial" panose="020B0604020202020204"/>
                <a:ea typeface="Arial" panose="020B0604020202020204"/>
                <a:cs typeface="Arial" panose="020B0604020202020204"/>
                <a:sym typeface="Arial" panose="020B0604020202020204"/>
              </a:rPr>
              <a:t> математическая подготовка</a:t>
            </a:r>
            <a:endParaRPr dirty="0"/>
          </a:p>
          <a:p>
            <a:pPr marL="342900" marR="0" lvl="0" indent="-342900" algn="l" rtl="0">
              <a:spcBef>
                <a:spcPts val="0"/>
              </a:spcBef>
              <a:spcAft>
                <a:spcPts val="0"/>
              </a:spcAft>
              <a:buClr>
                <a:schemeClr val="lt1"/>
              </a:buClr>
              <a:buSzPts val="2400"/>
              <a:buFont typeface="Arial" panose="020B0604020202020204"/>
              <a:buChar char="•"/>
            </a:pPr>
            <a:r>
              <a:rPr lang="ru-RU" sz="2400" b="1" i="0" dirty="0">
                <a:solidFill>
                  <a:schemeClr val="lt1"/>
                </a:solidFill>
                <a:latin typeface="Arial" panose="020B0604020202020204"/>
                <a:ea typeface="Arial" panose="020B0604020202020204"/>
                <a:cs typeface="Arial" panose="020B0604020202020204"/>
                <a:sym typeface="Arial" panose="020B0604020202020204"/>
              </a:rPr>
              <a:t> Умение программировать на Python, </a:t>
            </a:r>
            <a:r>
              <a:rPr lang="ru-RU" sz="2400" b="1" dirty="0">
                <a:solidFill>
                  <a:schemeClr val="lt1"/>
                </a:solidFill>
                <a:latin typeface="Arial" panose="020B0604020202020204"/>
                <a:ea typeface="Arial" panose="020B0604020202020204"/>
                <a:cs typeface="Arial" panose="020B0604020202020204"/>
                <a:sym typeface="Arial" panose="020B0604020202020204"/>
              </a:rPr>
              <a:t>SQL</a:t>
            </a:r>
            <a:r>
              <a:rPr lang="ru-RU" sz="2400" b="1" i="0" dirty="0">
                <a:solidFill>
                  <a:schemeClr val="lt1"/>
                </a:solidFill>
                <a:latin typeface="Arial" panose="020B0604020202020204"/>
                <a:ea typeface="Arial" panose="020B0604020202020204"/>
                <a:cs typeface="Arial" panose="020B0604020202020204"/>
                <a:sym typeface="Arial" panose="020B0604020202020204"/>
              </a:rPr>
              <a:t> и (Java/</a:t>
            </a:r>
            <a:r>
              <a:rPr lang="ru-RU" sz="2400" b="1" i="0" dirty="0" err="1">
                <a:solidFill>
                  <a:schemeClr val="lt1"/>
                </a:solidFill>
                <a:latin typeface="Arial" panose="020B0604020202020204"/>
                <a:ea typeface="Arial" panose="020B0604020202020204"/>
                <a:cs typeface="Arial" panose="020B0604020202020204"/>
                <a:sym typeface="Arial" panose="020B0604020202020204"/>
              </a:rPr>
              <a:t>Matlab</a:t>
            </a:r>
            <a:r>
              <a:rPr lang="ru-RU" sz="2400" b="1" dirty="0">
                <a:solidFill>
                  <a:schemeClr val="lt1"/>
                </a:solidFill>
                <a:latin typeface="Arial" panose="020B0604020202020204"/>
                <a:ea typeface="Arial" panose="020B0604020202020204"/>
                <a:cs typeface="Arial" panose="020B0604020202020204"/>
                <a:sym typeface="Arial" panose="020B0604020202020204"/>
              </a:rPr>
              <a:t>/</a:t>
            </a:r>
            <a:r>
              <a:rPr lang="ru-RU" sz="2400" b="1" i="0" dirty="0">
                <a:solidFill>
                  <a:schemeClr val="lt1"/>
                </a:solidFill>
                <a:latin typeface="Arial" panose="020B0604020202020204"/>
                <a:ea typeface="Arial" panose="020B0604020202020204"/>
                <a:cs typeface="Arial" panose="020B0604020202020204"/>
                <a:sym typeface="Arial" panose="020B0604020202020204"/>
              </a:rPr>
              <a:t>R/Scala)</a:t>
            </a:r>
            <a:endParaRPr dirty="0"/>
          </a:p>
          <a:p>
            <a:pPr marL="342900" marR="0" lvl="0" indent="-342900" algn="l" rtl="0">
              <a:spcBef>
                <a:spcPts val="0"/>
              </a:spcBef>
              <a:spcAft>
                <a:spcPts val="0"/>
              </a:spcAft>
              <a:buClr>
                <a:schemeClr val="lt1"/>
              </a:buClr>
              <a:buSzPts val="2400"/>
              <a:buFont typeface="Arial" panose="020B0604020202020204"/>
              <a:buChar char="•"/>
            </a:pPr>
            <a:r>
              <a:rPr lang="ru-RU" sz="2400" b="1" dirty="0">
                <a:solidFill>
                  <a:schemeClr val="lt1"/>
                </a:solidFill>
                <a:latin typeface="Arial" panose="020B0604020202020204"/>
                <a:ea typeface="Arial" panose="020B0604020202020204"/>
                <a:cs typeface="Arial" panose="020B0604020202020204"/>
                <a:sym typeface="Arial" panose="020B0604020202020204"/>
              </a:rPr>
              <a:t>Отличное</a:t>
            </a:r>
            <a:r>
              <a:rPr lang="ru-RU" sz="2400" b="1" i="0" dirty="0">
                <a:solidFill>
                  <a:schemeClr val="lt1"/>
                </a:solidFill>
                <a:latin typeface="Arial" panose="020B0604020202020204"/>
                <a:ea typeface="Arial" panose="020B0604020202020204"/>
                <a:cs typeface="Arial" panose="020B0604020202020204"/>
                <a:sym typeface="Arial" panose="020B0604020202020204"/>
              </a:rPr>
              <a:t> знание методов и алгоритмов машинного обучения.  </a:t>
            </a:r>
            <a:endParaRPr dirty="0"/>
          </a:p>
          <a:p>
            <a:pPr marL="342900" marR="0" lvl="0" indent="-342900" algn="l" rtl="0">
              <a:spcBef>
                <a:spcPts val="0"/>
              </a:spcBef>
              <a:spcAft>
                <a:spcPts val="0"/>
              </a:spcAft>
              <a:buClr>
                <a:schemeClr val="lt1"/>
              </a:buClr>
              <a:buSzPts val="2400"/>
              <a:buFont typeface="Arial" panose="020B0604020202020204"/>
              <a:buChar char="•"/>
            </a:pPr>
            <a:r>
              <a:rPr lang="ru-RU" sz="2400" b="1" dirty="0">
                <a:solidFill>
                  <a:schemeClr val="lt1"/>
                </a:solidFill>
                <a:latin typeface="Arial" panose="020B0604020202020204"/>
                <a:ea typeface="Arial" panose="020B0604020202020204"/>
                <a:cs typeface="Arial" panose="020B0604020202020204"/>
                <a:sym typeface="Arial" panose="020B0604020202020204"/>
              </a:rPr>
              <a:t>У</a:t>
            </a:r>
            <a:r>
              <a:rPr lang="ru-RU" sz="2400" b="1" i="0" dirty="0">
                <a:solidFill>
                  <a:schemeClr val="lt1"/>
                </a:solidFill>
                <a:latin typeface="Arial" panose="020B0604020202020204"/>
                <a:ea typeface="Arial" panose="020B0604020202020204"/>
                <a:cs typeface="Arial" panose="020B0604020202020204"/>
                <a:sym typeface="Arial" panose="020B0604020202020204"/>
              </a:rPr>
              <a:t>мение работать с большими данными (Big Data) — </a:t>
            </a:r>
            <a:r>
              <a:rPr lang="ru-RU" sz="2400" b="1" i="0" dirty="0" err="1">
                <a:solidFill>
                  <a:schemeClr val="lt1"/>
                </a:solidFill>
                <a:latin typeface="Arial" panose="020B0604020202020204"/>
                <a:ea typeface="Arial" panose="020B0604020202020204"/>
                <a:cs typeface="Arial" panose="020B0604020202020204"/>
                <a:sym typeface="Arial" panose="020B0604020202020204"/>
              </a:rPr>
              <a:t>Hadoop</a:t>
            </a:r>
            <a:r>
              <a:rPr lang="ru-RU" sz="2400" b="1" i="0" dirty="0">
                <a:solidFill>
                  <a:schemeClr val="lt1"/>
                </a:solidFill>
                <a:latin typeface="Arial" panose="020B0604020202020204"/>
                <a:ea typeface="Arial" panose="020B0604020202020204"/>
                <a:cs typeface="Arial" panose="020B0604020202020204"/>
                <a:sym typeface="Arial" panose="020B0604020202020204"/>
              </a:rPr>
              <a:t> и его друзья</a:t>
            </a:r>
            <a:endParaRPr dirty="0"/>
          </a:p>
          <a:p>
            <a:pPr marL="342900" marR="0" lvl="0" indent="-342900" algn="l" rtl="0">
              <a:spcBef>
                <a:spcPts val="0"/>
              </a:spcBef>
              <a:spcAft>
                <a:spcPts val="0"/>
              </a:spcAft>
              <a:buClr>
                <a:schemeClr val="lt1"/>
              </a:buClr>
              <a:buSzPts val="2400"/>
              <a:buFont typeface="Arial" panose="020B0604020202020204"/>
              <a:buChar char="•"/>
            </a:pPr>
            <a:r>
              <a:rPr lang="ru-RU" sz="2400" b="1" dirty="0">
                <a:solidFill>
                  <a:schemeClr val="lt1"/>
                </a:solidFill>
                <a:latin typeface="Arial" panose="020B0604020202020204"/>
                <a:ea typeface="Arial" panose="020B0604020202020204"/>
                <a:cs typeface="Arial" panose="020B0604020202020204"/>
                <a:sym typeface="Arial" panose="020B0604020202020204"/>
              </a:rPr>
              <a:t>Хороший технический бэкграунд</a:t>
            </a:r>
            <a:endParaRPr sz="2400" b="1" dirty="0">
              <a:solidFill>
                <a:schemeClr val="lt1"/>
              </a:solidFill>
              <a:latin typeface="Arial" panose="020B0604020202020204"/>
              <a:ea typeface="Arial" panose="020B0604020202020204"/>
              <a:cs typeface="Arial" panose="020B0604020202020204"/>
              <a:sym typeface="Arial" panose="020B0604020202020204"/>
            </a:endParaRPr>
          </a:p>
        </p:txBody>
      </p:sp>
      <p:sp>
        <p:nvSpPr>
          <p:cNvPr id="167" name="Google Shape;167;p8"/>
          <p:cNvSpPr txBox="1"/>
          <p:nvPr/>
        </p:nvSpPr>
        <p:spPr>
          <a:xfrm>
            <a:off x="1794931" y="1073829"/>
            <a:ext cx="5258789" cy="523220"/>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r>
              <a:rPr lang="ru-RU" sz="2800" b="1">
                <a:solidFill>
                  <a:schemeClr val="lt1"/>
                </a:solidFill>
                <a:latin typeface="Arial" panose="020B0604020202020204"/>
                <a:ea typeface="Arial" panose="020B0604020202020204"/>
                <a:cs typeface="Arial" panose="020B0604020202020204"/>
                <a:sym typeface="Arial" panose="020B0604020202020204"/>
              </a:rPr>
              <a:t>Аналитик данных (DA)</a:t>
            </a:r>
          </a:p>
        </p:txBody>
      </p:sp>
      <p:sp>
        <p:nvSpPr>
          <p:cNvPr id="168" name="Google Shape;168;p8"/>
          <p:cNvSpPr txBox="1"/>
          <p:nvPr/>
        </p:nvSpPr>
        <p:spPr>
          <a:xfrm>
            <a:off x="8122498" y="983404"/>
            <a:ext cx="5258789" cy="523220"/>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r>
              <a:rPr lang="ru-RU" sz="2800" b="1">
                <a:solidFill>
                  <a:schemeClr val="lt1"/>
                </a:solidFill>
                <a:latin typeface="Arial" panose="020B0604020202020204"/>
                <a:ea typeface="Arial" panose="020B0604020202020204"/>
                <a:cs typeface="Arial" panose="020B0604020202020204"/>
                <a:sym typeface="Arial" panose="020B0604020202020204"/>
              </a:rPr>
              <a:t>Дата-саентист (DS)</a:t>
            </a:r>
          </a:p>
        </p:txBody>
      </p:sp>
      <p:pic>
        <p:nvPicPr>
          <p:cNvPr id="3" name="Рисунок 2">
            <a:extLst>
              <a:ext uri="{FF2B5EF4-FFF2-40B4-BE49-F238E27FC236}">
                <a16:creationId xmlns:a16="http://schemas.microsoft.com/office/drawing/2014/main" id="{8567E04C-4628-4CFC-9DDF-B98A9132627A}"/>
              </a:ext>
            </a:extLst>
          </p:cNvPr>
          <p:cNvPicPr>
            <a:picLocks noChangeAspect="1"/>
          </p:cNvPicPr>
          <p:nvPr/>
        </p:nvPicPr>
        <p:blipFill>
          <a:blip r:embed="rId3"/>
          <a:stretch>
            <a:fillRect/>
          </a:stretch>
        </p:blipFill>
        <p:spPr>
          <a:xfrm>
            <a:off x="2079061" y="5103845"/>
            <a:ext cx="4267746" cy="16011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7"/>
          <p:cNvSpPr/>
          <p:nvPr/>
        </p:nvSpPr>
        <p:spPr>
          <a:xfrm>
            <a:off x="0" y="0"/>
            <a:ext cx="12192001" cy="6858000"/>
          </a:xfrm>
          <a:custGeom>
            <a:avLst/>
            <a:gdLst/>
            <a:ahLst/>
            <a:cxnLst/>
            <a:rect l="l" t="t" r="r" b="b"/>
            <a:pathLst>
              <a:path w="10059670" h="5655310" extrusionOk="0">
                <a:moveTo>
                  <a:pt x="0" y="5655289"/>
                </a:moveTo>
                <a:lnTo>
                  <a:pt x="10059346" y="5655289"/>
                </a:lnTo>
                <a:lnTo>
                  <a:pt x="10059346" y="0"/>
                </a:lnTo>
                <a:lnTo>
                  <a:pt x="0" y="0"/>
                </a:lnTo>
                <a:lnTo>
                  <a:pt x="0" y="5655289"/>
                </a:lnTo>
                <a:close/>
              </a:path>
            </a:pathLst>
          </a:custGeom>
          <a:solidFill>
            <a:srgbClr val="FD645A"/>
          </a:solidFill>
          <a:ln>
            <a:noFill/>
          </a:ln>
        </p:spPr>
        <p:txBody>
          <a:bodyPr spcFirstLastPara="1" wrap="square" lIns="0" tIns="0" rIns="0" bIns="0" anchor="t" anchorCtr="0">
            <a:noAutofit/>
          </a:bodyPr>
          <a:lstStyle/>
          <a:p>
            <a:pPr marL="0" marR="0" lvl="0" indent="0" algn="l" rtl="0">
              <a:spcBef>
                <a:spcPts val="0"/>
              </a:spcBef>
              <a:spcAft>
                <a:spcPts val="0"/>
              </a:spcAft>
              <a:buNone/>
            </a:pPr>
            <a:endParaRPr/>
          </a:p>
          <a:p>
            <a:pPr marL="0" marR="0" lvl="0" indent="0" algn="l" rtl="0">
              <a:spcBef>
                <a:spcPts val="0"/>
              </a:spcBef>
              <a:spcAft>
                <a:spcPts val="0"/>
              </a:spcAft>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152" name="Google Shape;152;p7"/>
          <p:cNvSpPr/>
          <p:nvPr/>
        </p:nvSpPr>
        <p:spPr>
          <a:xfrm>
            <a:off x="1" y="0"/>
            <a:ext cx="6701539" cy="6858000"/>
          </a:xfrm>
          <a:custGeom>
            <a:avLst/>
            <a:gdLst/>
            <a:ahLst/>
            <a:cxnLst/>
            <a:rect l="l" t="t" r="r" b="b"/>
            <a:pathLst>
              <a:path w="6701539" h="6858000" extrusionOk="0">
                <a:moveTo>
                  <a:pt x="0" y="0"/>
                </a:moveTo>
                <a:lnTo>
                  <a:pt x="6701539" y="0"/>
                </a:lnTo>
                <a:lnTo>
                  <a:pt x="5489823" y="6858000"/>
                </a:lnTo>
                <a:lnTo>
                  <a:pt x="0" y="6858000"/>
                </a:lnTo>
                <a:close/>
              </a:path>
            </a:pathLst>
          </a:custGeom>
          <a:solidFill>
            <a:srgbClr val="6F26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153" name="Google Shape;153;p7"/>
          <p:cNvSpPr txBox="1"/>
          <p:nvPr/>
        </p:nvSpPr>
        <p:spPr>
          <a:xfrm>
            <a:off x="291100" y="801226"/>
            <a:ext cx="11609799" cy="4339609"/>
          </a:xfrm>
          <a:prstGeom prst="rect">
            <a:avLst/>
          </a:prstGeom>
          <a:noFill/>
          <a:ln>
            <a:noFill/>
          </a:ln>
        </p:spPr>
        <p:txBody>
          <a:bodyPr spcFirstLastPara="1" wrap="square" lIns="0" tIns="45700" rIns="91425" bIns="45700" anchor="t" anchorCtr="0">
            <a:spAutoFit/>
          </a:bodyPr>
          <a:lstStyle/>
          <a:p>
            <a:pPr marL="0" marR="0" lvl="0" indent="0" algn="ctr" rtl="0">
              <a:spcBef>
                <a:spcPts val="0"/>
              </a:spcBef>
              <a:spcAft>
                <a:spcPts val="0"/>
              </a:spcAft>
              <a:buNone/>
            </a:pPr>
            <a:r>
              <a:rPr lang="en-US" sz="13800" b="1" dirty="0">
                <a:solidFill>
                  <a:srgbClr val="171616"/>
                </a:solidFill>
                <a:latin typeface="Arial" panose="020B0604020202020204"/>
                <a:ea typeface="Arial" panose="020B0604020202020204"/>
                <a:cs typeface="Arial" panose="020B0604020202020204"/>
                <a:sym typeface="Arial" panose="020B0604020202020204"/>
              </a:rPr>
              <a:t>Wait a minute!</a:t>
            </a:r>
            <a:endParaRPr sz="85700" b="1" dirty="0">
              <a:solidFill>
                <a:srgbClr val="171616"/>
              </a:solidFill>
              <a:latin typeface="Arial" panose="020B0604020202020204"/>
              <a:ea typeface="Arial" panose="020B0604020202020204"/>
              <a:cs typeface="Arial" panose="020B0604020202020204"/>
              <a:sym typeface="Arial" panose="020B0604020202020204"/>
            </a:endParaRPr>
          </a:p>
        </p:txBody>
      </p:sp>
      <p:sp>
        <p:nvSpPr>
          <p:cNvPr id="155" name="Google Shape;155;p7"/>
          <p:cNvSpPr txBox="1"/>
          <p:nvPr/>
        </p:nvSpPr>
        <p:spPr>
          <a:xfrm>
            <a:off x="4658143" y="6266561"/>
            <a:ext cx="5258789" cy="523220"/>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endParaRPr sz="2800" b="1" i="1" u="sng">
              <a:solidFill>
                <a:schemeClr val="lt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2744174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7"/>
          <p:cNvSpPr/>
          <p:nvPr/>
        </p:nvSpPr>
        <p:spPr>
          <a:xfrm>
            <a:off x="0" y="0"/>
            <a:ext cx="12192001" cy="6858000"/>
          </a:xfrm>
          <a:custGeom>
            <a:avLst/>
            <a:gdLst/>
            <a:ahLst/>
            <a:cxnLst/>
            <a:rect l="l" t="t" r="r" b="b"/>
            <a:pathLst>
              <a:path w="10059670" h="5655310" extrusionOk="0">
                <a:moveTo>
                  <a:pt x="0" y="5655289"/>
                </a:moveTo>
                <a:lnTo>
                  <a:pt x="10059346" y="5655289"/>
                </a:lnTo>
                <a:lnTo>
                  <a:pt x="10059346" y="0"/>
                </a:lnTo>
                <a:lnTo>
                  <a:pt x="0" y="0"/>
                </a:lnTo>
                <a:lnTo>
                  <a:pt x="0" y="5655289"/>
                </a:lnTo>
                <a:close/>
              </a:path>
            </a:pathLst>
          </a:custGeom>
          <a:solidFill>
            <a:srgbClr val="FD645A"/>
          </a:solidFill>
          <a:ln>
            <a:noFill/>
          </a:ln>
        </p:spPr>
        <p:txBody>
          <a:bodyPr spcFirstLastPara="1" wrap="square" lIns="0" tIns="0" rIns="0" bIns="0" anchor="t" anchorCtr="0">
            <a:noAutofit/>
          </a:bodyPr>
          <a:lstStyle/>
          <a:p>
            <a:pPr marL="0" marR="0" lvl="0" indent="0" algn="l" rtl="0">
              <a:spcBef>
                <a:spcPts val="0"/>
              </a:spcBef>
              <a:spcAft>
                <a:spcPts val="0"/>
              </a:spcAft>
              <a:buNone/>
            </a:pPr>
            <a:endParaRPr/>
          </a:p>
          <a:p>
            <a:pPr marL="0" marR="0" lvl="0" indent="0" algn="l" rtl="0">
              <a:spcBef>
                <a:spcPts val="0"/>
              </a:spcBef>
              <a:spcAft>
                <a:spcPts val="0"/>
              </a:spcAft>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152" name="Google Shape;152;p7"/>
          <p:cNvSpPr/>
          <p:nvPr/>
        </p:nvSpPr>
        <p:spPr>
          <a:xfrm>
            <a:off x="1" y="0"/>
            <a:ext cx="6701539" cy="6858000"/>
          </a:xfrm>
          <a:custGeom>
            <a:avLst/>
            <a:gdLst/>
            <a:ahLst/>
            <a:cxnLst/>
            <a:rect l="l" t="t" r="r" b="b"/>
            <a:pathLst>
              <a:path w="6701539" h="6858000" extrusionOk="0">
                <a:moveTo>
                  <a:pt x="0" y="0"/>
                </a:moveTo>
                <a:lnTo>
                  <a:pt x="6701539" y="0"/>
                </a:lnTo>
                <a:lnTo>
                  <a:pt x="5489823" y="6858000"/>
                </a:lnTo>
                <a:lnTo>
                  <a:pt x="0" y="6858000"/>
                </a:lnTo>
                <a:close/>
              </a:path>
            </a:pathLst>
          </a:custGeom>
          <a:solidFill>
            <a:srgbClr val="6F26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153" name="Google Shape;153;p7"/>
          <p:cNvSpPr txBox="1"/>
          <p:nvPr/>
        </p:nvSpPr>
        <p:spPr>
          <a:xfrm>
            <a:off x="291100" y="801226"/>
            <a:ext cx="11609799" cy="4339609"/>
          </a:xfrm>
          <a:prstGeom prst="rect">
            <a:avLst/>
          </a:prstGeom>
          <a:noFill/>
          <a:ln>
            <a:noFill/>
          </a:ln>
        </p:spPr>
        <p:txBody>
          <a:bodyPr spcFirstLastPara="1" wrap="square" lIns="0" tIns="45700" rIns="91425" bIns="45700" anchor="t" anchorCtr="0">
            <a:spAutoFit/>
          </a:bodyPr>
          <a:lstStyle/>
          <a:p>
            <a:pPr marL="0" marR="0" lvl="0" indent="0" algn="ctr" rtl="0">
              <a:spcBef>
                <a:spcPts val="0"/>
              </a:spcBef>
              <a:spcAft>
                <a:spcPts val="0"/>
              </a:spcAft>
              <a:buNone/>
            </a:pPr>
            <a:r>
              <a:rPr lang="en-US" sz="13800" b="1" dirty="0">
                <a:solidFill>
                  <a:srgbClr val="171616"/>
                </a:solidFill>
                <a:latin typeface="Arial" panose="020B0604020202020204"/>
                <a:ea typeface="Arial" panose="020B0604020202020204"/>
                <a:cs typeface="Arial" panose="020B0604020202020204"/>
                <a:sym typeface="Arial" panose="020B0604020202020204"/>
              </a:rPr>
              <a:t> DA vs DS vs DE vs MLE</a:t>
            </a:r>
            <a:endParaRPr sz="85700" b="1" dirty="0">
              <a:solidFill>
                <a:srgbClr val="171616"/>
              </a:solidFill>
              <a:latin typeface="Arial" panose="020B0604020202020204"/>
              <a:ea typeface="Arial" panose="020B0604020202020204"/>
              <a:cs typeface="Arial" panose="020B0604020202020204"/>
              <a:sym typeface="Arial" panose="020B0604020202020204"/>
            </a:endParaRPr>
          </a:p>
        </p:txBody>
      </p:sp>
      <p:sp>
        <p:nvSpPr>
          <p:cNvPr id="155" name="Google Shape;155;p7"/>
          <p:cNvSpPr txBox="1"/>
          <p:nvPr/>
        </p:nvSpPr>
        <p:spPr>
          <a:xfrm>
            <a:off x="4658143" y="6266561"/>
            <a:ext cx="5258789" cy="523220"/>
          </a:xfrm>
          <a:prstGeom prst="rect">
            <a:avLst/>
          </a:prstGeom>
          <a:noFill/>
          <a:ln>
            <a:noFill/>
          </a:ln>
        </p:spPr>
        <p:txBody>
          <a:bodyPr spcFirstLastPara="1" wrap="square" lIns="0" tIns="45700" rIns="91425" bIns="45700" anchor="t" anchorCtr="0">
            <a:spAutoFit/>
          </a:bodyPr>
          <a:lstStyle/>
          <a:p>
            <a:pPr marL="0" marR="0" lvl="0" indent="0" algn="l" rtl="0">
              <a:spcBef>
                <a:spcPts val="0"/>
              </a:spcBef>
              <a:spcAft>
                <a:spcPts val="0"/>
              </a:spcAft>
              <a:buNone/>
            </a:pPr>
            <a:endParaRPr sz="2800" b="1" i="1" u="sng">
              <a:solidFill>
                <a:schemeClr val="lt1"/>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3986885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21" name="object 4"/>
          <p:cNvSpPr/>
          <p:nvPr/>
        </p:nvSpPr>
        <p:spPr>
          <a:xfrm>
            <a:off x="9525" y="0"/>
            <a:ext cx="12192001" cy="6858000"/>
          </a:xfrm>
          <a:custGeom>
            <a:avLst/>
            <a:gdLst/>
            <a:ahLst/>
            <a:cxnLst/>
            <a:rect l="l" t="t" r="r" b="b"/>
            <a:pathLst>
              <a:path w="10059670" h="5655310">
                <a:moveTo>
                  <a:pt x="0" y="5655289"/>
                </a:moveTo>
                <a:lnTo>
                  <a:pt x="10059346" y="5655289"/>
                </a:lnTo>
                <a:lnTo>
                  <a:pt x="10059346" y="0"/>
                </a:lnTo>
                <a:lnTo>
                  <a:pt x="0" y="0"/>
                </a:lnTo>
                <a:lnTo>
                  <a:pt x="0" y="5655289"/>
                </a:lnTo>
                <a:close/>
              </a:path>
            </a:pathLst>
          </a:custGeom>
          <a:solidFill>
            <a:srgbClr val="6F26E2"/>
          </a:solidFill>
        </p:spPr>
        <p:txBody>
          <a:bodyPr wrap="square" lIns="0" tIns="0" rIns="0" bIns="0" rtlCol="0"/>
          <a:lstStyle/>
          <a:p>
            <a:endParaRPr dirty="0"/>
          </a:p>
        </p:txBody>
      </p:sp>
      <p:graphicFrame>
        <p:nvGraphicFramePr>
          <p:cNvPr id="2" name="Объект 1"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128" name="think-cell Slide" r:id="rId5" imgW="5715" imgH="5715" progId="TCLayout.ActiveDocument.1">
                  <p:embed/>
                </p:oleObj>
              </mc:Choice>
              <mc:Fallback>
                <p:oleObj name="think-cell Slide" r:id="rId5" imgW="5715" imgH="5715" progId="TCLayout.ActiveDocument.1">
                  <p:embed/>
                  <p:pic>
                    <p:nvPicPr>
                      <p:cNvPr id="2" name="Объект 1"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2" name="Rectangle 43"/>
          <p:cNvSpPr/>
          <p:nvPr/>
        </p:nvSpPr>
        <p:spPr>
          <a:xfrm>
            <a:off x="567060" y="2882728"/>
            <a:ext cx="2804052" cy="3367788"/>
          </a:xfrm>
          <a:prstGeom prst="rect">
            <a:avLst/>
          </a:prstGeom>
          <a:pattFill prst="pct5">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tlCol="0" anchor="t" anchorCtr="0"/>
          <a:lstStyle/>
          <a:p>
            <a:pPr marL="144145">
              <a:buClr>
                <a:schemeClr val="accent1"/>
              </a:buClr>
            </a:pPr>
            <a:r>
              <a:rPr lang="ru-RU" sz="2000" b="0" i="0" dirty="0">
                <a:solidFill>
                  <a:srgbClr val="4E4E4E"/>
                </a:solidFill>
                <a:effectLst/>
                <a:latin typeface="-apple-system"/>
              </a:rPr>
              <a:t>Строит дороги и трубопроводы для данных</a:t>
            </a:r>
            <a:endParaRPr lang="ru-RU" sz="1600" dirty="0">
              <a:solidFill>
                <a:schemeClr val="dk1"/>
              </a:solidFill>
              <a:latin typeface="Croc" panose="020B0502020203020203" pitchFamily="34" charset="0"/>
              <a:cs typeface="Arial" panose="020B0604020202020204"/>
              <a:sym typeface="Arial" panose="020B0604020202020204"/>
            </a:endParaRPr>
          </a:p>
          <a:p>
            <a:pPr marL="144145">
              <a:buClr>
                <a:schemeClr val="accent1"/>
              </a:buClr>
            </a:pPr>
            <a:endParaRPr lang="en-US" sz="1600" dirty="0">
              <a:solidFill>
                <a:schemeClr val="dk1"/>
              </a:solidFill>
              <a:latin typeface="Croc" panose="020B0502020203020203" pitchFamily="34" charset="0"/>
              <a:cs typeface="Arial" panose="020B0604020202020204"/>
            </a:endParaRPr>
          </a:p>
        </p:txBody>
      </p:sp>
      <p:sp>
        <p:nvSpPr>
          <p:cNvPr id="17" name="Rectangle 53"/>
          <p:cNvSpPr/>
          <p:nvPr/>
        </p:nvSpPr>
        <p:spPr>
          <a:xfrm>
            <a:off x="549698" y="1727453"/>
            <a:ext cx="2813686" cy="1155275"/>
          </a:xfrm>
          <a:prstGeom prst="rect">
            <a:avLst/>
          </a:prstGeom>
          <a:solidFill>
            <a:srgbClr val="040A1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72000" rIns="36000" bIns="36000" rtlCol="0" anchor="ctr"/>
          <a:lstStyle/>
          <a:p>
            <a:pPr marL="144145" marR="0" lvl="0" indent="0" algn="l" rtl="0">
              <a:spcBef>
                <a:spcPts val="0"/>
              </a:spcBef>
              <a:spcAft>
                <a:spcPts val="0"/>
              </a:spcAft>
              <a:buNone/>
            </a:pPr>
            <a:r>
              <a:rPr lang="en-US" sz="1600" b="1" i="0" dirty="0">
                <a:effectLst/>
                <a:latin typeface="-apple-system"/>
              </a:rPr>
              <a:t>Data Engineer (DE)</a:t>
            </a:r>
            <a:endParaRPr lang="en-US" sz="1600" b="1" dirty="0">
              <a:solidFill>
                <a:schemeClr val="bg1"/>
              </a:solidFill>
              <a:latin typeface="Croc" panose="020B0502020203020203" pitchFamily="34" charset="0"/>
              <a:cs typeface="Arial" panose="020B0604020202020204"/>
            </a:endParaRPr>
          </a:p>
        </p:txBody>
      </p:sp>
      <p:sp>
        <p:nvSpPr>
          <p:cNvPr id="371" name="Google Shape;371;p23"/>
          <p:cNvSpPr txBox="1">
            <a:spLocks noGrp="1"/>
          </p:cNvSpPr>
          <p:nvPr>
            <p:ph type="title"/>
          </p:nvPr>
        </p:nvSpPr>
        <p:spPr>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rgbClr val="3A393C"/>
              </a:buClr>
              <a:buSzPts val="2800"/>
              <a:buFont typeface="Arial" panose="020B0604020202020204"/>
              <a:buNone/>
            </a:pPr>
            <a:r>
              <a:rPr lang="ru-RU" b="0" dirty="0">
                <a:solidFill>
                  <a:schemeClr val="bg1"/>
                </a:solidFill>
              </a:rPr>
              <a:t>Семья </a:t>
            </a:r>
            <a:r>
              <a:rPr lang="en-US" b="0" dirty="0">
                <a:solidFill>
                  <a:schemeClr val="bg1"/>
                </a:solidFill>
              </a:rPr>
              <a:t>Data-</a:t>
            </a:r>
            <a:r>
              <a:rPr lang="ru-RU" b="0" dirty="0">
                <a:solidFill>
                  <a:schemeClr val="bg1"/>
                </a:solidFill>
              </a:rPr>
              <a:t>профессий</a:t>
            </a:r>
            <a:endParaRPr b="0" dirty="0">
              <a:solidFill>
                <a:schemeClr val="bg1"/>
              </a:solidFill>
            </a:endParaRPr>
          </a:p>
        </p:txBody>
      </p:sp>
      <p:sp>
        <p:nvSpPr>
          <p:cNvPr id="3" name="TextBox 2"/>
          <p:cNvSpPr txBox="1"/>
          <p:nvPr/>
        </p:nvSpPr>
        <p:spPr>
          <a:xfrm>
            <a:off x="-2617940" y="7189940"/>
            <a:ext cx="184731" cy="307777"/>
          </a:xfrm>
          <a:prstGeom prst="rect">
            <a:avLst/>
          </a:prstGeom>
          <a:noFill/>
        </p:spPr>
        <p:txBody>
          <a:bodyPr wrap="none" rtlCol="0">
            <a:spAutoFit/>
          </a:bodyPr>
          <a:lstStyle/>
          <a:p>
            <a:endParaRPr lang="ru-RU" dirty="0"/>
          </a:p>
        </p:txBody>
      </p:sp>
      <p:sp>
        <p:nvSpPr>
          <p:cNvPr id="15" name="Rectangle 53">
            <a:extLst>
              <a:ext uri="{FF2B5EF4-FFF2-40B4-BE49-F238E27FC236}">
                <a16:creationId xmlns:a16="http://schemas.microsoft.com/office/drawing/2014/main" id="{FD926266-9EDD-4212-B04F-BE9BA3559330}"/>
              </a:ext>
            </a:extLst>
          </p:cNvPr>
          <p:cNvSpPr/>
          <p:nvPr/>
        </p:nvSpPr>
        <p:spPr>
          <a:xfrm>
            <a:off x="3470383" y="1727453"/>
            <a:ext cx="2813686" cy="1155275"/>
          </a:xfrm>
          <a:prstGeom prst="rect">
            <a:avLst/>
          </a:prstGeom>
          <a:solidFill>
            <a:srgbClr val="040A1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72000" rIns="36000" bIns="36000" rtlCol="0" anchor="ctr"/>
          <a:lstStyle/>
          <a:p>
            <a:pPr marL="144145" marR="0" lvl="0" indent="0" algn="l" rtl="0">
              <a:spcBef>
                <a:spcPts val="0"/>
              </a:spcBef>
              <a:spcAft>
                <a:spcPts val="0"/>
              </a:spcAft>
              <a:buNone/>
            </a:pPr>
            <a:r>
              <a:rPr lang="en-US" sz="1600" b="1" i="0" dirty="0">
                <a:effectLst/>
                <a:latin typeface="-apple-system"/>
              </a:rPr>
              <a:t>Data Analyst (DA)</a:t>
            </a:r>
            <a:endParaRPr lang="en-US" sz="1600" b="1" dirty="0">
              <a:solidFill>
                <a:schemeClr val="bg1"/>
              </a:solidFill>
              <a:latin typeface="Croc" panose="020B0502020203020203" pitchFamily="34" charset="0"/>
              <a:cs typeface="Arial" panose="020B0604020202020204"/>
            </a:endParaRPr>
          </a:p>
        </p:txBody>
      </p:sp>
      <p:sp>
        <p:nvSpPr>
          <p:cNvPr id="19" name="Rectangle 53">
            <a:extLst>
              <a:ext uri="{FF2B5EF4-FFF2-40B4-BE49-F238E27FC236}">
                <a16:creationId xmlns:a16="http://schemas.microsoft.com/office/drawing/2014/main" id="{449F7701-9535-4FAE-A84D-4A7047443549}"/>
              </a:ext>
            </a:extLst>
          </p:cNvPr>
          <p:cNvSpPr/>
          <p:nvPr/>
        </p:nvSpPr>
        <p:spPr>
          <a:xfrm>
            <a:off x="6375612" y="1727454"/>
            <a:ext cx="2813686" cy="1155275"/>
          </a:xfrm>
          <a:prstGeom prst="rect">
            <a:avLst/>
          </a:prstGeom>
          <a:solidFill>
            <a:srgbClr val="040A1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72000" rIns="36000" bIns="36000" rtlCol="0" anchor="ctr"/>
          <a:lstStyle/>
          <a:p>
            <a:pPr marL="144145" marR="0" lvl="0" indent="0" algn="l" rtl="0">
              <a:spcBef>
                <a:spcPts val="0"/>
              </a:spcBef>
              <a:spcAft>
                <a:spcPts val="0"/>
              </a:spcAft>
              <a:buNone/>
            </a:pPr>
            <a:r>
              <a:rPr lang="en-US" sz="1600" b="1" i="0" dirty="0">
                <a:effectLst/>
                <a:latin typeface="-apple-system"/>
              </a:rPr>
              <a:t>Data Scientist (DS)</a:t>
            </a:r>
            <a:endParaRPr lang="en-US" sz="1600" b="1" dirty="0">
              <a:solidFill>
                <a:schemeClr val="bg1"/>
              </a:solidFill>
              <a:latin typeface="Croc" panose="020B0502020203020203" pitchFamily="34" charset="0"/>
              <a:cs typeface="Arial" panose="020B0604020202020204"/>
            </a:endParaRPr>
          </a:p>
        </p:txBody>
      </p:sp>
      <p:sp>
        <p:nvSpPr>
          <p:cNvPr id="20" name="Rectangle 53">
            <a:extLst>
              <a:ext uri="{FF2B5EF4-FFF2-40B4-BE49-F238E27FC236}">
                <a16:creationId xmlns:a16="http://schemas.microsoft.com/office/drawing/2014/main" id="{A66234FB-5FF5-44F9-883B-02F82A4BD6B7}"/>
              </a:ext>
            </a:extLst>
          </p:cNvPr>
          <p:cNvSpPr/>
          <p:nvPr/>
        </p:nvSpPr>
        <p:spPr>
          <a:xfrm>
            <a:off x="9288569" y="1727453"/>
            <a:ext cx="2813686" cy="1155275"/>
          </a:xfrm>
          <a:prstGeom prst="rect">
            <a:avLst/>
          </a:prstGeom>
          <a:solidFill>
            <a:srgbClr val="040A1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72000" rIns="36000" bIns="36000" rtlCol="0" anchor="ctr"/>
          <a:lstStyle/>
          <a:p>
            <a:pPr marL="144145" marR="0" lvl="0" indent="0" algn="l" rtl="0">
              <a:spcBef>
                <a:spcPts val="0"/>
              </a:spcBef>
              <a:spcAft>
                <a:spcPts val="0"/>
              </a:spcAft>
              <a:buNone/>
            </a:pPr>
            <a:r>
              <a:rPr lang="en-US" sz="1600" b="1" i="0" dirty="0">
                <a:effectLst/>
                <a:latin typeface="-apple-system"/>
              </a:rPr>
              <a:t>Machine Learning Engineer (MLE)</a:t>
            </a:r>
            <a:endParaRPr lang="en-US" sz="1600" b="1" dirty="0">
              <a:solidFill>
                <a:schemeClr val="bg1"/>
              </a:solidFill>
              <a:latin typeface="Croc" panose="020B0502020203020203" pitchFamily="34" charset="0"/>
              <a:cs typeface="Arial" panose="020B0604020202020204"/>
            </a:endParaRPr>
          </a:p>
        </p:txBody>
      </p:sp>
      <p:sp>
        <p:nvSpPr>
          <p:cNvPr id="25" name="Rectangle 43">
            <a:extLst>
              <a:ext uri="{FF2B5EF4-FFF2-40B4-BE49-F238E27FC236}">
                <a16:creationId xmlns:a16="http://schemas.microsoft.com/office/drawing/2014/main" id="{31C6957C-13EE-4109-942E-A7CCF06EF7F3}"/>
              </a:ext>
            </a:extLst>
          </p:cNvPr>
          <p:cNvSpPr/>
          <p:nvPr/>
        </p:nvSpPr>
        <p:spPr>
          <a:xfrm>
            <a:off x="9293386" y="2880608"/>
            <a:ext cx="2804052" cy="3367788"/>
          </a:xfrm>
          <a:prstGeom prst="rect">
            <a:avLst/>
          </a:prstGeom>
          <a:pattFill prst="pct5">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tlCol="0" anchor="t" anchorCtr="0"/>
          <a:lstStyle/>
          <a:p>
            <a:pPr marL="144145">
              <a:lnSpc>
                <a:spcPct val="150000"/>
              </a:lnSpc>
              <a:buClr>
                <a:schemeClr val="accent1"/>
              </a:buClr>
            </a:pPr>
            <a:r>
              <a:rPr lang="ru-RU" sz="2000" b="0" i="0" dirty="0">
                <a:solidFill>
                  <a:srgbClr val="4E4E4E"/>
                </a:solidFill>
                <a:effectLst/>
                <a:latin typeface="-apple-system"/>
              </a:rPr>
              <a:t>Превращает прототипы предсказаний в работающий автопилот для </a:t>
            </a:r>
            <a:r>
              <a:rPr lang="ru-RU" sz="2000" b="0" i="0" dirty="0" err="1">
                <a:solidFill>
                  <a:srgbClr val="4E4E4E"/>
                </a:solidFill>
                <a:effectLst/>
                <a:latin typeface="-apple-system"/>
              </a:rPr>
              <a:t>продакшена</a:t>
            </a:r>
            <a:r>
              <a:rPr lang="ru-RU" sz="2000" b="0" i="0" dirty="0">
                <a:solidFill>
                  <a:srgbClr val="4E4E4E"/>
                </a:solidFill>
                <a:effectLst/>
                <a:latin typeface="-apple-system"/>
              </a:rPr>
              <a:t>.</a:t>
            </a:r>
            <a:endParaRPr lang="en-US" sz="1600" dirty="0">
              <a:solidFill>
                <a:schemeClr val="dk1"/>
              </a:solidFill>
              <a:latin typeface="Croc" panose="020B0502020203020203" pitchFamily="34" charset="0"/>
              <a:cs typeface="Arial" panose="020B0604020202020204"/>
            </a:endParaRPr>
          </a:p>
        </p:txBody>
      </p:sp>
      <p:sp>
        <p:nvSpPr>
          <p:cNvPr id="26" name="Rectangle 43">
            <a:extLst>
              <a:ext uri="{FF2B5EF4-FFF2-40B4-BE49-F238E27FC236}">
                <a16:creationId xmlns:a16="http://schemas.microsoft.com/office/drawing/2014/main" id="{0D6F7F43-54D9-42FD-BAB8-F03F1F9EABEE}"/>
              </a:ext>
            </a:extLst>
          </p:cNvPr>
          <p:cNvSpPr/>
          <p:nvPr/>
        </p:nvSpPr>
        <p:spPr>
          <a:xfrm>
            <a:off x="3464561" y="2882728"/>
            <a:ext cx="2804052" cy="3367788"/>
          </a:xfrm>
          <a:prstGeom prst="rect">
            <a:avLst/>
          </a:prstGeom>
          <a:pattFill prst="pct5">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tlCol="0" anchor="t" anchorCtr="0"/>
          <a:lstStyle/>
          <a:p>
            <a:pPr marL="144145">
              <a:lnSpc>
                <a:spcPct val="150000"/>
              </a:lnSpc>
              <a:buClr>
                <a:schemeClr val="accent1"/>
              </a:buClr>
            </a:pPr>
            <a:r>
              <a:rPr lang="ru-RU" sz="2000" b="0" i="0" dirty="0">
                <a:solidFill>
                  <a:srgbClr val="4E4E4E"/>
                </a:solidFill>
                <a:effectLst/>
                <a:latin typeface="-apple-system"/>
              </a:rPr>
              <a:t>Ездит по этим дорогам, изучает, что где лежит, и составляет карты (отчеты).</a:t>
            </a:r>
            <a:endParaRPr lang="en-US" sz="1600" dirty="0">
              <a:solidFill>
                <a:schemeClr val="dk1"/>
              </a:solidFill>
              <a:latin typeface="Croc" panose="020B0502020203020203" pitchFamily="34" charset="0"/>
              <a:cs typeface="Arial" panose="020B0604020202020204"/>
            </a:endParaRPr>
          </a:p>
        </p:txBody>
      </p:sp>
      <p:sp>
        <p:nvSpPr>
          <p:cNvPr id="27" name="Rectangle 43">
            <a:extLst>
              <a:ext uri="{FF2B5EF4-FFF2-40B4-BE49-F238E27FC236}">
                <a16:creationId xmlns:a16="http://schemas.microsoft.com/office/drawing/2014/main" id="{D629075E-C80C-4CBA-88F8-EFE8E4941733}"/>
              </a:ext>
            </a:extLst>
          </p:cNvPr>
          <p:cNvSpPr/>
          <p:nvPr/>
        </p:nvSpPr>
        <p:spPr>
          <a:xfrm>
            <a:off x="6367884" y="2882728"/>
            <a:ext cx="2804052" cy="3367788"/>
          </a:xfrm>
          <a:prstGeom prst="rect">
            <a:avLst/>
          </a:prstGeom>
          <a:pattFill prst="pct5">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tlCol="0" anchor="t" anchorCtr="0"/>
          <a:lstStyle/>
          <a:p>
            <a:pPr marL="144145">
              <a:lnSpc>
                <a:spcPct val="150000"/>
              </a:lnSpc>
              <a:buClr>
                <a:schemeClr val="accent1"/>
              </a:buClr>
            </a:pPr>
            <a:r>
              <a:rPr lang="ru-RU" sz="2000" b="0" i="0" dirty="0">
                <a:solidFill>
                  <a:srgbClr val="4E4E4E"/>
                </a:solidFill>
                <a:effectLst/>
                <a:latin typeface="-apple-system"/>
              </a:rPr>
              <a:t>Использует карты, чтобы предсказать, где в будущем построят города (создает модели).</a:t>
            </a:r>
            <a:endParaRPr lang="ru-RU" sz="1600" dirty="0">
              <a:solidFill>
                <a:schemeClr val="dk1"/>
              </a:solidFill>
              <a:latin typeface="Croc" panose="020B0502020203020203" pitchFamily="34" charset="0"/>
              <a:cs typeface="Arial" panose="020B0604020202020204"/>
              <a:sym typeface="Arial" panose="020B0604020202020204"/>
            </a:endParaRPr>
          </a:p>
          <a:p>
            <a:pPr marL="144145">
              <a:buClr>
                <a:schemeClr val="accent1"/>
              </a:buClr>
            </a:pPr>
            <a:endParaRPr lang="en-US" sz="1600" dirty="0">
              <a:solidFill>
                <a:schemeClr val="dk1"/>
              </a:solidFill>
              <a:latin typeface="Croc" panose="020B0502020203020203" pitchFamily="34" charset="0"/>
              <a:cs typeface="Arial" panose="020B0604020202020204"/>
            </a:endParaRPr>
          </a:p>
        </p:txBody>
      </p:sp>
    </p:spTree>
    <p:extLst>
      <p:ext uri="{BB962C8B-B14F-4D97-AF65-F5344CB8AC3E}">
        <p14:creationId xmlns:p14="http://schemas.microsoft.com/office/powerpoint/2010/main" val="4023133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4" name="Прямоугольник 1703"/>
          <p:cNvSpPr/>
          <p:nvPr/>
        </p:nvSpPr>
        <p:spPr>
          <a:xfrm>
            <a:off x="-114299" y="-8692"/>
            <a:ext cx="4448908" cy="6857999"/>
          </a:xfrm>
          <a:prstGeom prst="rect">
            <a:avLst/>
          </a:prstGeom>
          <a:solidFill>
            <a:srgbClr val="6F26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Заголовок 2"/>
          <p:cNvSpPr>
            <a:spLocks noGrp="1"/>
          </p:cNvSpPr>
          <p:nvPr>
            <p:ph type="title"/>
          </p:nvPr>
        </p:nvSpPr>
        <p:spPr>
          <a:xfrm>
            <a:off x="586001" y="474130"/>
            <a:ext cx="10566837" cy="553998"/>
          </a:xfrm>
        </p:spPr>
        <p:txBody>
          <a:bodyPr/>
          <a:lstStyle/>
          <a:p>
            <a:r>
              <a:rPr lang="ru-RU" sz="4000" dirty="0">
                <a:solidFill>
                  <a:schemeClr val="bg1"/>
                </a:solidFill>
                <a:latin typeface="+mn-lt"/>
              </a:rPr>
              <a:t>Задачи </a:t>
            </a:r>
            <a:r>
              <a:rPr lang="en-US" sz="4000" dirty="0">
                <a:solidFill>
                  <a:schemeClr val="bg1"/>
                </a:solidFill>
                <a:latin typeface="+mn-lt"/>
              </a:rPr>
              <a:t>DA</a:t>
            </a:r>
            <a:endParaRPr lang="ru-RU" sz="4000" dirty="0">
              <a:solidFill>
                <a:schemeClr val="bg1"/>
              </a:solidFill>
              <a:latin typeface="+mn-lt"/>
            </a:endParaRPr>
          </a:p>
        </p:txBody>
      </p:sp>
      <p:sp>
        <p:nvSpPr>
          <p:cNvPr id="29" name="TextBox 28"/>
          <p:cNvSpPr txBox="1"/>
          <p:nvPr/>
        </p:nvSpPr>
        <p:spPr>
          <a:xfrm>
            <a:off x="10751893" y="6409366"/>
            <a:ext cx="868101" cy="246221"/>
          </a:xfrm>
          <a:prstGeom prst="rect">
            <a:avLst/>
          </a:prstGeom>
          <a:noFill/>
        </p:spPr>
        <p:txBody>
          <a:bodyPr wrap="square" rIns="0" rtlCol="0" anchor="b">
            <a:spAutoFit/>
          </a:bodyPr>
          <a:lstStyle/>
          <a:p>
            <a:pPr algn="r"/>
            <a:r>
              <a:rPr lang="en-US" sz="1000" dirty="0">
                <a:solidFill>
                  <a:schemeClr val="bg1"/>
                </a:solidFill>
                <a:latin typeface="Croc" panose="020B0502020203020203" pitchFamily="34" charset="0"/>
              </a:rPr>
              <a:t>N</a:t>
            </a:r>
            <a:endParaRPr lang="ru-RU" sz="1000" dirty="0">
              <a:solidFill>
                <a:schemeClr val="bg1"/>
              </a:solidFill>
              <a:latin typeface="Croc" panose="020B0502020203020203" pitchFamily="34" charset="0"/>
            </a:endParaRPr>
          </a:p>
        </p:txBody>
      </p:sp>
      <p:pic>
        <p:nvPicPr>
          <p:cNvPr id="614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51690" y="12834"/>
            <a:ext cx="9836423" cy="6858000"/>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p:cNvSpPr txBox="1"/>
          <p:nvPr/>
        </p:nvSpPr>
        <p:spPr>
          <a:xfrm>
            <a:off x="619913" y="1184361"/>
            <a:ext cx="3952951" cy="4815677"/>
          </a:xfrm>
          <a:prstGeom prst="rect">
            <a:avLst/>
          </a:prstGeom>
          <a:noFill/>
        </p:spPr>
        <p:txBody>
          <a:bodyPr wrap="square">
            <a:spAutoFit/>
          </a:bodyPr>
          <a:lstStyle/>
          <a:p>
            <a:pPr algn="l">
              <a:lnSpc>
                <a:spcPct val="150000"/>
              </a:lnSpc>
              <a:buFont typeface="Arial" panose="020B0604020202020204" pitchFamily="34" charset="0"/>
              <a:buChar char="•"/>
            </a:pPr>
            <a:r>
              <a:rPr lang="en-US" sz="2300" b="0" i="0" dirty="0">
                <a:solidFill>
                  <a:schemeClr val="bg1"/>
                </a:solidFill>
                <a:effectLst/>
                <a:latin typeface="William Text Pro"/>
              </a:rPr>
              <a:t>C</a:t>
            </a:r>
            <a:r>
              <a:rPr lang="ru-RU" sz="2300" b="0" i="0" dirty="0">
                <a:solidFill>
                  <a:schemeClr val="bg1"/>
                </a:solidFill>
                <a:effectLst/>
                <a:latin typeface="William Text Pro"/>
              </a:rPr>
              <a:t>обирает данные </a:t>
            </a:r>
          </a:p>
          <a:p>
            <a:pPr algn="l">
              <a:lnSpc>
                <a:spcPct val="150000"/>
              </a:lnSpc>
              <a:buFont typeface="Arial" panose="020B0604020202020204" pitchFamily="34" charset="0"/>
              <a:buChar char="•"/>
            </a:pPr>
            <a:r>
              <a:rPr lang="ru-RU" sz="2300" b="0" i="0" dirty="0">
                <a:solidFill>
                  <a:schemeClr val="bg1"/>
                </a:solidFill>
                <a:effectLst/>
                <a:latin typeface="William Text Pro"/>
              </a:rPr>
              <a:t>Знакомится с параметрами набора</a:t>
            </a:r>
          </a:p>
          <a:p>
            <a:pPr algn="l">
              <a:lnSpc>
                <a:spcPct val="150000"/>
              </a:lnSpc>
              <a:buFont typeface="Arial" panose="020B0604020202020204" pitchFamily="34" charset="0"/>
              <a:buChar char="•"/>
            </a:pPr>
            <a:r>
              <a:rPr lang="ru-RU" sz="2300" b="0" i="0" dirty="0">
                <a:solidFill>
                  <a:schemeClr val="bg1"/>
                </a:solidFill>
                <a:effectLst/>
                <a:latin typeface="William Text Pro"/>
              </a:rPr>
              <a:t>Проводит предварительную обработку данных</a:t>
            </a:r>
          </a:p>
          <a:p>
            <a:pPr algn="l">
              <a:lnSpc>
                <a:spcPct val="150000"/>
              </a:lnSpc>
              <a:buFont typeface="Arial" panose="020B0604020202020204" pitchFamily="34" charset="0"/>
              <a:buChar char="•"/>
            </a:pPr>
            <a:r>
              <a:rPr lang="ru-RU" sz="2300" b="0" i="0" dirty="0">
                <a:solidFill>
                  <a:schemeClr val="bg1"/>
                </a:solidFill>
                <a:effectLst/>
                <a:latin typeface="William Text Pro"/>
              </a:rPr>
              <a:t>Интерпретирует </a:t>
            </a:r>
          </a:p>
          <a:p>
            <a:pPr algn="l">
              <a:lnSpc>
                <a:spcPct val="150000"/>
              </a:lnSpc>
              <a:buFont typeface="Arial" panose="020B0604020202020204" pitchFamily="34" charset="0"/>
              <a:buChar char="•"/>
            </a:pPr>
            <a:r>
              <a:rPr lang="ru-RU" sz="2300" dirty="0">
                <a:solidFill>
                  <a:schemeClr val="bg1"/>
                </a:solidFill>
                <a:latin typeface="William Text Pro"/>
              </a:rPr>
              <a:t>Д</a:t>
            </a:r>
            <a:r>
              <a:rPr lang="ru-RU" sz="2300" b="0" i="0" dirty="0">
                <a:solidFill>
                  <a:schemeClr val="bg1"/>
                </a:solidFill>
                <a:effectLst/>
                <a:latin typeface="William Text Pro"/>
              </a:rPr>
              <a:t>елает выводы</a:t>
            </a:r>
          </a:p>
          <a:p>
            <a:pPr algn="l">
              <a:lnSpc>
                <a:spcPct val="150000"/>
              </a:lnSpc>
              <a:buFont typeface="Arial" panose="020B0604020202020204" pitchFamily="34" charset="0"/>
              <a:buChar char="•"/>
            </a:pPr>
            <a:r>
              <a:rPr lang="ru-RU" sz="2300" b="0" i="0" dirty="0">
                <a:solidFill>
                  <a:schemeClr val="bg1"/>
                </a:solidFill>
                <a:effectLst/>
                <a:latin typeface="William Text Pro"/>
              </a:rPr>
              <a:t>Визуализирует</a:t>
            </a:r>
          </a:p>
          <a:p>
            <a:pPr algn="l">
              <a:lnSpc>
                <a:spcPct val="150000"/>
              </a:lnSpc>
              <a:buFont typeface="Arial" panose="020B0604020202020204" pitchFamily="34" charset="0"/>
              <a:buChar char="•"/>
            </a:pPr>
            <a:r>
              <a:rPr lang="ru-RU" sz="2300" b="1" dirty="0">
                <a:solidFill>
                  <a:schemeClr val="bg1"/>
                </a:solidFill>
                <a:latin typeface="William Text Pro"/>
              </a:rPr>
              <a:t>Иногда строит модели </a:t>
            </a:r>
            <a:r>
              <a:rPr lang="en-US" sz="2300" b="1" dirty="0">
                <a:solidFill>
                  <a:schemeClr val="bg1"/>
                </a:solidFill>
                <a:latin typeface="William Text Pro"/>
              </a:rPr>
              <a:t>ML</a:t>
            </a:r>
            <a:endParaRPr lang="ru-RU" sz="2300" b="1" i="0" dirty="0">
              <a:solidFill>
                <a:schemeClr val="bg1"/>
              </a:solidFill>
              <a:effectLst/>
              <a:latin typeface="William Text Pr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0"/>
          <p:cNvSpPr/>
          <p:nvPr/>
        </p:nvSpPr>
        <p:spPr>
          <a:xfrm>
            <a:off x="7817476" y="1"/>
            <a:ext cx="4374524" cy="6857999"/>
          </a:xfrm>
          <a:prstGeom prst="rect">
            <a:avLst/>
          </a:prstGeom>
          <a:solidFill>
            <a:srgbClr val="6F26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186" name="Google Shape;186;p10"/>
          <p:cNvSpPr txBox="1">
            <a:spLocks noGrp="1"/>
          </p:cNvSpPr>
          <p:nvPr>
            <p:ph type="title"/>
          </p:nvPr>
        </p:nvSpPr>
        <p:spPr>
          <a:xfrm>
            <a:off x="432715" y="148212"/>
            <a:ext cx="10566837" cy="498598"/>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rgbClr val="3A393C"/>
              </a:buClr>
              <a:buSzPts val="2800"/>
              <a:buFont typeface="Arial" panose="020B0604020202020204"/>
              <a:buNone/>
            </a:pPr>
            <a:r>
              <a:rPr lang="ru-RU" dirty="0" err="1">
                <a:solidFill>
                  <a:schemeClr val="dk1"/>
                </a:solidFill>
              </a:rPr>
              <a:t>Summary</a:t>
            </a:r>
            <a:r>
              <a:rPr lang="ru-RU" dirty="0">
                <a:solidFill>
                  <a:schemeClr val="dk1"/>
                </a:solidFill>
              </a:rPr>
              <a:t> Универсального солдата</a:t>
            </a:r>
          </a:p>
        </p:txBody>
      </p:sp>
      <p:sp>
        <p:nvSpPr>
          <p:cNvPr id="187" name="Google Shape;187;p10"/>
          <p:cNvSpPr txBox="1"/>
          <p:nvPr/>
        </p:nvSpPr>
        <p:spPr>
          <a:xfrm>
            <a:off x="10751893" y="6409366"/>
            <a:ext cx="868101" cy="246221"/>
          </a:xfrm>
          <a:prstGeom prst="rect">
            <a:avLst/>
          </a:prstGeom>
          <a:noFill/>
          <a:ln>
            <a:noFill/>
          </a:ln>
        </p:spPr>
        <p:txBody>
          <a:bodyPr spcFirstLastPara="1" wrap="square" lIns="91425" tIns="45700" rIns="0" bIns="45700" anchor="b" anchorCtr="0">
            <a:spAutoFit/>
          </a:bodyPr>
          <a:lstStyle/>
          <a:p>
            <a:pPr marL="0" marR="0" lvl="0" indent="0" algn="r" rtl="0">
              <a:spcBef>
                <a:spcPts val="0"/>
              </a:spcBef>
              <a:spcAft>
                <a:spcPts val="0"/>
              </a:spcAft>
              <a:buNone/>
            </a:pPr>
            <a:r>
              <a:rPr lang="ru-RU" sz="1000">
                <a:solidFill>
                  <a:srgbClr val="242425"/>
                </a:solidFill>
                <a:latin typeface="Arial" panose="020B0604020202020204"/>
                <a:ea typeface="Arial" panose="020B0604020202020204"/>
                <a:cs typeface="Arial" panose="020B0604020202020204"/>
                <a:sym typeface="Arial" panose="020B0604020202020204"/>
              </a:rPr>
              <a:t>N</a:t>
            </a:r>
            <a:endParaRPr sz="1000">
              <a:solidFill>
                <a:srgbClr val="242425"/>
              </a:solidFill>
              <a:latin typeface="Arial" panose="020B0604020202020204"/>
              <a:ea typeface="Arial" panose="020B0604020202020204"/>
              <a:cs typeface="Arial" panose="020B0604020202020204"/>
              <a:sym typeface="Arial" panose="020B0604020202020204"/>
            </a:endParaRPr>
          </a:p>
        </p:txBody>
      </p:sp>
      <p:sp>
        <p:nvSpPr>
          <p:cNvPr id="189" name="Google Shape;189;p10"/>
          <p:cNvSpPr txBox="1"/>
          <p:nvPr/>
        </p:nvSpPr>
        <p:spPr>
          <a:xfrm>
            <a:off x="501899" y="1107518"/>
            <a:ext cx="7049363" cy="5262939"/>
          </a:xfrm>
          <a:prstGeom prst="rect">
            <a:avLst/>
          </a:prstGeom>
          <a:noFill/>
          <a:ln>
            <a:noFill/>
          </a:ln>
        </p:spPr>
        <p:txBody>
          <a:bodyPr spcFirstLastPara="1" wrap="square" lIns="91425" tIns="45700" rIns="91425" bIns="45700" anchor="t" anchorCtr="0">
            <a:spAutoFit/>
          </a:bodyPr>
          <a:lstStyle/>
          <a:p>
            <a:pPr marL="0" marR="0" lvl="0" indent="-152400" algn="l" rtl="0">
              <a:lnSpc>
                <a:spcPct val="200000"/>
              </a:lnSpc>
              <a:spcBef>
                <a:spcPts val="0"/>
              </a:spcBef>
              <a:spcAft>
                <a:spcPts val="0"/>
              </a:spcAft>
              <a:buClr>
                <a:srgbClr val="000000"/>
              </a:buClr>
              <a:buSzPts val="2400"/>
              <a:buFont typeface="Arial" panose="020B0604020202020204"/>
              <a:buChar char="•"/>
            </a:pPr>
            <a:r>
              <a:rPr lang="ru-RU" sz="2400" b="0" i="0" dirty="0">
                <a:solidFill>
                  <a:srgbClr val="000000"/>
                </a:solidFill>
                <a:latin typeface="Arial" panose="020B0604020202020204"/>
                <a:ea typeface="Arial" panose="020B0604020202020204"/>
                <a:cs typeface="Arial" panose="020B0604020202020204"/>
                <a:sym typeface="Arial" panose="020B0604020202020204"/>
              </a:rPr>
              <a:t>понимать теорию вероятности и математическую статистику </a:t>
            </a:r>
            <a:endParaRPr sz="2400" b="0" i="0" dirty="0">
              <a:solidFill>
                <a:srgbClr val="000000"/>
              </a:solidFill>
              <a:latin typeface="Arial" panose="020B0604020202020204"/>
              <a:ea typeface="Arial" panose="020B0604020202020204"/>
              <a:cs typeface="Arial" panose="020B0604020202020204"/>
              <a:sym typeface="Arial" panose="020B0604020202020204"/>
            </a:endParaRPr>
          </a:p>
          <a:p>
            <a:pPr marL="0" marR="0" lvl="0" indent="-152400" algn="l" rtl="0">
              <a:lnSpc>
                <a:spcPct val="200000"/>
              </a:lnSpc>
              <a:spcBef>
                <a:spcPts val="0"/>
              </a:spcBef>
              <a:spcAft>
                <a:spcPts val="0"/>
              </a:spcAft>
              <a:buClr>
                <a:srgbClr val="000000"/>
              </a:buClr>
              <a:buSzPts val="2400"/>
              <a:buFont typeface="Arial" panose="020B0604020202020204"/>
              <a:buChar char="•"/>
            </a:pPr>
            <a:r>
              <a:rPr lang="ru-RU" sz="2400" b="0" i="0" dirty="0">
                <a:solidFill>
                  <a:srgbClr val="000000"/>
                </a:solidFill>
                <a:latin typeface="Arial" panose="020B0604020202020204"/>
                <a:ea typeface="Arial" panose="020B0604020202020204"/>
                <a:cs typeface="Arial" panose="020B0604020202020204"/>
                <a:sym typeface="Arial" panose="020B0604020202020204"/>
              </a:rPr>
              <a:t>иметь математическую культуру </a:t>
            </a:r>
            <a:endParaRPr sz="2400" b="0" i="0" dirty="0">
              <a:solidFill>
                <a:srgbClr val="000000"/>
              </a:solidFill>
              <a:latin typeface="Arial" panose="020B0604020202020204"/>
              <a:ea typeface="Arial" panose="020B0604020202020204"/>
              <a:cs typeface="Arial" panose="020B0604020202020204"/>
              <a:sym typeface="Arial" panose="020B0604020202020204"/>
            </a:endParaRPr>
          </a:p>
          <a:p>
            <a:pPr marL="0" marR="0" lvl="0" indent="-152400" algn="l" rtl="0">
              <a:lnSpc>
                <a:spcPct val="200000"/>
              </a:lnSpc>
              <a:spcBef>
                <a:spcPts val="0"/>
              </a:spcBef>
              <a:spcAft>
                <a:spcPts val="0"/>
              </a:spcAft>
              <a:buClr>
                <a:srgbClr val="000000"/>
              </a:buClr>
              <a:buSzPts val="2400"/>
              <a:buFont typeface="Arial" panose="020B0604020202020204"/>
              <a:buChar char="•"/>
            </a:pPr>
            <a:r>
              <a:rPr lang="ru-RU" sz="2400" b="0" i="0" dirty="0">
                <a:solidFill>
                  <a:srgbClr val="000000"/>
                </a:solidFill>
                <a:latin typeface="Arial" panose="020B0604020202020204"/>
                <a:ea typeface="Arial" panose="020B0604020202020204"/>
                <a:cs typeface="Arial" panose="020B0604020202020204"/>
                <a:sym typeface="Arial" panose="020B0604020202020204"/>
              </a:rPr>
              <a:t>обладать критическим мышлением </a:t>
            </a:r>
            <a:endParaRPr sz="2400" b="0" i="0" dirty="0">
              <a:solidFill>
                <a:srgbClr val="000000"/>
              </a:solidFill>
              <a:latin typeface="Arial" panose="020B0604020202020204"/>
              <a:ea typeface="Arial" panose="020B0604020202020204"/>
              <a:cs typeface="Arial" panose="020B0604020202020204"/>
              <a:sym typeface="Arial" panose="020B0604020202020204"/>
            </a:endParaRPr>
          </a:p>
          <a:p>
            <a:pPr marL="0" marR="0" lvl="0" indent="-152400" algn="l" rtl="0">
              <a:lnSpc>
                <a:spcPct val="200000"/>
              </a:lnSpc>
              <a:spcBef>
                <a:spcPts val="0"/>
              </a:spcBef>
              <a:spcAft>
                <a:spcPts val="0"/>
              </a:spcAft>
              <a:buClr>
                <a:srgbClr val="000000"/>
              </a:buClr>
              <a:buSzPts val="2400"/>
              <a:buFont typeface="Arial" panose="020B0604020202020204"/>
              <a:buChar char="•"/>
            </a:pPr>
            <a:r>
              <a:rPr lang="ru-RU" sz="2400" b="0" i="0" dirty="0">
                <a:solidFill>
                  <a:srgbClr val="000000"/>
                </a:solidFill>
                <a:latin typeface="Arial" panose="020B0604020202020204"/>
                <a:ea typeface="Arial" panose="020B0604020202020204"/>
                <a:cs typeface="Arial" panose="020B0604020202020204"/>
                <a:sym typeface="Arial" panose="020B0604020202020204"/>
              </a:rPr>
              <a:t>обладать продуктовым мышлением </a:t>
            </a:r>
            <a:endParaRPr sz="2400" b="0" i="0" dirty="0">
              <a:solidFill>
                <a:srgbClr val="000000"/>
              </a:solidFill>
              <a:latin typeface="Arial" panose="020B0604020202020204"/>
              <a:ea typeface="Arial" panose="020B0604020202020204"/>
              <a:cs typeface="Arial" panose="020B0604020202020204"/>
              <a:sym typeface="Arial" panose="020B0604020202020204"/>
            </a:endParaRPr>
          </a:p>
          <a:p>
            <a:pPr marL="0" marR="0" lvl="0" indent="-152400" algn="l" rtl="0">
              <a:lnSpc>
                <a:spcPct val="200000"/>
              </a:lnSpc>
              <a:spcBef>
                <a:spcPts val="0"/>
              </a:spcBef>
              <a:spcAft>
                <a:spcPts val="0"/>
              </a:spcAft>
              <a:buClr>
                <a:srgbClr val="000000"/>
              </a:buClr>
              <a:buSzPts val="2400"/>
              <a:buFont typeface="Arial" panose="020B0604020202020204"/>
              <a:buChar char="•"/>
            </a:pPr>
            <a:r>
              <a:rPr lang="ru-RU" sz="2400" b="0" i="0" dirty="0">
                <a:solidFill>
                  <a:srgbClr val="000000"/>
                </a:solidFill>
                <a:latin typeface="Arial" panose="020B0604020202020204"/>
                <a:ea typeface="Arial" panose="020B0604020202020204"/>
                <a:cs typeface="Arial" panose="020B0604020202020204"/>
                <a:sym typeface="Arial" panose="020B0604020202020204"/>
              </a:rPr>
              <a:t>обладать бизнесовым мышлением </a:t>
            </a:r>
            <a:endParaRPr sz="2400" b="0" i="0" dirty="0">
              <a:solidFill>
                <a:srgbClr val="000000"/>
              </a:solidFill>
              <a:latin typeface="Arial" panose="020B0604020202020204"/>
              <a:ea typeface="Arial" panose="020B0604020202020204"/>
              <a:cs typeface="Arial" panose="020B0604020202020204"/>
              <a:sym typeface="Arial" panose="020B0604020202020204"/>
            </a:endParaRPr>
          </a:p>
          <a:p>
            <a:pPr marL="0" marR="0" lvl="0" indent="-152400" algn="l" rtl="0">
              <a:lnSpc>
                <a:spcPct val="200000"/>
              </a:lnSpc>
              <a:spcBef>
                <a:spcPts val="0"/>
              </a:spcBef>
              <a:spcAft>
                <a:spcPts val="0"/>
              </a:spcAft>
              <a:buClr>
                <a:srgbClr val="000000"/>
              </a:buClr>
              <a:buSzPts val="2400"/>
              <a:buFont typeface="Arial" panose="020B0604020202020204"/>
              <a:buChar char="•"/>
            </a:pPr>
            <a:r>
              <a:rPr lang="ru-RU" sz="2400" b="0" i="0" dirty="0">
                <a:solidFill>
                  <a:srgbClr val="000000"/>
                </a:solidFill>
                <a:latin typeface="Arial" panose="020B0604020202020204"/>
                <a:ea typeface="Arial" panose="020B0604020202020204"/>
                <a:cs typeface="Arial" panose="020B0604020202020204"/>
                <a:sym typeface="Arial" panose="020B0604020202020204"/>
              </a:rPr>
              <a:t>быть технарем (наверное)</a:t>
            </a:r>
            <a:endParaRPr dirty="0"/>
          </a:p>
        </p:txBody>
      </p:sp>
      <p:pic>
        <p:nvPicPr>
          <p:cNvPr id="190" name="Google Shape;190;p10" descr="Универсальный солдат Фотогалерея кадры из фильма Дольф Лундгрен, (id 56652  большой раземер) кадры из фильма Дольф Лундгрен"/>
          <p:cNvPicPr preferRelativeResize="0"/>
          <p:nvPr/>
        </p:nvPicPr>
        <p:blipFill rotWithShape="1">
          <a:blip r:embed="rId3"/>
          <a:srcRect/>
          <a:stretch>
            <a:fillRect/>
          </a:stretch>
        </p:blipFill>
        <p:spPr>
          <a:xfrm>
            <a:off x="8250073" y="671637"/>
            <a:ext cx="3675713" cy="551908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21" name="object 4"/>
          <p:cNvSpPr/>
          <p:nvPr/>
        </p:nvSpPr>
        <p:spPr>
          <a:xfrm>
            <a:off x="0" y="0"/>
            <a:ext cx="12192001" cy="6858000"/>
          </a:xfrm>
          <a:custGeom>
            <a:avLst/>
            <a:gdLst/>
            <a:ahLst/>
            <a:cxnLst/>
            <a:rect l="l" t="t" r="r" b="b"/>
            <a:pathLst>
              <a:path w="10059670" h="5655310">
                <a:moveTo>
                  <a:pt x="0" y="5655289"/>
                </a:moveTo>
                <a:lnTo>
                  <a:pt x="10059346" y="5655289"/>
                </a:lnTo>
                <a:lnTo>
                  <a:pt x="10059346" y="0"/>
                </a:lnTo>
                <a:lnTo>
                  <a:pt x="0" y="0"/>
                </a:lnTo>
                <a:lnTo>
                  <a:pt x="0" y="5655289"/>
                </a:lnTo>
                <a:close/>
              </a:path>
            </a:pathLst>
          </a:custGeom>
          <a:solidFill>
            <a:srgbClr val="6F26E2"/>
          </a:solidFill>
        </p:spPr>
        <p:txBody>
          <a:bodyPr wrap="square" lIns="0" tIns="0" rIns="0" bIns="0" rtlCol="0"/>
          <a:lstStyle/>
          <a:p>
            <a:endParaRPr dirty="0"/>
          </a:p>
        </p:txBody>
      </p:sp>
      <p:graphicFrame>
        <p:nvGraphicFramePr>
          <p:cNvPr id="2" name="Объект 1"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78" name="think-cell Slide" r:id="rId5" imgW="5715" imgH="5715" progId="TCLayout.ActiveDocument.1">
                  <p:embed/>
                </p:oleObj>
              </mc:Choice>
              <mc:Fallback>
                <p:oleObj name="think-cell Slide" r:id="rId5" imgW="5715" imgH="5715" progId="TCLayout.ActiveDocument.1">
                  <p:embed/>
                  <p:pic>
                    <p:nvPicPr>
                      <p:cNvPr id="0" name="Объект 1"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1" name="Rectangle 41"/>
          <p:cNvSpPr/>
          <p:nvPr/>
        </p:nvSpPr>
        <p:spPr>
          <a:xfrm>
            <a:off x="854691" y="3527234"/>
            <a:ext cx="3469549" cy="2856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rtlCol="0" anchor="t" anchorCtr="0"/>
          <a:lstStyle/>
          <a:p>
            <a:pPr marR="0" lvl="0" algn="l" rtl="0">
              <a:spcBef>
                <a:spcPts val="0"/>
              </a:spcBef>
              <a:spcAft>
                <a:spcPts val="1000"/>
              </a:spcAft>
              <a:buClr>
                <a:schemeClr val="accent1"/>
              </a:buClr>
              <a:buSzPts val="1400"/>
            </a:pPr>
            <a:r>
              <a:rPr lang="en-US" sz="2400" dirty="0">
                <a:solidFill>
                  <a:srgbClr val="4E4D51"/>
                </a:solidFill>
                <a:latin typeface="Croc" panose="020B0502020203020203" pitchFamily="34" charset="0"/>
                <a:sym typeface="Arial" panose="020B0604020202020204"/>
              </a:rPr>
              <a:t>SQL</a:t>
            </a:r>
            <a:r>
              <a:rPr lang="ru-RU" sz="2400" dirty="0">
                <a:solidFill>
                  <a:srgbClr val="4E4D51"/>
                </a:solidFill>
                <a:latin typeface="Croc" panose="020B0502020203020203" pitchFamily="34" charset="0"/>
                <a:sym typeface="Arial" panose="020B0604020202020204"/>
              </a:rPr>
              <a:t> и БД</a:t>
            </a:r>
            <a:endParaRPr lang="en-US" sz="2400" dirty="0">
              <a:solidFill>
                <a:srgbClr val="4E4D51"/>
              </a:solidFill>
              <a:latin typeface="Croc" panose="020B0502020203020203" pitchFamily="34" charset="0"/>
              <a:sym typeface="Arial" panose="020B0604020202020204"/>
            </a:endParaRPr>
          </a:p>
          <a:p>
            <a:pPr marR="0" lvl="0" algn="l" rtl="0">
              <a:spcBef>
                <a:spcPts val="0"/>
              </a:spcBef>
              <a:spcAft>
                <a:spcPts val="1000"/>
              </a:spcAft>
              <a:buClr>
                <a:schemeClr val="accent1"/>
              </a:buClr>
              <a:buSzPts val="1400"/>
            </a:pPr>
            <a:r>
              <a:rPr lang="en-US" sz="2400" dirty="0">
                <a:solidFill>
                  <a:srgbClr val="4E4D51"/>
                </a:solidFill>
                <a:latin typeface="Croc" panose="020B0502020203020203" pitchFamily="34" charset="0"/>
                <a:sym typeface="Arial" panose="020B0604020202020204"/>
              </a:rPr>
              <a:t>EXCEL</a:t>
            </a:r>
          </a:p>
          <a:p>
            <a:pPr marR="0" lvl="0" algn="l" rtl="0">
              <a:spcBef>
                <a:spcPts val="0"/>
              </a:spcBef>
              <a:spcAft>
                <a:spcPts val="1000"/>
              </a:spcAft>
              <a:buClr>
                <a:schemeClr val="accent1"/>
              </a:buClr>
              <a:buSzPts val="1400"/>
            </a:pPr>
            <a:r>
              <a:rPr lang="ru-RU" sz="2400" dirty="0">
                <a:solidFill>
                  <a:srgbClr val="4E4D51"/>
                </a:solidFill>
                <a:latin typeface="Croc" panose="020B0502020203020203" pitchFamily="34" charset="0"/>
                <a:sym typeface="Arial" panose="020B0604020202020204"/>
              </a:rPr>
              <a:t>Базовый </a:t>
            </a:r>
            <a:r>
              <a:rPr lang="en-US" sz="2400" dirty="0">
                <a:solidFill>
                  <a:srgbClr val="4E4D51"/>
                </a:solidFill>
                <a:latin typeface="Croc" panose="020B0502020203020203" pitchFamily="34" charset="0"/>
                <a:sym typeface="Arial" panose="020B0604020202020204"/>
              </a:rPr>
              <a:t>BA</a:t>
            </a:r>
          </a:p>
          <a:p>
            <a:pPr marR="0" lvl="0" algn="l" rtl="0">
              <a:spcBef>
                <a:spcPts val="0"/>
              </a:spcBef>
              <a:spcAft>
                <a:spcPts val="1000"/>
              </a:spcAft>
              <a:buClr>
                <a:schemeClr val="accent1"/>
              </a:buClr>
              <a:buSzPts val="1400"/>
            </a:pPr>
            <a:r>
              <a:rPr lang="ru-RU" sz="2400" dirty="0">
                <a:solidFill>
                  <a:srgbClr val="4E4D51"/>
                </a:solidFill>
                <a:latin typeface="Croc" panose="020B0502020203020203" pitchFamily="34" charset="0"/>
                <a:sym typeface="Arial" panose="020B0604020202020204"/>
              </a:rPr>
              <a:t>Базовая статистика</a:t>
            </a:r>
            <a:endParaRPr lang="ru-RU" sz="2400" dirty="0">
              <a:solidFill>
                <a:schemeClr val="dk1"/>
              </a:solidFill>
              <a:latin typeface="Croc" panose="020B0502020203020203" pitchFamily="34" charset="0"/>
              <a:sym typeface="Arial" panose="020B0604020202020204"/>
            </a:endParaRPr>
          </a:p>
        </p:txBody>
      </p:sp>
      <p:sp>
        <p:nvSpPr>
          <p:cNvPr id="12" name="Rectangle 43"/>
          <p:cNvSpPr/>
          <p:nvPr/>
        </p:nvSpPr>
        <p:spPr>
          <a:xfrm>
            <a:off x="4330173" y="3016081"/>
            <a:ext cx="3481510" cy="3367788"/>
          </a:xfrm>
          <a:prstGeom prst="rect">
            <a:avLst/>
          </a:prstGeom>
          <a:pattFill prst="pct5">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tlCol="0" anchor="t" anchorCtr="0"/>
          <a:lstStyle/>
          <a:p>
            <a:pPr marL="144145">
              <a:lnSpc>
                <a:spcPct val="150000"/>
              </a:lnSpc>
              <a:buClr>
                <a:schemeClr val="accent1"/>
              </a:buClr>
            </a:pPr>
            <a:r>
              <a:rPr lang="en-US" sz="2000" dirty="0">
                <a:solidFill>
                  <a:schemeClr val="dk1"/>
                </a:solidFill>
                <a:latin typeface="Croc" panose="020B0502020203020203" pitchFamily="34" charset="0"/>
                <a:cs typeface="Arial" panose="020B0604020202020204"/>
                <a:sym typeface="Arial" panose="020B0604020202020204"/>
              </a:rPr>
              <a:t>Python</a:t>
            </a:r>
          </a:p>
          <a:p>
            <a:pPr marL="144145">
              <a:lnSpc>
                <a:spcPct val="150000"/>
              </a:lnSpc>
              <a:buClr>
                <a:schemeClr val="accent1"/>
              </a:buClr>
            </a:pPr>
            <a:r>
              <a:rPr lang="en-US" sz="2000" dirty="0">
                <a:solidFill>
                  <a:schemeClr val="dk1"/>
                </a:solidFill>
                <a:latin typeface="Croc" panose="020B0502020203020203" pitchFamily="34" charset="0"/>
                <a:cs typeface="Arial" panose="020B0604020202020204"/>
                <a:sym typeface="Arial" panose="020B0604020202020204"/>
              </a:rPr>
              <a:t>Pandas</a:t>
            </a:r>
          </a:p>
          <a:p>
            <a:pPr marL="144145">
              <a:lnSpc>
                <a:spcPct val="150000"/>
              </a:lnSpc>
              <a:buClr>
                <a:schemeClr val="accent1"/>
              </a:buClr>
            </a:pPr>
            <a:r>
              <a:rPr lang="en-US" sz="2000" dirty="0">
                <a:solidFill>
                  <a:schemeClr val="dk1"/>
                </a:solidFill>
                <a:latin typeface="Croc" panose="020B0502020203020203" pitchFamily="34" charset="0"/>
                <a:cs typeface="Arial" panose="020B0604020202020204"/>
                <a:sym typeface="Arial" panose="020B0604020202020204"/>
              </a:rPr>
              <a:t>API</a:t>
            </a:r>
          </a:p>
          <a:p>
            <a:pPr marL="144145">
              <a:lnSpc>
                <a:spcPct val="150000"/>
              </a:lnSpc>
              <a:buClr>
                <a:schemeClr val="accent1"/>
              </a:buClr>
            </a:pPr>
            <a:r>
              <a:rPr lang="en-US" sz="2000" dirty="0">
                <a:solidFill>
                  <a:schemeClr val="dk1"/>
                </a:solidFill>
                <a:latin typeface="Croc" panose="020B0502020203020203" pitchFamily="34" charset="0"/>
                <a:cs typeface="Arial" panose="020B0604020202020204"/>
                <a:sym typeface="Arial" panose="020B0604020202020204"/>
              </a:rPr>
              <a:t>SQL, NOSQL</a:t>
            </a:r>
          </a:p>
          <a:p>
            <a:pPr marL="144145">
              <a:lnSpc>
                <a:spcPct val="150000"/>
              </a:lnSpc>
              <a:buClr>
                <a:schemeClr val="accent1"/>
              </a:buClr>
            </a:pPr>
            <a:r>
              <a:rPr lang="ru-RU" sz="2000" dirty="0" err="1">
                <a:solidFill>
                  <a:schemeClr val="dk1"/>
                </a:solidFill>
                <a:latin typeface="Croc" panose="020B0502020203020203" pitchFamily="34" charset="0"/>
                <a:cs typeface="Arial" panose="020B0604020202020204"/>
                <a:sym typeface="Arial" panose="020B0604020202020204"/>
              </a:rPr>
              <a:t>Дашборды</a:t>
            </a:r>
            <a:endParaRPr lang="ru-RU" sz="2000" dirty="0">
              <a:solidFill>
                <a:schemeClr val="dk1"/>
              </a:solidFill>
              <a:latin typeface="Croc" panose="020B0502020203020203" pitchFamily="34" charset="0"/>
              <a:cs typeface="Arial" panose="020B0604020202020204"/>
              <a:sym typeface="Arial" panose="020B0604020202020204"/>
            </a:endParaRPr>
          </a:p>
          <a:p>
            <a:pPr marL="144145">
              <a:lnSpc>
                <a:spcPct val="150000"/>
              </a:lnSpc>
              <a:buClr>
                <a:schemeClr val="accent1"/>
              </a:buClr>
            </a:pPr>
            <a:r>
              <a:rPr lang="ru-RU" sz="2000" dirty="0">
                <a:solidFill>
                  <a:schemeClr val="dk1"/>
                </a:solidFill>
                <a:latin typeface="Croc" panose="020B0502020203020203" pitchFamily="34" charset="0"/>
                <a:cs typeface="Arial" panose="020B0604020202020204"/>
                <a:sym typeface="Arial" panose="020B0604020202020204"/>
              </a:rPr>
              <a:t>Средний уровень статистики</a:t>
            </a:r>
          </a:p>
          <a:p>
            <a:pPr marL="144145">
              <a:buClr>
                <a:schemeClr val="accent1"/>
              </a:buClr>
            </a:pPr>
            <a:r>
              <a:rPr lang="ru-RU" sz="2000" dirty="0">
                <a:solidFill>
                  <a:schemeClr val="dk1"/>
                </a:solidFill>
                <a:latin typeface="Croc" panose="020B0502020203020203" pitchFamily="34" charset="0"/>
                <a:cs typeface="Arial" panose="020B0604020202020204"/>
                <a:sym typeface="Arial" panose="020B0604020202020204"/>
              </a:rPr>
              <a:t>Средний уровень </a:t>
            </a:r>
            <a:r>
              <a:rPr lang="en-US" sz="2000" dirty="0">
                <a:solidFill>
                  <a:schemeClr val="dk1"/>
                </a:solidFill>
                <a:latin typeface="Croc" panose="020B0502020203020203" pitchFamily="34" charset="0"/>
                <a:cs typeface="Arial" panose="020B0604020202020204"/>
                <a:sym typeface="Arial" panose="020B0604020202020204"/>
              </a:rPr>
              <a:t>BA, SA</a:t>
            </a:r>
          </a:p>
          <a:p>
            <a:pPr marL="144145">
              <a:buClr>
                <a:schemeClr val="accent1"/>
              </a:buClr>
            </a:pPr>
            <a:endParaRPr lang="ru-RU" sz="1600" dirty="0">
              <a:solidFill>
                <a:schemeClr val="dk1"/>
              </a:solidFill>
              <a:latin typeface="Croc" panose="020B0502020203020203" pitchFamily="34" charset="0"/>
              <a:cs typeface="Arial" panose="020B0604020202020204"/>
              <a:sym typeface="Arial" panose="020B0604020202020204"/>
            </a:endParaRPr>
          </a:p>
          <a:p>
            <a:pPr marL="144145">
              <a:buClr>
                <a:schemeClr val="accent1"/>
              </a:buClr>
            </a:pPr>
            <a:endParaRPr lang="en-US" sz="1600" dirty="0">
              <a:solidFill>
                <a:schemeClr val="dk1"/>
              </a:solidFill>
              <a:latin typeface="Croc" panose="020B0502020203020203" pitchFamily="34" charset="0"/>
              <a:cs typeface="Arial" panose="020B0604020202020204"/>
            </a:endParaRPr>
          </a:p>
        </p:txBody>
      </p:sp>
      <p:sp>
        <p:nvSpPr>
          <p:cNvPr id="13" name="Rectangle 45"/>
          <p:cNvSpPr/>
          <p:nvPr/>
        </p:nvSpPr>
        <p:spPr>
          <a:xfrm>
            <a:off x="7774915" y="2504927"/>
            <a:ext cx="3481510" cy="38789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tlCol="0" anchor="t" anchorCtr="0"/>
          <a:lstStyle/>
          <a:p>
            <a:pPr marL="144145">
              <a:lnSpc>
                <a:spcPct val="150000"/>
              </a:lnSpc>
              <a:buClr>
                <a:schemeClr val="accent1"/>
              </a:buClr>
            </a:pPr>
            <a:r>
              <a:rPr lang="en-US" dirty="0">
                <a:solidFill>
                  <a:schemeClr val="dk1"/>
                </a:solidFill>
                <a:latin typeface="Croc" panose="020B0502020203020203" pitchFamily="34" charset="0"/>
                <a:cs typeface="Arial" panose="020B0604020202020204"/>
                <a:sym typeface="Arial" panose="020B0604020202020204"/>
              </a:rPr>
              <a:t>Python</a:t>
            </a:r>
          </a:p>
          <a:p>
            <a:pPr marL="144145">
              <a:lnSpc>
                <a:spcPct val="150000"/>
              </a:lnSpc>
              <a:buClr>
                <a:schemeClr val="accent1"/>
              </a:buClr>
            </a:pPr>
            <a:r>
              <a:rPr lang="en-US" dirty="0">
                <a:solidFill>
                  <a:schemeClr val="dk1"/>
                </a:solidFill>
                <a:latin typeface="Croc" panose="020B0502020203020203" pitchFamily="34" charset="0"/>
                <a:cs typeface="Arial" panose="020B0604020202020204"/>
                <a:sym typeface="Arial" panose="020B0604020202020204"/>
              </a:rPr>
              <a:t>Pandas</a:t>
            </a:r>
          </a:p>
          <a:p>
            <a:pPr marL="144145">
              <a:lnSpc>
                <a:spcPct val="150000"/>
              </a:lnSpc>
              <a:buClr>
                <a:schemeClr val="accent1"/>
              </a:buClr>
            </a:pPr>
            <a:r>
              <a:rPr lang="en-US" dirty="0">
                <a:solidFill>
                  <a:schemeClr val="dk1"/>
                </a:solidFill>
                <a:latin typeface="Croc" panose="020B0502020203020203" pitchFamily="34" charset="0"/>
                <a:cs typeface="Arial" panose="020B0604020202020204"/>
                <a:sym typeface="Arial" panose="020B0604020202020204"/>
              </a:rPr>
              <a:t>SQL</a:t>
            </a:r>
          </a:p>
          <a:p>
            <a:pPr marL="144145">
              <a:lnSpc>
                <a:spcPct val="150000"/>
              </a:lnSpc>
              <a:buClr>
                <a:schemeClr val="accent1"/>
              </a:buClr>
            </a:pPr>
            <a:r>
              <a:rPr lang="ru-RU" dirty="0" err="1">
                <a:solidFill>
                  <a:schemeClr val="dk1"/>
                </a:solidFill>
                <a:latin typeface="Croc" panose="020B0502020203020203" pitchFamily="34" charset="0"/>
                <a:cs typeface="Arial" panose="020B0604020202020204"/>
                <a:sym typeface="Arial" panose="020B0604020202020204"/>
              </a:rPr>
              <a:t>Дашборды</a:t>
            </a:r>
            <a:endParaRPr lang="ru-RU" dirty="0">
              <a:solidFill>
                <a:schemeClr val="dk1"/>
              </a:solidFill>
              <a:latin typeface="Croc" panose="020B0502020203020203" pitchFamily="34" charset="0"/>
              <a:cs typeface="Arial" panose="020B0604020202020204"/>
              <a:sym typeface="Arial" panose="020B0604020202020204"/>
            </a:endParaRPr>
          </a:p>
          <a:p>
            <a:pPr marL="144145">
              <a:lnSpc>
                <a:spcPct val="150000"/>
              </a:lnSpc>
              <a:buClr>
                <a:schemeClr val="accent1"/>
              </a:buClr>
            </a:pPr>
            <a:r>
              <a:rPr lang="en-US" dirty="0">
                <a:solidFill>
                  <a:schemeClr val="dk1"/>
                </a:solidFill>
                <a:latin typeface="Croc" panose="020B0502020203020203" pitchFamily="34" charset="0"/>
                <a:cs typeface="Arial" panose="020B0604020202020204"/>
                <a:sym typeface="Arial" panose="020B0604020202020204"/>
              </a:rPr>
              <a:t>ML</a:t>
            </a:r>
          </a:p>
          <a:p>
            <a:pPr marL="144145">
              <a:lnSpc>
                <a:spcPct val="150000"/>
              </a:lnSpc>
              <a:buClr>
                <a:schemeClr val="accent1"/>
              </a:buClr>
            </a:pPr>
            <a:r>
              <a:rPr lang="en-US" dirty="0">
                <a:solidFill>
                  <a:schemeClr val="dk1"/>
                </a:solidFill>
                <a:latin typeface="Croc" panose="020B0502020203020203" pitchFamily="34" charset="0"/>
                <a:cs typeface="Arial" panose="020B0604020202020204"/>
                <a:sym typeface="Arial" panose="020B0604020202020204"/>
              </a:rPr>
              <a:t>HADOOP</a:t>
            </a:r>
            <a:endParaRPr lang="ru-RU" dirty="0">
              <a:solidFill>
                <a:schemeClr val="dk1"/>
              </a:solidFill>
              <a:latin typeface="Croc" panose="020B0502020203020203" pitchFamily="34" charset="0"/>
              <a:cs typeface="Arial" panose="020B0604020202020204"/>
              <a:sym typeface="Arial" panose="020B0604020202020204"/>
            </a:endParaRPr>
          </a:p>
          <a:p>
            <a:pPr marL="144145">
              <a:lnSpc>
                <a:spcPct val="150000"/>
              </a:lnSpc>
              <a:buClr>
                <a:schemeClr val="accent1"/>
              </a:buClr>
            </a:pPr>
            <a:r>
              <a:rPr lang="en-US" dirty="0">
                <a:solidFill>
                  <a:schemeClr val="dk1"/>
                </a:solidFill>
                <a:latin typeface="Croc" panose="020B0502020203020203" pitchFamily="34" charset="0"/>
                <a:cs typeface="Arial" panose="020B0604020202020204"/>
                <a:sym typeface="Arial" panose="020B0604020202020204"/>
              </a:rPr>
              <a:t>Spark</a:t>
            </a:r>
            <a:endParaRPr lang="ru-RU" dirty="0">
              <a:solidFill>
                <a:schemeClr val="dk1"/>
              </a:solidFill>
              <a:latin typeface="Croc" panose="020B0502020203020203" pitchFamily="34" charset="0"/>
              <a:cs typeface="Arial" panose="020B0604020202020204"/>
              <a:sym typeface="Arial" panose="020B0604020202020204"/>
            </a:endParaRPr>
          </a:p>
          <a:p>
            <a:pPr marL="144145">
              <a:lnSpc>
                <a:spcPct val="150000"/>
              </a:lnSpc>
              <a:buClr>
                <a:schemeClr val="accent1"/>
              </a:buClr>
            </a:pPr>
            <a:r>
              <a:rPr lang="ru-RU" dirty="0">
                <a:solidFill>
                  <a:schemeClr val="dk1"/>
                </a:solidFill>
                <a:latin typeface="Croc" panose="020B0502020203020203" pitchFamily="34" charset="0"/>
                <a:cs typeface="Arial" panose="020B0604020202020204"/>
                <a:sym typeface="Arial" panose="020B0604020202020204"/>
              </a:rPr>
              <a:t>Высокий уровень статистики</a:t>
            </a:r>
            <a:endParaRPr lang="en-US" dirty="0">
              <a:solidFill>
                <a:schemeClr val="dk1"/>
              </a:solidFill>
              <a:latin typeface="Croc" panose="020B0502020203020203" pitchFamily="34" charset="0"/>
              <a:cs typeface="Arial" panose="020B0604020202020204"/>
              <a:sym typeface="Arial" panose="020B0604020202020204"/>
            </a:endParaRPr>
          </a:p>
          <a:p>
            <a:pPr marL="144145">
              <a:buClr>
                <a:schemeClr val="accent1"/>
              </a:buClr>
            </a:pPr>
            <a:r>
              <a:rPr lang="ru-RU" dirty="0">
                <a:solidFill>
                  <a:schemeClr val="dk1"/>
                </a:solidFill>
                <a:latin typeface="Croc" panose="020B0502020203020203" pitchFamily="34" charset="0"/>
                <a:cs typeface="Arial" panose="020B0604020202020204"/>
                <a:sym typeface="Arial" panose="020B0604020202020204"/>
              </a:rPr>
              <a:t>Высокий уровень </a:t>
            </a:r>
            <a:r>
              <a:rPr lang="en-US" dirty="0">
                <a:solidFill>
                  <a:schemeClr val="dk1"/>
                </a:solidFill>
                <a:latin typeface="Croc" panose="020B0502020203020203" pitchFamily="34" charset="0"/>
                <a:cs typeface="Arial" panose="020B0604020202020204"/>
                <a:sym typeface="Arial" panose="020B0604020202020204"/>
              </a:rPr>
              <a:t>BA, SA</a:t>
            </a:r>
            <a:endParaRPr lang="ru-RU" dirty="0">
              <a:solidFill>
                <a:schemeClr val="dk1"/>
              </a:solidFill>
              <a:latin typeface="Croc" panose="020B0502020203020203" pitchFamily="34" charset="0"/>
              <a:cs typeface="Arial" panose="020B0604020202020204"/>
              <a:sym typeface="Arial" panose="020B0604020202020204"/>
            </a:endParaRPr>
          </a:p>
        </p:txBody>
      </p:sp>
      <p:sp>
        <p:nvSpPr>
          <p:cNvPr id="16" name="Rectangle 51"/>
          <p:cNvSpPr/>
          <p:nvPr/>
        </p:nvSpPr>
        <p:spPr>
          <a:xfrm>
            <a:off x="842730" y="3138058"/>
            <a:ext cx="3481510" cy="389176"/>
          </a:xfrm>
          <a:prstGeom prst="rect">
            <a:avLst/>
          </a:prstGeom>
          <a:solidFill>
            <a:srgbClr val="040A1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72000" rIns="36000" bIns="36000" rtlCol="0" anchor="ctr"/>
          <a:lstStyle/>
          <a:p>
            <a:pPr marL="144145"/>
            <a:r>
              <a:rPr lang="en-US" sz="1600" b="1" dirty="0">
                <a:solidFill>
                  <a:schemeClr val="bg1"/>
                </a:solidFill>
                <a:latin typeface="Croc" panose="020B0502020203020203" pitchFamily="34" charset="0"/>
                <a:cs typeface="Arial" panose="020B0604020202020204"/>
              </a:rPr>
              <a:t>JUNIOR</a:t>
            </a:r>
          </a:p>
        </p:txBody>
      </p:sp>
      <p:sp>
        <p:nvSpPr>
          <p:cNvPr id="17" name="Rectangle 53"/>
          <p:cNvSpPr/>
          <p:nvPr/>
        </p:nvSpPr>
        <p:spPr>
          <a:xfrm>
            <a:off x="4318212" y="2626904"/>
            <a:ext cx="3444742" cy="389176"/>
          </a:xfrm>
          <a:prstGeom prst="rect">
            <a:avLst/>
          </a:prstGeom>
          <a:solidFill>
            <a:srgbClr val="040A1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72000" rIns="36000" bIns="36000" rtlCol="0" anchor="ctr"/>
          <a:lstStyle/>
          <a:p>
            <a:pPr marL="144145" marR="0" lvl="0" indent="0" algn="l" rtl="0">
              <a:spcBef>
                <a:spcPts val="0"/>
              </a:spcBef>
              <a:spcAft>
                <a:spcPts val="0"/>
              </a:spcAft>
              <a:buNone/>
            </a:pPr>
            <a:r>
              <a:rPr lang="en-US" sz="1600" b="1" dirty="0">
                <a:solidFill>
                  <a:schemeClr val="bg1"/>
                </a:solidFill>
                <a:latin typeface="Croc" panose="020B0502020203020203" pitchFamily="34" charset="0"/>
                <a:cs typeface="Arial" panose="020B0604020202020204"/>
              </a:rPr>
              <a:t>MIDDLE</a:t>
            </a:r>
          </a:p>
        </p:txBody>
      </p:sp>
      <p:sp>
        <p:nvSpPr>
          <p:cNvPr id="18" name="Rectangle 55"/>
          <p:cNvSpPr/>
          <p:nvPr/>
        </p:nvSpPr>
        <p:spPr>
          <a:xfrm>
            <a:off x="7762954" y="2115751"/>
            <a:ext cx="3481510" cy="389176"/>
          </a:xfrm>
          <a:prstGeom prst="rect">
            <a:avLst/>
          </a:prstGeom>
          <a:solidFill>
            <a:srgbClr val="040A1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72000" rIns="36000" bIns="36000" rtlCol="0" anchor="ctr"/>
          <a:lstStyle/>
          <a:p>
            <a:pPr marL="144145" marR="0" lvl="0" indent="0" algn="l" rtl="0">
              <a:spcBef>
                <a:spcPts val="0"/>
              </a:spcBef>
              <a:spcAft>
                <a:spcPts val="0"/>
              </a:spcAft>
              <a:buNone/>
            </a:pPr>
            <a:r>
              <a:rPr lang="en-US" sz="1600" b="1" dirty="0">
                <a:solidFill>
                  <a:schemeClr val="bg1"/>
                </a:solidFill>
                <a:latin typeface="Croc" panose="020B0502020203020203" pitchFamily="34" charset="0"/>
                <a:cs typeface="Arial" panose="020B0604020202020204"/>
              </a:rPr>
              <a:t>SENIOR</a:t>
            </a:r>
          </a:p>
        </p:txBody>
      </p:sp>
      <p:sp>
        <p:nvSpPr>
          <p:cNvPr id="371" name="Google Shape;371;p23"/>
          <p:cNvSpPr txBox="1">
            <a:spLocks noGrp="1"/>
          </p:cNvSpPr>
          <p:nvPr>
            <p:ph type="title"/>
          </p:nvPr>
        </p:nvSpPr>
        <p:spPr>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rgbClr val="3A393C"/>
              </a:buClr>
              <a:buSzPts val="2800"/>
              <a:buFont typeface="Arial" panose="020B0604020202020204"/>
              <a:buNone/>
            </a:pPr>
            <a:r>
              <a:rPr lang="ru-RU" b="0" dirty="0">
                <a:solidFill>
                  <a:schemeClr val="bg1"/>
                </a:solidFill>
              </a:rPr>
              <a:t>Что ждет работодатель или DA ближайшего будущего</a:t>
            </a:r>
            <a:endParaRPr b="0" dirty="0">
              <a:solidFill>
                <a:schemeClr val="bg1"/>
              </a:solidFill>
            </a:endParaRPr>
          </a:p>
        </p:txBody>
      </p:sp>
      <p:pic>
        <p:nvPicPr>
          <p:cNvPr id="4102" name="Picture 6" descr="Person: Light Skin Tone, Beard on Apple iOS 14.2"/>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10598" y="1211486"/>
            <a:ext cx="786222" cy="786222"/>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Man: Medium-Light Skin Tone on Apple iOS 14.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47472" y="1714355"/>
            <a:ext cx="786222" cy="786222"/>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Person: Medium-Light Skin Tone, Blond Hair on Apple iOS 14.2"/>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84346" y="2229858"/>
            <a:ext cx="786222" cy="78622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617940" y="7189940"/>
            <a:ext cx="184731" cy="307777"/>
          </a:xfrm>
          <a:prstGeom prst="rect">
            <a:avLst/>
          </a:prstGeom>
          <a:noFill/>
        </p:spPr>
        <p:txBody>
          <a:bodyPr wrap="none" rtlCol="0">
            <a:spAutoFit/>
          </a:bodyPr>
          <a:lstStyle/>
          <a:p>
            <a:endParaRPr lang="ru-RU" dirty="0"/>
          </a:p>
        </p:txBody>
      </p:sp>
      <p:pic>
        <p:nvPicPr>
          <p:cNvPr id="15" name="Рисунок 14">
            <a:extLst>
              <a:ext uri="{FF2B5EF4-FFF2-40B4-BE49-F238E27FC236}">
                <a16:creationId xmlns:a16="http://schemas.microsoft.com/office/drawing/2014/main" id="{1E3B10B8-4628-40D7-A280-164F73D8F8FF}"/>
              </a:ext>
            </a:extLst>
          </p:cNvPr>
          <p:cNvPicPr>
            <a:picLocks noChangeAspect="1"/>
          </p:cNvPicPr>
          <p:nvPr/>
        </p:nvPicPr>
        <p:blipFill>
          <a:blip r:embed="rId10"/>
          <a:stretch>
            <a:fillRect/>
          </a:stretch>
        </p:blipFill>
        <p:spPr>
          <a:xfrm>
            <a:off x="3735546" y="3580235"/>
            <a:ext cx="4267746" cy="16011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21" name="object 4"/>
          <p:cNvSpPr/>
          <p:nvPr/>
        </p:nvSpPr>
        <p:spPr>
          <a:xfrm>
            <a:off x="0" y="0"/>
            <a:ext cx="12192001" cy="6858000"/>
          </a:xfrm>
          <a:custGeom>
            <a:avLst/>
            <a:gdLst/>
            <a:ahLst/>
            <a:cxnLst/>
            <a:rect l="l" t="t" r="r" b="b"/>
            <a:pathLst>
              <a:path w="10059670" h="5655310">
                <a:moveTo>
                  <a:pt x="0" y="5655289"/>
                </a:moveTo>
                <a:lnTo>
                  <a:pt x="10059346" y="5655289"/>
                </a:lnTo>
                <a:lnTo>
                  <a:pt x="10059346" y="0"/>
                </a:lnTo>
                <a:lnTo>
                  <a:pt x="0" y="0"/>
                </a:lnTo>
                <a:lnTo>
                  <a:pt x="0" y="5655289"/>
                </a:lnTo>
                <a:close/>
              </a:path>
            </a:pathLst>
          </a:custGeom>
          <a:solidFill>
            <a:srgbClr val="6F26E2"/>
          </a:solidFill>
        </p:spPr>
        <p:txBody>
          <a:bodyPr wrap="square" lIns="0" tIns="0" rIns="0" bIns="0" rtlCol="0"/>
          <a:lstStyle/>
          <a:p>
            <a:endParaRPr dirty="0"/>
          </a:p>
        </p:txBody>
      </p:sp>
      <p:graphicFrame>
        <p:nvGraphicFramePr>
          <p:cNvPr id="2" name="Объект 1" hidden="1"/>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153" name="think-cell Slide" r:id="rId5" imgW="5715" imgH="5715" progId="TCLayout.ActiveDocument.1">
                  <p:embed/>
                </p:oleObj>
              </mc:Choice>
              <mc:Fallback>
                <p:oleObj name="think-cell Slide" r:id="rId5" imgW="5715" imgH="5715" progId="TCLayout.ActiveDocument.1">
                  <p:embed/>
                  <p:pic>
                    <p:nvPicPr>
                      <p:cNvPr id="2" name="Объект 1"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1" name="Rectangle 41"/>
          <p:cNvSpPr/>
          <p:nvPr/>
        </p:nvSpPr>
        <p:spPr>
          <a:xfrm>
            <a:off x="854691" y="3527234"/>
            <a:ext cx="3469549" cy="29786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rtlCol="0" anchor="t" anchorCtr="0"/>
          <a:lstStyle/>
          <a:p>
            <a:pPr marR="0" lvl="0" algn="l" rtl="0">
              <a:spcBef>
                <a:spcPts val="0"/>
              </a:spcBef>
              <a:spcAft>
                <a:spcPts val="1000"/>
              </a:spcAft>
              <a:buClr>
                <a:schemeClr val="accent1"/>
              </a:buClr>
              <a:buSzPts val="1400"/>
            </a:pPr>
            <a:r>
              <a:rPr lang="en-US" sz="2400" dirty="0">
                <a:solidFill>
                  <a:schemeClr val="tx1"/>
                </a:solidFill>
                <a:latin typeface="Croc" panose="020B0502020203020203"/>
                <a:sym typeface="Arial" panose="020B0604020202020204"/>
              </a:rPr>
              <a:t>Soft Skills</a:t>
            </a:r>
            <a:endParaRPr lang="ru-RU" sz="2400" dirty="0">
              <a:solidFill>
                <a:schemeClr val="tx1"/>
              </a:solidFill>
              <a:latin typeface="Candara" panose="020E0502030303020204" pitchFamily="34" charset="0"/>
              <a:sym typeface="Arial" panose="020B0604020202020204"/>
            </a:endParaRPr>
          </a:p>
          <a:p>
            <a:pPr marR="0" lvl="0" algn="l" rtl="0">
              <a:spcBef>
                <a:spcPts val="0"/>
              </a:spcBef>
              <a:spcAft>
                <a:spcPts val="1000"/>
              </a:spcAft>
              <a:buClr>
                <a:schemeClr val="accent1"/>
              </a:buClr>
              <a:buSzPts val="1400"/>
            </a:pPr>
            <a:r>
              <a:rPr lang="en-US" sz="2400" dirty="0">
                <a:solidFill>
                  <a:schemeClr val="tx1"/>
                </a:solidFill>
                <a:latin typeface="Croc" panose="020B0502020203020203"/>
                <a:sym typeface="Arial" panose="020B0604020202020204"/>
              </a:rPr>
              <a:t>SQL</a:t>
            </a:r>
            <a:endParaRPr lang="ru-RU" sz="2400" dirty="0">
              <a:solidFill>
                <a:schemeClr val="tx1"/>
              </a:solidFill>
              <a:latin typeface="Candara" panose="020E0502030303020204" pitchFamily="34" charset="0"/>
              <a:sym typeface="Arial" panose="020B0604020202020204"/>
            </a:endParaRPr>
          </a:p>
          <a:p>
            <a:pPr marR="0" lvl="0" algn="l" rtl="0">
              <a:spcBef>
                <a:spcPts val="0"/>
              </a:spcBef>
              <a:spcAft>
                <a:spcPts val="1000"/>
              </a:spcAft>
              <a:buClr>
                <a:schemeClr val="accent1"/>
              </a:buClr>
              <a:buSzPts val="1400"/>
            </a:pPr>
            <a:r>
              <a:rPr lang="en-US" sz="2400" dirty="0">
                <a:solidFill>
                  <a:schemeClr val="tx1"/>
                </a:solidFill>
                <a:latin typeface="Croc" panose="020B0502020203020203"/>
                <a:sym typeface="Arial" panose="020B0604020202020204"/>
              </a:rPr>
              <a:t>EXCEL</a:t>
            </a:r>
          </a:p>
          <a:p>
            <a:pPr marR="0" lvl="0" algn="l" rtl="0">
              <a:spcBef>
                <a:spcPts val="0"/>
              </a:spcBef>
              <a:spcAft>
                <a:spcPts val="1000"/>
              </a:spcAft>
              <a:buClr>
                <a:schemeClr val="accent1"/>
              </a:buClr>
              <a:buSzPts val="1400"/>
            </a:pPr>
            <a:r>
              <a:rPr lang="ru-RU" sz="2400" dirty="0">
                <a:solidFill>
                  <a:schemeClr val="tx1"/>
                </a:solidFill>
                <a:latin typeface="Candara" panose="020E0502030303020204" pitchFamily="34" charset="0"/>
                <a:sym typeface="Arial" panose="020B0604020202020204"/>
              </a:rPr>
              <a:t>Базовый </a:t>
            </a:r>
            <a:r>
              <a:rPr lang="en-US" sz="2400" dirty="0">
                <a:solidFill>
                  <a:schemeClr val="tx1"/>
                </a:solidFill>
                <a:latin typeface="Croc" panose="020B0502020203020203"/>
                <a:sym typeface="Arial" panose="020B0604020202020204"/>
              </a:rPr>
              <a:t>BA</a:t>
            </a:r>
          </a:p>
          <a:p>
            <a:pPr marR="0" lvl="0" algn="l" rtl="0">
              <a:spcBef>
                <a:spcPts val="0"/>
              </a:spcBef>
              <a:spcAft>
                <a:spcPts val="1000"/>
              </a:spcAft>
              <a:buClr>
                <a:schemeClr val="accent1"/>
              </a:buClr>
              <a:buSzPts val="1400"/>
            </a:pPr>
            <a:r>
              <a:rPr lang="ru-RU" sz="2400" dirty="0">
                <a:solidFill>
                  <a:schemeClr val="tx1"/>
                </a:solidFill>
                <a:latin typeface="Candara" panose="020E0502030303020204" pitchFamily="34" charset="0"/>
                <a:sym typeface="Arial" panose="020B0604020202020204"/>
              </a:rPr>
              <a:t>Базовая статистика</a:t>
            </a:r>
            <a:endParaRPr lang="en-US" sz="2400" dirty="0">
              <a:solidFill>
                <a:schemeClr val="tx1"/>
              </a:solidFill>
              <a:latin typeface="Croc" panose="020B0502020203020203"/>
              <a:sym typeface="Arial" panose="020B0604020202020204"/>
            </a:endParaRPr>
          </a:p>
          <a:p>
            <a:pPr marR="0" lvl="0" algn="l" rtl="0">
              <a:spcBef>
                <a:spcPts val="0"/>
              </a:spcBef>
              <a:spcAft>
                <a:spcPts val="1000"/>
              </a:spcAft>
              <a:buClr>
                <a:schemeClr val="accent1"/>
              </a:buClr>
              <a:buSzPts val="1400"/>
            </a:pPr>
            <a:r>
              <a:rPr lang="en-US" sz="2400" dirty="0">
                <a:solidFill>
                  <a:schemeClr val="tx1"/>
                </a:solidFill>
                <a:latin typeface="Croc" panose="020B0502020203020203"/>
                <a:sym typeface="Arial" panose="020B0604020202020204"/>
              </a:rPr>
              <a:t>Python + Pandas</a:t>
            </a:r>
          </a:p>
          <a:p>
            <a:pPr marR="0" lvl="0" algn="l" rtl="0">
              <a:spcBef>
                <a:spcPts val="0"/>
              </a:spcBef>
              <a:spcAft>
                <a:spcPts val="1000"/>
              </a:spcAft>
              <a:buClr>
                <a:schemeClr val="accent1"/>
              </a:buClr>
              <a:buSzPts val="1400"/>
            </a:pPr>
            <a:endParaRPr lang="ru-RU" sz="2400" dirty="0">
              <a:solidFill>
                <a:schemeClr val="dk1"/>
              </a:solidFill>
              <a:latin typeface="Candara" panose="020E0502030303020204" pitchFamily="34" charset="0"/>
              <a:sym typeface="Arial" panose="020B0604020202020204"/>
            </a:endParaRPr>
          </a:p>
        </p:txBody>
      </p:sp>
      <p:sp>
        <p:nvSpPr>
          <p:cNvPr id="12" name="Rectangle 43"/>
          <p:cNvSpPr/>
          <p:nvPr/>
        </p:nvSpPr>
        <p:spPr>
          <a:xfrm>
            <a:off x="4330173" y="3016080"/>
            <a:ext cx="3481510" cy="3489765"/>
          </a:xfrm>
          <a:prstGeom prst="rect">
            <a:avLst/>
          </a:prstGeom>
          <a:pattFill prst="pct5">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tlCol="0" anchor="t" anchorCtr="0"/>
          <a:lstStyle/>
          <a:p>
            <a:pPr marL="144145">
              <a:lnSpc>
                <a:spcPct val="150000"/>
              </a:lnSpc>
              <a:buClr>
                <a:schemeClr val="accent1"/>
              </a:buClr>
            </a:pPr>
            <a:r>
              <a:rPr lang="en-US" sz="2000" dirty="0">
                <a:solidFill>
                  <a:schemeClr val="dk1"/>
                </a:solidFill>
                <a:latin typeface="Candara" panose="020E0502030303020204" pitchFamily="34" charset="0"/>
                <a:cs typeface="Arial" panose="020B0604020202020204"/>
                <a:sym typeface="Arial" panose="020B0604020202020204"/>
              </a:rPr>
              <a:t>Python</a:t>
            </a:r>
            <a:r>
              <a:rPr lang="ru-RU" sz="2000" dirty="0">
                <a:solidFill>
                  <a:schemeClr val="dk1"/>
                </a:solidFill>
                <a:latin typeface="Candara" panose="020E0502030303020204" pitchFamily="34" charset="0"/>
                <a:cs typeface="Arial" panose="020B0604020202020204"/>
                <a:sym typeface="Arial" panose="020B0604020202020204"/>
              </a:rPr>
              <a:t> + </a:t>
            </a:r>
            <a:r>
              <a:rPr lang="en-US" sz="2000" dirty="0">
                <a:solidFill>
                  <a:schemeClr val="dk1"/>
                </a:solidFill>
                <a:latin typeface="Candara" panose="020E0502030303020204" pitchFamily="34" charset="0"/>
                <a:cs typeface="Arial" panose="020B0604020202020204"/>
                <a:sym typeface="Arial" panose="020B0604020202020204"/>
              </a:rPr>
              <a:t>Pandas</a:t>
            </a:r>
          </a:p>
          <a:p>
            <a:pPr marL="144145">
              <a:lnSpc>
                <a:spcPct val="150000"/>
              </a:lnSpc>
              <a:buClr>
                <a:schemeClr val="accent1"/>
              </a:buClr>
            </a:pPr>
            <a:r>
              <a:rPr lang="en-US" sz="2000" dirty="0">
                <a:solidFill>
                  <a:schemeClr val="dk1"/>
                </a:solidFill>
                <a:latin typeface="Candara" panose="020E0502030303020204" pitchFamily="34" charset="0"/>
                <a:cs typeface="Arial" panose="020B0604020202020204"/>
                <a:sym typeface="Arial" panose="020B0604020202020204"/>
              </a:rPr>
              <a:t>API</a:t>
            </a:r>
          </a:p>
          <a:p>
            <a:pPr marL="144145">
              <a:lnSpc>
                <a:spcPct val="150000"/>
              </a:lnSpc>
              <a:buClr>
                <a:schemeClr val="accent1"/>
              </a:buClr>
            </a:pPr>
            <a:r>
              <a:rPr lang="en-US" sz="2000" dirty="0">
                <a:solidFill>
                  <a:schemeClr val="dk1"/>
                </a:solidFill>
                <a:latin typeface="Candara" panose="020E0502030303020204" pitchFamily="34" charset="0"/>
                <a:cs typeface="Arial" panose="020B0604020202020204"/>
                <a:sym typeface="Arial" panose="020B0604020202020204"/>
              </a:rPr>
              <a:t>SQL, NOSQL</a:t>
            </a:r>
          </a:p>
          <a:p>
            <a:pPr marL="144145">
              <a:lnSpc>
                <a:spcPct val="150000"/>
              </a:lnSpc>
              <a:buClr>
                <a:schemeClr val="accent1"/>
              </a:buClr>
            </a:pPr>
            <a:r>
              <a:rPr lang="ru-RU" sz="2000" dirty="0" err="1">
                <a:solidFill>
                  <a:schemeClr val="dk1"/>
                </a:solidFill>
                <a:latin typeface="Candara" panose="020E0502030303020204" pitchFamily="34" charset="0"/>
                <a:cs typeface="Arial" panose="020B0604020202020204"/>
                <a:sym typeface="Arial" panose="020B0604020202020204"/>
              </a:rPr>
              <a:t>Дашборды</a:t>
            </a:r>
            <a:endParaRPr lang="ru-RU" sz="2000" dirty="0">
              <a:solidFill>
                <a:schemeClr val="dk1"/>
              </a:solidFill>
              <a:latin typeface="Candara" panose="020E0502030303020204" pitchFamily="34" charset="0"/>
              <a:cs typeface="Arial" panose="020B0604020202020204"/>
              <a:sym typeface="Arial" panose="020B0604020202020204"/>
            </a:endParaRPr>
          </a:p>
          <a:p>
            <a:pPr marL="144145">
              <a:lnSpc>
                <a:spcPct val="150000"/>
              </a:lnSpc>
              <a:buClr>
                <a:schemeClr val="accent1"/>
              </a:buClr>
            </a:pPr>
            <a:r>
              <a:rPr lang="ru-RU" sz="2000" dirty="0">
                <a:solidFill>
                  <a:schemeClr val="dk1"/>
                </a:solidFill>
                <a:latin typeface="Candara" panose="020E0502030303020204" pitchFamily="34" charset="0"/>
                <a:cs typeface="Arial" panose="020B0604020202020204"/>
                <a:sym typeface="Arial" panose="020B0604020202020204"/>
              </a:rPr>
              <a:t>Средний уровень статистики</a:t>
            </a:r>
          </a:p>
          <a:p>
            <a:pPr marL="144145">
              <a:buClr>
                <a:schemeClr val="accent1"/>
              </a:buClr>
            </a:pPr>
            <a:r>
              <a:rPr lang="ru-RU" sz="2000" dirty="0">
                <a:solidFill>
                  <a:schemeClr val="dk1"/>
                </a:solidFill>
                <a:latin typeface="Candara" panose="020E0502030303020204" pitchFamily="34" charset="0"/>
                <a:cs typeface="Arial" panose="020B0604020202020204"/>
                <a:sym typeface="Arial" panose="020B0604020202020204"/>
              </a:rPr>
              <a:t>Средний уровень </a:t>
            </a:r>
            <a:r>
              <a:rPr lang="en-US" sz="2000" dirty="0">
                <a:solidFill>
                  <a:schemeClr val="dk1"/>
                </a:solidFill>
                <a:latin typeface="Candara" panose="020E0502030303020204" pitchFamily="34" charset="0"/>
                <a:cs typeface="Arial" panose="020B0604020202020204"/>
                <a:sym typeface="Arial" panose="020B0604020202020204"/>
              </a:rPr>
              <a:t>BA, SA</a:t>
            </a:r>
            <a:endParaRPr lang="en-US" sz="1600" dirty="0">
              <a:solidFill>
                <a:schemeClr val="dk1"/>
              </a:solidFill>
              <a:latin typeface="Candara" panose="020E0502030303020204" pitchFamily="34" charset="0"/>
              <a:cs typeface="Arial" panose="020B0604020202020204"/>
              <a:sym typeface="Arial" panose="020B0604020202020204"/>
            </a:endParaRPr>
          </a:p>
          <a:p>
            <a:pPr marL="144145">
              <a:lnSpc>
                <a:spcPct val="150000"/>
              </a:lnSpc>
              <a:buClr>
                <a:schemeClr val="accent1"/>
              </a:buClr>
            </a:pPr>
            <a:r>
              <a:rPr lang="en-US" sz="2000" dirty="0">
                <a:solidFill>
                  <a:schemeClr val="dk1"/>
                </a:solidFill>
                <a:latin typeface="Candara" panose="020E0502030303020204" pitchFamily="34" charset="0"/>
                <a:cs typeface="Arial" panose="020B0604020202020204"/>
                <a:sym typeface="Arial" panose="020B0604020202020204"/>
              </a:rPr>
              <a:t>ML</a:t>
            </a:r>
          </a:p>
        </p:txBody>
      </p:sp>
      <p:sp>
        <p:nvSpPr>
          <p:cNvPr id="13" name="Rectangle 45"/>
          <p:cNvSpPr/>
          <p:nvPr/>
        </p:nvSpPr>
        <p:spPr>
          <a:xfrm>
            <a:off x="7774915" y="2504927"/>
            <a:ext cx="3481510" cy="40009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tlCol="0" anchor="t" anchorCtr="0"/>
          <a:lstStyle/>
          <a:p>
            <a:pPr marL="144145">
              <a:lnSpc>
                <a:spcPct val="150000"/>
              </a:lnSpc>
              <a:buClr>
                <a:schemeClr val="accent1"/>
              </a:buClr>
            </a:pPr>
            <a:r>
              <a:rPr lang="en-US" dirty="0">
                <a:solidFill>
                  <a:schemeClr val="dk1"/>
                </a:solidFill>
                <a:latin typeface="Candara" panose="020E0502030303020204" pitchFamily="34" charset="0"/>
                <a:cs typeface="Arial" panose="020B0604020202020204"/>
                <a:sym typeface="Arial" panose="020B0604020202020204"/>
              </a:rPr>
              <a:t>Python</a:t>
            </a:r>
          </a:p>
          <a:p>
            <a:pPr marL="144145">
              <a:lnSpc>
                <a:spcPct val="150000"/>
              </a:lnSpc>
              <a:buClr>
                <a:schemeClr val="accent1"/>
              </a:buClr>
            </a:pPr>
            <a:r>
              <a:rPr lang="en-US" dirty="0">
                <a:solidFill>
                  <a:schemeClr val="dk1"/>
                </a:solidFill>
                <a:latin typeface="Candara" panose="020E0502030303020204" pitchFamily="34" charset="0"/>
                <a:cs typeface="Arial" panose="020B0604020202020204"/>
                <a:sym typeface="Arial" panose="020B0604020202020204"/>
              </a:rPr>
              <a:t>Pandas</a:t>
            </a:r>
          </a:p>
          <a:p>
            <a:pPr marL="144145">
              <a:lnSpc>
                <a:spcPct val="150000"/>
              </a:lnSpc>
              <a:buClr>
                <a:schemeClr val="accent1"/>
              </a:buClr>
            </a:pPr>
            <a:r>
              <a:rPr lang="en-US" dirty="0">
                <a:solidFill>
                  <a:schemeClr val="dk1"/>
                </a:solidFill>
                <a:latin typeface="Candara" panose="020E0502030303020204" pitchFamily="34" charset="0"/>
                <a:cs typeface="Arial" panose="020B0604020202020204"/>
                <a:sym typeface="Arial" panose="020B0604020202020204"/>
              </a:rPr>
              <a:t>SQL</a:t>
            </a:r>
          </a:p>
          <a:p>
            <a:pPr marL="144145">
              <a:lnSpc>
                <a:spcPct val="150000"/>
              </a:lnSpc>
              <a:buClr>
                <a:schemeClr val="accent1"/>
              </a:buClr>
            </a:pPr>
            <a:r>
              <a:rPr lang="ru-RU" dirty="0" err="1">
                <a:solidFill>
                  <a:schemeClr val="dk1"/>
                </a:solidFill>
                <a:latin typeface="Candara" panose="020E0502030303020204" pitchFamily="34" charset="0"/>
                <a:cs typeface="Arial" panose="020B0604020202020204"/>
                <a:sym typeface="Arial" panose="020B0604020202020204"/>
              </a:rPr>
              <a:t>Дашборды</a:t>
            </a:r>
            <a:endParaRPr lang="ru-RU" dirty="0">
              <a:solidFill>
                <a:schemeClr val="dk1"/>
              </a:solidFill>
              <a:latin typeface="Candara" panose="020E0502030303020204" pitchFamily="34" charset="0"/>
              <a:cs typeface="Arial" panose="020B0604020202020204"/>
              <a:sym typeface="Arial" panose="020B0604020202020204"/>
            </a:endParaRPr>
          </a:p>
          <a:p>
            <a:pPr marL="144145">
              <a:lnSpc>
                <a:spcPct val="150000"/>
              </a:lnSpc>
              <a:buClr>
                <a:schemeClr val="accent1"/>
              </a:buClr>
            </a:pPr>
            <a:r>
              <a:rPr lang="en-US" dirty="0">
                <a:solidFill>
                  <a:schemeClr val="dk1"/>
                </a:solidFill>
                <a:latin typeface="Candara" panose="020E0502030303020204" pitchFamily="34" charset="0"/>
                <a:cs typeface="Arial" panose="020B0604020202020204"/>
                <a:sym typeface="Arial" panose="020B0604020202020204"/>
              </a:rPr>
              <a:t>ML</a:t>
            </a:r>
          </a:p>
          <a:p>
            <a:pPr marL="144145">
              <a:lnSpc>
                <a:spcPct val="150000"/>
              </a:lnSpc>
              <a:buClr>
                <a:schemeClr val="accent1"/>
              </a:buClr>
            </a:pPr>
            <a:r>
              <a:rPr lang="en-US" dirty="0">
                <a:solidFill>
                  <a:schemeClr val="dk1"/>
                </a:solidFill>
                <a:latin typeface="Candara" panose="020E0502030303020204" pitchFamily="34" charset="0"/>
                <a:cs typeface="Arial" panose="020B0604020202020204"/>
                <a:sym typeface="Arial" panose="020B0604020202020204"/>
              </a:rPr>
              <a:t>HADOOP</a:t>
            </a:r>
            <a:endParaRPr lang="ru-RU" dirty="0">
              <a:solidFill>
                <a:schemeClr val="dk1"/>
              </a:solidFill>
              <a:latin typeface="Candara" panose="020E0502030303020204" pitchFamily="34" charset="0"/>
              <a:cs typeface="Arial" panose="020B0604020202020204"/>
              <a:sym typeface="Arial" panose="020B0604020202020204"/>
            </a:endParaRPr>
          </a:p>
          <a:p>
            <a:pPr marL="144145">
              <a:lnSpc>
                <a:spcPct val="150000"/>
              </a:lnSpc>
              <a:buClr>
                <a:schemeClr val="accent1"/>
              </a:buClr>
            </a:pPr>
            <a:r>
              <a:rPr lang="en-US" dirty="0">
                <a:solidFill>
                  <a:schemeClr val="dk1"/>
                </a:solidFill>
                <a:latin typeface="Candara" panose="020E0502030303020204" pitchFamily="34" charset="0"/>
                <a:cs typeface="Arial" panose="020B0604020202020204"/>
                <a:sym typeface="Arial" panose="020B0604020202020204"/>
              </a:rPr>
              <a:t>Spark</a:t>
            </a:r>
            <a:endParaRPr lang="ru-RU" dirty="0">
              <a:solidFill>
                <a:schemeClr val="dk1"/>
              </a:solidFill>
              <a:latin typeface="Candara" panose="020E0502030303020204" pitchFamily="34" charset="0"/>
              <a:cs typeface="Arial" panose="020B0604020202020204"/>
              <a:sym typeface="Arial" panose="020B0604020202020204"/>
            </a:endParaRPr>
          </a:p>
          <a:p>
            <a:pPr marL="144145">
              <a:lnSpc>
                <a:spcPct val="150000"/>
              </a:lnSpc>
              <a:buClr>
                <a:schemeClr val="accent1"/>
              </a:buClr>
            </a:pPr>
            <a:r>
              <a:rPr lang="ru-RU" dirty="0">
                <a:solidFill>
                  <a:schemeClr val="dk1"/>
                </a:solidFill>
                <a:latin typeface="Candara" panose="020E0502030303020204" pitchFamily="34" charset="0"/>
                <a:cs typeface="Arial" panose="020B0604020202020204"/>
                <a:sym typeface="Arial" panose="020B0604020202020204"/>
              </a:rPr>
              <a:t>Высокий уровень статистики</a:t>
            </a:r>
            <a:endParaRPr lang="en-US" dirty="0">
              <a:solidFill>
                <a:schemeClr val="dk1"/>
              </a:solidFill>
              <a:latin typeface="Candara" panose="020E0502030303020204" pitchFamily="34" charset="0"/>
              <a:cs typeface="Arial" panose="020B0604020202020204"/>
              <a:sym typeface="Arial" panose="020B0604020202020204"/>
            </a:endParaRPr>
          </a:p>
          <a:p>
            <a:pPr marL="144145">
              <a:buClr>
                <a:schemeClr val="accent1"/>
              </a:buClr>
            </a:pPr>
            <a:r>
              <a:rPr lang="ru-RU" dirty="0">
                <a:solidFill>
                  <a:schemeClr val="dk1"/>
                </a:solidFill>
                <a:latin typeface="Candara" panose="020E0502030303020204" pitchFamily="34" charset="0"/>
                <a:cs typeface="Arial" panose="020B0604020202020204"/>
                <a:sym typeface="Arial" panose="020B0604020202020204"/>
              </a:rPr>
              <a:t>Высокий уровень </a:t>
            </a:r>
            <a:r>
              <a:rPr lang="en-US" dirty="0">
                <a:solidFill>
                  <a:schemeClr val="dk1"/>
                </a:solidFill>
                <a:latin typeface="Candara" panose="020E0502030303020204" pitchFamily="34" charset="0"/>
                <a:cs typeface="Arial" panose="020B0604020202020204"/>
                <a:sym typeface="Arial" panose="020B0604020202020204"/>
              </a:rPr>
              <a:t>BA, SA</a:t>
            </a:r>
            <a:endParaRPr lang="ru-RU" dirty="0">
              <a:solidFill>
                <a:schemeClr val="dk1"/>
              </a:solidFill>
              <a:latin typeface="Candara" panose="020E0502030303020204" pitchFamily="34" charset="0"/>
              <a:cs typeface="Arial" panose="020B0604020202020204"/>
              <a:sym typeface="Arial" panose="020B0604020202020204"/>
            </a:endParaRPr>
          </a:p>
        </p:txBody>
      </p:sp>
      <p:sp>
        <p:nvSpPr>
          <p:cNvPr id="16" name="Rectangle 51"/>
          <p:cNvSpPr/>
          <p:nvPr/>
        </p:nvSpPr>
        <p:spPr>
          <a:xfrm>
            <a:off x="842730" y="3138058"/>
            <a:ext cx="3481510" cy="389176"/>
          </a:xfrm>
          <a:prstGeom prst="rect">
            <a:avLst/>
          </a:prstGeom>
          <a:solidFill>
            <a:srgbClr val="040A1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72000" rIns="36000" bIns="36000" rtlCol="0" anchor="ctr"/>
          <a:lstStyle/>
          <a:p>
            <a:pPr marL="144145"/>
            <a:r>
              <a:rPr lang="en-US" sz="1600" b="1" dirty="0">
                <a:solidFill>
                  <a:schemeClr val="bg1"/>
                </a:solidFill>
                <a:latin typeface="Croc" panose="020B0502020203020203" pitchFamily="34" charset="0"/>
                <a:cs typeface="Arial" panose="020B0604020202020204"/>
              </a:rPr>
              <a:t>JUNIOR</a:t>
            </a:r>
          </a:p>
        </p:txBody>
      </p:sp>
      <p:sp>
        <p:nvSpPr>
          <p:cNvPr id="17" name="Rectangle 53"/>
          <p:cNvSpPr/>
          <p:nvPr/>
        </p:nvSpPr>
        <p:spPr>
          <a:xfrm>
            <a:off x="4318212" y="2626904"/>
            <a:ext cx="3444742" cy="389176"/>
          </a:xfrm>
          <a:prstGeom prst="rect">
            <a:avLst/>
          </a:prstGeom>
          <a:solidFill>
            <a:srgbClr val="040A1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72000" rIns="36000" bIns="36000" rtlCol="0" anchor="ctr"/>
          <a:lstStyle/>
          <a:p>
            <a:pPr marL="144145" marR="0" lvl="0" indent="0" algn="l" rtl="0">
              <a:spcBef>
                <a:spcPts val="0"/>
              </a:spcBef>
              <a:spcAft>
                <a:spcPts val="0"/>
              </a:spcAft>
              <a:buNone/>
            </a:pPr>
            <a:r>
              <a:rPr lang="en-US" sz="1600" b="1" dirty="0">
                <a:solidFill>
                  <a:schemeClr val="bg1"/>
                </a:solidFill>
                <a:latin typeface="Croc" panose="020B0502020203020203" pitchFamily="34" charset="0"/>
                <a:cs typeface="Arial" panose="020B0604020202020204"/>
              </a:rPr>
              <a:t>MIDDLE</a:t>
            </a:r>
          </a:p>
        </p:txBody>
      </p:sp>
      <p:sp>
        <p:nvSpPr>
          <p:cNvPr id="18" name="Rectangle 55"/>
          <p:cNvSpPr/>
          <p:nvPr/>
        </p:nvSpPr>
        <p:spPr>
          <a:xfrm>
            <a:off x="7762954" y="2115751"/>
            <a:ext cx="3481510" cy="389176"/>
          </a:xfrm>
          <a:prstGeom prst="rect">
            <a:avLst/>
          </a:prstGeom>
          <a:solidFill>
            <a:srgbClr val="040A1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72000" rIns="36000" bIns="36000" rtlCol="0" anchor="ctr"/>
          <a:lstStyle/>
          <a:p>
            <a:pPr marL="144145" marR="0" lvl="0" indent="0" algn="l" rtl="0">
              <a:spcBef>
                <a:spcPts val="0"/>
              </a:spcBef>
              <a:spcAft>
                <a:spcPts val="0"/>
              </a:spcAft>
              <a:buNone/>
            </a:pPr>
            <a:r>
              <a:rPr lang="en-US" sz="1600" b="1" dirty="0">
                <a:solidFill>
                  <a:schemeClr val="bg1"/>
                </a:solidFill>
                <a:latin typeface="Croc" panose="020B0502020203020203" pitchFamily="34" charset="0"/>
                <a:cs typeface="Arial" panose="020B0604020202020204"/>
              </a:rPr>
              <a:t>SENIOR</a:t>
            </a:r>
          </a:p>
        </p:txBody>
      </p:sp>
      <p:sp>
        <p:nvSpPr>
          <p:cNvPr id="371" name="Google Shape;371;p23"/>
          <p:cNvSpPr txBox="1">
            <a:spLocks noGrp="1"/>
          </p:cNvSpPr>
          <p:nvPr>
            <p:ph type="title"/>
          </p:nvPr>
        </p:nvSpPr>
        <p:spPr>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rgbClr val="3A393C"/>
              </a:buClr>
              <a:buSzPts val="2800"/>
              <a:buFont typeface="Arial" panose="020B0604020202020204"/>
              <a:buNone/>
            </a:pPr>
            <a:r>
              <a:rPr lang="ru-RU" b="0" dirty="0">
                <a:solidFill>
                  <a:schemeClr val="bg1"/>
                </a:solidFill>
              </a:rPr>
              <a:t>Что ждет работодатель или DA ближайшего будущего</a:t>
            </a:r>
            <a:endParaRPr b="0" dirty="0">
              <a:solidFill>
                <a:schemeClr val="bg1"/>
              </a:solidFill>
            </a:endParaRPr>
          </a:p>
        </p:txBody>
      </p:sp>
      <p:pic>
        <p:nvPicPr>
          <p:cNvPr id="4102" name="Picture 6" descr="Person: Light Skin Tone, Beard on Apple iOS 14.2"/>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10598" y="1211486"/>
            <a:ext cx="786222" cy="786222"/>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Man: Medium-Light Skin Tone on Apple iOS 14.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47472" y="1714355"/>
            <a:ext cx="786222" cy="786222"/>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Person: Medium-Light Skin Tone, Blond Hair on Apple iOS 14.2"/>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84346" y="2229858"/>
            <a:ext cx="786222" cy="78622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617940" y="7189940"/>
            <a:ext cx="184731" cy="307777"/>
          </a:xfrm>
          <a:prstGeom prst="rect">
            <a:avLst/>
          </a:prstGeom>
          <a:noFill/>
        </p:spPr>
        <p:txBody>
          <a:bodyPr wrap="none" rtlCol="0">
            <a:spAutoFit/>
          </a:bodyPr>
          <a:lstStyle/>
          <a:p>
            <a:endParaRPr lang="ru-RU" dirty="0"/>
          </a:p>
        </p:txBody>
      </p:sp>
      <p:pic>
        <p:nvPicPr>
          <p:cNvPr id="4107" name="Рисунок 14">
            <a:extLst>
              <a:ext uri="{FF2B5EF4-FFF2-40B4-BE49-F238E27FC236}">
                <a16:creationId xmlns:a16="http://schemas.microsoft.com/office/drawing/2014/main" id="{1E3B10B8-4628-40D7-A280-164F73D8F8FF}"/>
              </a:ext>
            </a:extLst>
          </p:cNvPr>
          <p:cNvPicPr>
            <a:picLocks noChangeAspect="1"/>
          </p:cNvPicPr>
          <p:nvPr/>
        </p:nvPicPr>
        <p:blipFill>
          <a:blip r:embed="rId10"/>
          <a:stretch>
            <a:fillRect/>
          </a:stretch>
        </p:blipFill>
        <p:spPr>
          <a:xfrm>
            <a:off x="3735546" y="3580235"/>
            <a:ext cx="4267746" cy="1601175"/>
          </a:xfrm>
          <a:prstGeom prst="rect">
            <a:avLst/>
          </a:prstGeom>
        </p:spPr>
      </p:pic>
    </p:spTree>
    <p:extLst>
      <p:ext uri="{BB962C8B-B14F-4D97-AF65-F5344CB8AC3E}">
        <p14:creationId xmlns:p14="http://schemas.microsoft.com/office/powerpoint/2010/main" val="7344078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21" name="object 4"/>
          <p:cNvSpPr/>
          <p:nvPr/>
        </p:nvSpPr>
        <p:spPr>
          <a:xfrm>
            <a:off x="0" y="0"/>
            <a:ext cx="12192001" cy="6858000"/>
          </a:xfrm>
          <a:custGeom>
            <a:avLst/>
            <a:gdLst/>
            <a:ahLst/>
            <a:cxnLst/>
            <a:rect l="l" t="t" r="r" b="b"/>
            <a:pathLst>
              <a:path w="10059670" h="5655310">
                <a:moveTo>
                  <a:pt x="0" y="5655289"/>
                </a:moveTo>
                <a:lnTo>
                  <a:pt x="10059346" y="5655289"/>
                </a:lnTo>
                <a:lnTo>
                  <a:pt x="10059346" y="0"/>
                </a:lnTo>
                <a:lnTo>
                  <a:pt x="0" y="0"/>
                </a:lnTo>
                <a:lnTo>
                  <a:pt x="0" y="5655289"/>
                </a:lnTo>
                <a:close/>
              </a:path>
            </a:pathLst>
          </a:custGeom>
          <a:solidFill>
            <a:srgbClr val="6F26E2"/>
          </a:solidFill>
        </p:spPr>
        <p:txBody>
          <a:bodyPr wrap="square" lIns="0" tIns="0" rIns="0" bIns="0" rtlCol="0"/>
          <a:lstStyle/>
          <a:p>
            <a:endParaRPr dirty="0"/>
          </a:p>
        </p:txBody>
      </p:sp>
      <p:sp>
        <p:nvSpPr>
          <p:cNvPr id="11" name="Rectangle 41"/>
          <p:cNvSpPr/>
          <p:nvPr/>
        </p:nvSpPr>
        <p:spPr>
          <a:xfrm>
            <a:off x="854691" y="3527234"/>
            <a:ext cx="3469549" cy="29786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rtlCol="0" anchor="t" anchorCtr="0"/>
          <a:lstStyle/>
          <a:p>
            <a:pPr marR="0" lvl="0" algn="l" rtl="0">
              <a:spcBef>
                <a:spcPts val="0"/>
              </a:spcBef>
              <a:spcAft>
                <a:spcPts val="700"/>
              </a:spcAft>
              <a:buClr>
                <a:schemeClr val="accent1"/>
              </a:buClr>
              <a:buSzPts val="1400"/>
            </a:pPr>
            <a:r>
              <a:rPr lang="en-US" sz="1600" dirty="0">
                <a:solidFill>
                  <a:schemeClr val="tx1"/>
                </a:solidFill>
                <a:latin typeface="Croc" panose="020B0502020203020203"/>
                <a:sym typeface="Arial" panose="020B0604020202020204"/>
              </a:rPr>
              <a:t>Soft Skills</a:t>
            </a:r>
            <a:endParaRPr lang="ru-RU" sz="1600" dirty="0">
              <a:solidFill>
                <a:schemeClr val="tx1"/>
              </a:solidFill>
              <a:latin typeface="Candara" panose="020E0502030303020204" pitchFamily="34" charset="0"/>
              <a:sym typeface="Arial" panose="020B0604020202020204"/>
            </a:endParaRPr>
          </a:p>
          <a:p>
            <a:pPr marR="0" lvl="0" algn="l" rtl="0">
              <a:spcBef>
                <a:spcPts val="0"/>
              </a:spcBef>
              <a:spcAft>
                <a:spcPts val="700"/>
              </a:spcAft>
              <a:buClr>
                <a:schemeClr val="accent1"/>
              </a:buClr>
              <a:buSzPts val="1400"/>
            </a:pPr>
            <a:r>
              <a:rPr lang="en-US" sz="1600" dirty="0">
                <a:solidFill>
                  <a:schemeClr val="tx1"/>
                </a:solidFill>
                <a:latin typeface="Croc" panose="020B0502020203020203"/>
                <a:sym typeface="Arial" panose="020B0604020202020204"/>
              </a:rPr>
              <a:t>SQL</a:t>
            </a:r>
            <a:endParaRPr lang="ru-RU" sz="1600" dirty="0">
              <a:solidFill>
                <a:schemeClr val="tx1"/>
              </a:solidFill>
              <a:latin typeface="Candara" panose="020E0502030303020204" pitchFamily="34" charset="0"/>
              <a:sym typeface="Arial" panose="020B0604020202020204"/>
            </a:endParaRPr>
          </a:p>
          <a:p>
            <a:pPr marR="0" lvl="0" algn="l" rtl="0">
              <a:spcBef>
                <a:spcPts val="0"/>
              </a:spcBef>
              <a:spcAft>
                <a:spcPts val="700"/>
              </a:spcAft>
              <a:buClr>
                <a:schemeClr val="accent1"/>
              </a:buClr>
              <a:buSzPts val="1400"/>
            </a:pPr>
            <a:r>
              <a:rPr lang="en-US" sz="1600" dirty="0">
                <a:solidFill>
                  <a:schemeClr val="tx1"/>
                </a:solidFill>
                <a:latin typeface="Croc" panose="020B0502020203020203"/>
                <a:sym typeface="Arial" panose="020B0604020202020204"/>
              </a:rPr>
              <a:t>Excel</a:t>
            </a:r>
            <a:endParaRPr lang="ru-RU" sz="1600" dirty="0">
              <a:solidFill>
                <a:schemeClr val="tx1"/>
              </a:solidFill>
              <a:latin typeface="Candara" panose="020E0502030303020204" pitchFamily="34" charset="0"/>
              <a:sym typeface="Arial" panose="020B0604020202020204"/>
            </a:endParaRPr>
          </a:p>
          <a:p>
            <a:pPr marR="0" lvl="0" algn="l" rtl="0">
              <a:spcBef>
                <a:spcPts val="0"/>
              </a:spcBef>
              <a:spcAft>
                <a:spcPts val="700"/>
              </a:spcAft>
              <a:buClr>
                <a:schemeClr val="accent1"/>
              </a:buClr>
              <a:buSzPts val="1400"/>
            </a:pPr>
            <a:r>
              <a:rPr lang="en-US" sz="1600" dirty="0">
                <a:solidFill>
                  <a:schemeClr val="tx1"/>
                </a:solidFill>
                <a:latin typeface="Croc" panose="020B0502020203020203"/>
                <a:sym typeface="Arial" panose="020B0604020202020204"/>
              </a:rPr>
              <a:t>Базовый BA</a:t>
            </a:r>
            <a:endParaRPr lang="ru-RU" sz="1600" dirty="0">
              <a:solidFill>
                <a:schemeClr val="tx1"/>
              </a:solidFill>
              <a:latin typeface="Candara" panose="020E0502030303020204" pitchFamily="34" charset="0"/>
              <a:sym typeface="Arial" panose="020B0604020202020204"/>
            </a:endParaRPr>
          </a:p>
          <a:p>
            <a:pPr marR="0" lvl="0" algn="l" rtl="0">
              <a:spcBef>
                <a:spcPts val="0"/>
              </a:spcBef>
              <a:spcAft>
                <a:spcPts val="700"/>
              </a:spcAft>
              <a:buClr>
                <a:schemeClr val="accent1"/>
              </a:buClr>
              <a:buSzPts val="1400"/>
            </a:pPr>
            <a:r>
              <a:rPr lang="en-US" sz="1600" dirty="0">
                <a:solidFill>
                  <a:schemeClr val="tx1"/>
                </a:solidFill>
                <a:latin typeface="Croc" panose="020B0502020203020203"/>
                <a:sym typeface="Arial" panose="020B0604020202020204"/>
              </a:rPr>
              <a:t>Базовая статистика</a:t>
            </a:r>
            <a:endParaRPr lang="ru-RU" sz="1600" dirty="0">
              <a:solidFill>
                <a:schemeClr val="tx1"/>
              </a:solidFill>
              <a:latin typeface="Candara" panose="020E0502030303020204" pitchFamily="34" charset="0"/>
              <a:sym typeface="Arial" panose="020B0604020202020204"/>
            </a:endParaRPr>
          </a:p>
          <a:p>
            <a:pPr marR="0" lvl="0" algn="l" rtl="0">
              <a:spcBef>
                <a:spcPts val="0"/>
              </a:spcBef>
              <a:spcAft>
                <a:spcPts val="700"/>
              </a:spcAft>
              <a:buClr>
                <a:schemeClr val="accent1"/>
              </a:buClr>
              <a:buSzPts val="1400"/>
            </a:pPr>
            <a:r>
              <a:rPr lang="en-US" sz="1600" dirty="0">
                <a:solidFill>
                  <a:schemeClr val="tx1"/>
                </a:solidFill>
                <a:latin typeface="Croc" panose="020B0502020203020203"/>
                <a:sym typeface="Arial" panose="020B0604020202020204"/>
              </a:rPr>
              <a:t>Python + Pandas</a:t>
            </a:r>
            <a:endParaRPr lang="ru-RU" sz="1600" dirty="0">
              <a:solidFill>
                <a:schemeClr val="tx1"/>
              </a:solidFill>
              <a:latin typeface="Candara" panose="020E0502030303020204" pitchFamily="34" charset="0"/>
              <a:sym typeface="Arial" panose="020B0604020202020204"/>
            </a:endParaRPr>
          </a:p>
          <a:p>
            <a:pPr marR="0" lvl="0" algn="l" rtl="0">
              <a:spcBef>
                <a:spcPts val="0"/>
              </a:spcBef>
              <a:spcAft>
                <a:spcPts val="700"/>
              </a:spcAft>
              <a:buClr>
                <a:schemeClr val="accent1"/>
              </a:buClr>
              <a:buSzPts val="1400"/>
            </a:pPr>
            <a:r>
              <a:rPr lang="en-US" sz="1600" dirty="0">
                <a:solidFill>
                  <a:schemeClr val="tx1"/>
                </a:solidFill>
                <a:latin typeface="Croc" panose="020B0502020203020203"/>
                <a:sym typeface="Arial" panose="020B0604020202020204"/>
              </a:rPr>
              <a:t>ИИ-ассистенты (промпты, проверка кода)</a:t>
            </a:r>
            <a:endParaRPr lang="ru-RU" sz="1600" dirty="0">
              <a:solidFill>
                <a:schemeClr val="tx1"/>
              </a:solidFill>
              <a:latin typeface="Candara" panose="020E0502030303020204" pitchFamily="34" charset="0"/>
              <a:sym typeface="Arial" panose="020B0604020202020204"/>
            </a:endParaRPr>
          </a:p>
        </p:txBody>
      </p:sp>
      <p:sp>
        <p:nvSpPr>
          <p:cNvPr id="12" name="Rectangle 43"/>
          <p:cNvSpPr/>
          <p:nvPr/>
        </p:nvSpPr>
        <p:spPr>
          <a:xfrm>
            <a:off x="4330173" y="3016080"/>
            <a:ext cx="3481510" cy="3489765"/>
          </a:xfrm>
          <a:prstGeom prst="rect">
            <a:avLst/>
          </a:prstGeom>
          <a:pattFill prst="pct5">
            <a:fgClr>
              <a:schemeClr val="bg1">
                <a:lumMod val="8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tlCol="0" anchor="t" anchorCtr="0"/>
          <a:lstStyle/>
          <a:p>
            <a:pPr marL="144145">
              <a:lnSpc>
                <a:spcPct val="150000"/>
              </a:lnSpc>
              <a:buClr>
                <a:schemeClr val="accent1"/>
              </a:buClr>
            </a:pPr>
            <a:r>
              <a:rPr lang="en-US" sz="1600" dirty="0">
                <a:solidFill>
                  <a:schemeClr val="dk1"/>
                </a:solidFill>
                <a:latin typeface="Candara" panose="020E0502030303020204" pitchFamily="34" charset="0"/>
                <a:cs typeface="Arial" panose="020B0604020202020204"/>
                <a:sym typeface="Arial" panose="020B0604020202020204"/>
              </a:rPr>
              <a:t>Python + Pandas</a:t>
            </a:r>
          </a:p>
          <a:p>
            <a:pPr marL="144145">
              <a:lnSpc>
                <a:spcPct val="150000"/>
              </a:lnSpc>
              <a:buClr>
                <a:schemeClr val="accent1"/>
              </a:buClr>
            </a:pPr>
            <a:r>
              <a:rPr lang="en-US" sz="1600" dirty="0">
                <a:solidFill>
                  <a:schemeClr val="dk1"/>
                </a:solidFill>
                <a:latin typeface="Candara" panose="020E0502030303020204" pitchFamily="34" charset="0"/>
                <a:cs typeface="Arial" panose="020B0604020202020204"/>
                <a:sym typeface="Arial" panose="020B0604020202020204"/>
              </a:rPr>
              <a:t>API</a:t>
            </a:r>
          </a:p>
          <a:p>
            <a:pPr marL="144145">
              <a:lnSpc>
                <a:spcPct val="150000"/>
              </a:lnSpc>
              <a:buClr>
                <a:schemeClr val="accent1"/>
              </a:buClr>
            </a:pPr>
            <a:r>
              <a:rPr lang="en-US" sz="1600" dirty="0">
                <a:solidFill>
                  <a:schemeClr val="dk1"/>
                </a:solidFill>
                <a:latin typeface="Candara" panose="020E0502030303020204" pitchFamily="34" charset="0"/>
                <a:cs typeface="Arial" panose="020B0604020202020204"/>
                <a:sym typeface="Arial" panose="020B0604020202020204"/>
              </a:rPr>
              <a:t>SQL, NoSQL</a:t>
            </a:r>
          </a:p>
          <a:p>
            <a:pPr marL="144145">
              <a:lnSpc>
                <a:spcPct val="150000"/>
              </a:lnSpc>
              <a:buClr>
                <a:schemeClr val="accent1"/>
              </a:buClr>
            </a:pPr>
            <a:r>
              <a:rPr lang="en-US" sz="1600" dirty="0">
                <a:solidFill>
                  <a:schemeClr val="dk1"/>
                </a:solidFill>
                <a:latin typeface="Candara" panose="020E0502030303020204" pitchFamily="34" charset="0"/>
                <a:cs typeface="Arial" panose="020B0604020202020204"/>
                <a:sym typeface="Arial" panose="020B0604020202020204"/>
              </a:rPr>
              <a:t>Дашборды</a:t>
            </a:r>
          </a:p>
          <a:p>
            <a:pPr marL="144145">
              <a:lnSpc>
                <a:spcPct val="150000"/>
              </a:lnSpc>
              <a:buClr>
                <a:schemeClr val="accent1"/>
              </a:buClr>
            </a:pPr>
            <a:r>
              <a:rPr lang="en-US" sz="1600" dirty="0">
                <a:solidFill>
                  <a:schemeClr val="dk1"/>
                </a:solidFill>
                <a:latin typeface="Candara" panose="020E0502030303020204" pitchFamily="34" charset="0"/>
                <a:cs typeface="Arial" panose="020B0604020202020204"/>
                <a:sym typeface="Arial" panose="020B0604020202020204"/>
              </a:rPr>
              <a:t>Средний уровень статистики</a:t>
            </a:r>
          </a:p>
          <a:p>
            <a:pPr marL="144145">
              <a:lnSpc>
                <a:spcPct val="150000"/>
              </a:lnSpc>
              <a:buClr>
                <a:schemeClr val="accent1"/>
              </a:buClr>
            </a:pPr>
            <a:r>
              <a:rPr lang="en-US" sz="1600" dirty="0">
                <a:solidFill>
                  <a:schemeClr val="dk1"/>
                </a:solidFill>
                <a:latin typeface="Candara" panose="020E0502030303020204" pitchFamily="34" charset="0"/>
                <a:cs typeface="Arial" panose="020B0604020202020204"/>
                <a:sym typeface="Arial" panose="020B0604020202020204"/>
              </a:rPr>
              <a:t>Средний уровень BA, SA</a:t>
            </a:r>
          </a:p>
          <a:p>
            <a:pPr marL="144145">
              <a:lnSpc>
                <a:spcPct val="150000"/>
              </a:lnSpc>
              <a:buClr>
                <a:schemeClr val="accent1"/>
              </a:buClr>
            </a:pPr>
            <a:r>
              <a:rPr lang="en-US" sz="1600" dirty="0">
                <a:solidFill>
                  <a:schemeClr val="dk1"/>
                </a:solidFill>
                <a:latin typeface="Candara" panose="020E0502030303020204" pitchFamily="34" charset="0"/>
                <a:cs typeface="Arial" panose="020B0604020202020204"/>
                <a:sym typeface="Arial" panose="020B0604020202020204"/>
              </a:rPr>
              <a:t>ML</a:t>
            </a:r>
          </a:p>
          <a:p>
            <a:pPr marL="144145">
              <a:lnSpc>
                <a:spcPct val="150000"/>
              </a:lnSpc>
              <a:buClr>
                <a:schemeClr val="accent1"/>
              </a:buClr>
            </a:pPr>
            <a:r>
              <a:rPr lang="en-US" sz="1600" dirty="0">
                <a:solidFill>
                  <a:schemeClr val="dk1"/>
                </a:solidFill>
                <a:latin typeface="Candara" panose="020E0502030303020204" pitchFamily="34" charset="0"/>
                <a:cs typeface="Arial" panose="020B0604020202020204"/>
                <a:sym typeface="Arial" panose="020B0604020202020204"/>
              </a:rPr>
              <a:t>Git, Docker (база)</a:t>
            </a:r>
          </a:p>
        </p:txBody>
      </p:sp>
      <p:sp>
        <p:nvSpPr>
          <p:cNvPr id="13" name="Rectangle 45"/>
          <p:cNvSpPr/>
          <p:nvPr/>
        </p:nvSpPr>
        <p:spPr>
          <a:xfrm>
            <a:off x="7774915" y="2504927"/>
            <a:ext cx="3481510" cy="40009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rtlCol="0" anchor="t" anchorCtr="0"/>
          <a:lstStyle/>
          <a:p>
            <a:pPr marL="144145">
              <a:lnSpc>
                <a:spcPct val="150000"/>
              </a:lnSpc>
              <a:buClr>
                <a:schemeClr val="accent1"/>
              </a:buClr>
            </a:pPr>
            <a:r>
              <a:rPr lang="en-US" sz="1600" dirty="0">
                <a:solidFill>
                  <a:schemeClr val="dk1"/>
                </a:solidFill>
                <a:latin typeface="Candara" panose="020E0502030303020204" pitchFamily="34" charset="0"/>
                <a:cs typeface="Arial" panose="020B0604020202020204"/>
                <a:sym typeface="Arial" panose="020B0604020202020204"/>
              </a:rPr>
              <a:t>Python, Pandas</a:t>
            </a:r>
          </a:p>
          <a:p>
            <a:pPr marL="144145">
              <a:lnSpc>
                <a:spcPct val="150000"/>
              </a:lnSpc>
              <a:buClr>
                <a:schemeClr val="accent1"/>
              </a:buClr>
            </a:pPr>
            <a:r>
              <a:rPr lang="en-US" sz="1600" dirty="0">
                <a:solidFill>
                  <a:schemeClr val="dk1"/>
                </a:solidFill>
                <a:latin typeface="Candara" panose="020E0502030303020204" pitchFamily="34" charset="0"/>
                <a:cs typeface="Arial" panose="020B0604020202020204"/>
                <a:sym typeface="Arial" panose="020B0604020202020204"/>
              </a:rPr>
              <a:t>SQL</a:t>
            </a:r>
          </a:p>
          <a:p>
            <a:pPr marL="144145">
              <a:lnSpc>
                <a:spcPct val="150000"/>
              </a:lnSpc>
              <a:buClr>
                <a:schemeClr val="accent1"/>
              </a:buClr>
            </a:pPr>
            <a:r>
              <a:rPr lang="en-US" sz="1600" dirty="0">
                <a:solidFill>
                  <a:schemeClr val="dk1"/>
                </a:solidFill>
                <a:latin typeface="Candara" panose="020E0502030303020204" pitchFamily="34" charset="0"/>
                <a:cs typeface="Arial" panose="020B0604020202020204"/>
                <a:sym typeface="Arial" panose="020B0604020202020204"/>
              </a:rPr>
              <a:t>Дашборды</a:t>
            </a:r>
          </a:p>
          <a:p>
            <a:pPr marL="144145">
              <a:lnSpc>
                <a:spcPct val="150000"/>
              </a:lnSpc>
              <a:buClr>
                <a:schemeClr val="accent1"/>
              </a:buClr>
            </a:pPr>
            <a:r>
              <a:rPr lang="en-US" sz="1600" dirty="0">
                <a:solidFill>
                  <a:schemeClr val="dk1"/>
                </a:solidFill>
                <a:latin typeface="Candara" panose="020E0502030303020204" pitchFamily="34" charset="0"/>
                <a:cs typeface="Arial" panose="020B0604020202020204"/>
                <a:sym typeface="Arial" panose="020B0604020202020204"/>
              </a:rPr>
              <a:t>ML</a:t>
            </a:r>
          </a:p>
          <a:p>
            <a:pPr marL="144145">
              <a:lnSpc>
                <a:spcPct val="150000"/>
              </a:lnSpc>
              <a:buClr>
                <a:schemeClr val="accent1"/>
              </a:buClr>
            </a:pPr>
            <a:r>
              <a:rPr lang="en-US" sz="1600" dirty="0">
                <a:solidFill>
                  <a:schemeClr val="dk1"/>
                </a:solidFill>
                <a:latin typeface="Candara" panose="020E0502030303020204" pitchFamily="34" charset="0"/>
                <a:cs typeface="Arial" panose="020B0604020202020204"/>
                <a:sym typeface="Arial" panose="020B0604020202020204"/>
              </a:rPr>
              <a:t>Spark, ClickHouse</a:t>
            </a:r>
          </a:p>
          <a:p>
            <a:pPr marL="144145">
              <a:lnSpc>
                <a:spcPct val="150000"/>
              </a:lnSpc>
              <a:buClr>
                <a:schemeClr val="accent1"/>
              </a:buClr>
            </a:pPr>
            <a:r>
              <a:rPr lang="en-US" sz="1600" dirty="0">
                <a:solidFill>
                  <a:schemeClr val="dk1"/>
                </a:solidFill>
                <a:latin typeface="Candara" panose="020E0502030303020204" pitchFamily="34" charset="0"/>
                <a:cs typeface="Arial" panose="020B0604020202020204"/>
                <a:sym typeface="Arial" panose="020B0604020202020204"/>
              </a:rPr>
              <a:t>Airflow / dbt</a:t>
            </a:r>
          </a:p>
          <a:p>
            <a:pPr marL="144145">
              <a:lnSpc>
                <a:spcPct val="150000"/>
              </a:lnSpc>
              <a:buClr>
                <a:schemeClr val="accent1"/>
              </a:buClr>
            </a:pPr>
            <a:r>
              <a:rPr lang="en-US" sz="1600" dirty="0">
                <a:solidFill>
                  <a:schemeClr val="dk1"/>
                </a:solidFill>
                <a:latin typeface="Candara" panose="020E0502030303020204" pitchFamily="34" charset="0"/>
                <a:cs typeface="Arial" panose="020B0604020202020204"/>
                <a:sym typeface="Arial" panose="020B0604020202020204"/>
              </a:rPr>
              <a:t>Высокий уровень статистики</a:t>
            </a:r>
          </a:p>
          <a:p>
            <a:pPr marL="144145">
              <a:lnSpc>
                <a:spcPct val="150000"/>
              </a:lnSpc>
              <a:buClr>
                <a:schemeClr val="accent1"/>
              </a:buClr>
            </a:pPr>
            <a:r>
              <a:rPr lang="en-US" sz="1600" dirty="0">
                <a:solidFill>
                  <a:schemeClr val="dk1"/>
                </a:solidFill>
                <a:latin typeface="Candara" panose="020E0502030303020204" pitchFamily="34" charset="0"/>
                <a:cs typeface="Arial" panose="020B0604020202020204"/>
                <a:sym typeface="Arial" panose="020B0604020202020204"/>
              </a:rPr>
              <a:t>Высокий уровень BA, SA</a:t>
            </a:r>
          </a:p>
        </p:txBody>
      </p:sp>
      <p:sp>
        <p:nvSpPr>
          <p:cNvPr id="16" name="Rectangle 51"/>
          <p:cNvSpPr/>
          <p:nvPr/>
        </p:nvSpPr>
        <p:spPr>
          <a:xfrm>
            <a:off x="842730" y="3138058"/>
            <a:ext cx="3481510" cy="389176"/>
          </a:xfrm>
          <a:prstGeom prst="rect">
            <a:avLst/>
          </a:prstGeom>
          <a:solidFill>
            <a:srgbClr val="040A1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72000" rIns="36000" bIns="36000" rtlCol="0" anchor="ctr"/>
          <a:lstStyle/>
          <a:p>
            <a:pPr marL="144145"/>
            <a:r>
              <a:rPr lang="en-US" sz="1600" b="1" dirty="0">
                <a:solidFill>
                  <a:schemeClr val="bg1"/>
                </a:solidFill>
                <a:latin typeface="Croc" panose="020B0502020203020203" pitchFamily="34" charset="0"/>
                <a:cs typeface="Arial" panose="020B0604020202020204"/>
              </a:rPr>
              <a:t>JUNIOR</a:t>
            </a:r>
          </a:p>
        </p:txBody>
      </p:sp>
      <p:sp>
        <p:nvSpPr>
          <p:cNvPr id="17" name="Rectangle 53"/>
          <p:cNvSpPr/>
          <p:nvPr/>
        </p:nvSpPr>
        <p:spPr>
          <a:xfrm>
            <a:off x="4318212" y="2626904"/>
            <a:ext cx="3444742" cy="389176"/>
          </a:xfrm>
          <a:prstGeom prst="rect">
            <a:avLst/>
          </a:prstGeom>
          <a:solidFill>
            <a:srgbClr val="040A1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72000" rIns="36000" bIns="36000" rtlCol="0" anchor="ctr"/>
          <a:lstStyle/>
          <a:p>
            <a:pPr marL="144145" marR="0" lvl="0" indent="0" algn="l" rtl="0">
              <a:spcBef>
                <a:spcPts val="0"/>
              </a:spcBef>
              <a:spcAft>
                <a:spcPts val="0"/>
              </a:spcAft>
              <a:buNone/>
            </a:pPr>
            <a:r>
              <a:rPr lang="en-US" sz="1600" b="1" dirty="0">
                <a:solidFill>
                  <a:schemeClr val="bg1"/>
                </a:solidFill>
                <a:latin typeface="Croc" panose="020B0502020203020203" pitchFamily="34" charset="0"/>
                <a:cs typeface="Arial" panose="020B0604020202020204"/>
              </a:rPr>
              <a:t>MIDDLE</a:t>
            </a:r>
          </a:p>
        </p:txBody>
      </p:sp>
      <p:sp>
        <p:nvSpPr>
          <p:cNvPr id="18" name="Rectangle 55"/>
          <p:cNvSpPr/>
          <p:nvPr/>
        </p:nvSpPr>
        <p:spPr>
          <a:xfrm>
            <a:off x="7762954" y="2115751"/>
            <a:ext cx="3481510" cy="389176"/>
          </a:xfrm>
          <a:prstGeom prst="rect">
            <a:avLst/>
          </a:prstGeom>
          <a:solidFill>
            <a:srgbClr val="040A1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72000" rIns="36000" bIns="36000" rtlCol="0" anchor="ctr"/>
          <a:lstStyle/>
          <a:p>
            <a:pPr marL="144145" marR="0" lvl="0" indent="0" algn="l" rtl="0">
              <a:spcBef>
                <a:spcPts val="0"/>
              </a:spcBef>
              <a:spcAft>
                <a:spcPts val="0"/>
              </a:spcAft>
              <a:buNone/>
            </a:pPr>
            <a:r>
              <a:rPr lang="en-US" sz="1600" b="1" dirty="0">
                <a:solidFill>
                  <a:schemeClr val="bg1"/>
                </a:solidFill>
                <a:latin typeface="Croc" panose="020B0502020203020203" pitchFamily="34" charset="0"/>
                <a:cs typeface="Arial" panose="020B0604020202020204"/>
              </a:rPr>
              <a:t>SENIOR</a:t>
            </a:r>
          </a:p>
        </p:txBody>
      </p:sp>
      <p:sp>
        <p:nvSpPr>
          <p:cNvPr id="371" name="Google Shape;371;p23"/>
          <p:cNvSpPr txBox="1">
            <a:spLocks noGrp="1"/>
          </p:cNvSpPr>
          <p:nvPr>
            <p:ph type="title"/>
          </p:nvPr>
        </p:nvSpPr>
        <p:spPr>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rgbClr val="3A393C"/>
              </a:buClr>
              <a:buSzPts val="2800"/>
              <a:buFont typeface="Arial" panose="020B0604020202020204"/>
              <a:buNone/>
            </a:pPr>
            <a:r>
              <a:rPr lang="ru-RU" b="0" dirty="0">
                <a:solidFill>
                  <a:schemeClr val="bg1"/>
                </a:solidFill>
              </a:rPr>
              <a:t>Что ждёт работодатель в 2026</a:t>
            </a:r>
            <a:endParaRPr b="0" dirty="0">
              <a:solidFill>
                <a:schemeClr val="bg1"/>
              </a:solidFill>
            </a:endParaRPr>
          </a:p>
        </p:txBody>
      </p:sp>
      <p:pic>
        <p:nvPicPr>
          <p:cNvPr id="4102" name="Picture 6" descr="Person: Light Skin Tone, Beard on Apple iOS 14.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10598" y="1211486"/>
            <a:ext cx="786222" cy="786222"/>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Man: Medium-Light Skin Tone on Apple iOS 14.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47472" y="1714355"/>
            <a:ext cx="786222" cy="786222"/>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Person: Medium-Light Skin Tone, Blond Hair on Apple iOS 14.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4346" y="2229858"/>
            <a:ext cx="786222" cy="78622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617940" y="7189940"/>
            <a:ext cx="184731" cy="307777"/>
          </a:xfrm>
          <a:prstGeom prst="rect">
            <a:avLst/>
          </a:prstGeom>
          <a:noFill/>
        </p:spPr>
        <p:txBody>
          <a:bodyPr wrap="none" rtlCol="0">
            <a:spAutoFit/>
          </a:bodyPr>
          <a:lstStyle/>
          <a:p>
            <a:endParaRPr lang="ru-RU" dirty="0"/>
          </a:p>
        </p:txBody>
      </p:sp>
    </p:spTree>
    <p:extLst>
      <p:ext uri="{BB962C8B-B14F-4D97-AF65-F5344CB8AC3E}">
        <p14:creationId xmlns:p14="http://schemas.microsoft.com/office/powerpoint/2010/main" val="734407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42425"/>
        </a:solidFill>
        <a:effectLst/>
      </p:bgPr>
    </p:bg>
    <p:spTree>
      <p:nvGrpSpPr>
        <p:cNvPr id="1" name=""/>
        <p:cNvGrpSpPr/>
        <p:nvPr/>
      </p:nvGrpSpPr>
      <p:grpSpPr>
        <a:xfrm>
          <a:off x="0" y="0"/>
          <a:ext cx="0" cy="0"/>
          <a:chOff x="0" y="0"/>
          <a:chExt cx="0" cy="0"/>
        </a:xfrm>
      </p:grpSpPr>
      <p:pic>
        <p:nvPicPr>
          <p:cNvPr id="16" name="Рисунок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75885" y="-972454"/>
            <a:ext cx="5483077" cy="5400000"/>
          </a:xfrm>
          <a:prstGeom prst="rect">
            <a:avLst/>
          </a:prstGeom>
        </p:spPr>
      </p:pic>
      <p:sp>
        <p:nvSpPr>
          <p:cNvPr id="19" name="TextBox 18"/>
          <p:cNvSpPr txBox="1"/>
          <p:nvPr/>
        </p:nvSpPr>
        <p:spPr>
          <a:xfrm>
            <a:off x="566039" y="3972957"/>
            <a:ext cx="8499475" cy="2086725"/>
          </a:xfrm>
          <a:prstGeom prst="rect">
            <a:avLst/>
          </a:prstGeom>
          <a:noFill/>
        </p:spPr>
        <p:txBody>
          <a:bodyPr wrap="square" lIns="0" rtlCol="0">
            <a:spAutoFit/>
          </a:bodyPr>
          <a:lstStyle/>
          <a:p>
            <a:pPr>
              <a:lnSpc>
                <a:spcPct val="90000"/>
              </a:lnSpc>
            </a:pPr>
            <a:r>
              <a:rPr lang="en-US" sz="4800" dirty="0">
                <a:solidFill>
                  <a:schemeClr val="bg1"/>
                </a:solidFill>
                <a:latin typeface="Croc" panose="020B0502020203020203" pitchFamily="34" charset="0"/>
              </a:rPr>
              <a:t>PART </a:t>
            </a:r>
            <a:r>
              <a:rPr lang="ru-RU" sz="4800" dirty="0">
                <a:solidFill>
                  <a:schemeClr val="bg1"/>
                </a:solidFill>
                <a:latin typeface="Croc" panose="020B0502020203020203" pitchFamily="34" charset="0"/>
              </a:rPr>
              <a:t>3</a:t>
            </a:r>
            <a:r>
              <a:rPr lang="en-US" sz="4800" dirty="0">
                <a:solidFill>
                  <a:schemeClr val="bg1"/>
                </a:solidFill>
                <a:latin typeface="Croc" panose="020B0502020203020203" pitchFamily="34" charset="0"/>
              </a:rPr>
              <a:t> </a:t>
            </a:r>
          </a:p>
          <a:p>
            <a:pPr>
              <a:lnSpc>
                <a:spcPct val="90000"/>
              </a:lnSpc>
            </a:pPr>
            <a:r>
              <a:rPr lang="en-US" sz="4800" dirty="0">
                <a:solidFill>
                  <a:schemeClr val="bg1"/>
                </a:solidFill>
                <a:latin typeface="Croc" panose="020B0502020203020203" pitchFamily="34" charset="0"/>
                <a:sym typeface="Arial" panose="020B0604020202020204"/>
              </a:rPr>
              <a:t>Python</a:t>
            </a:r>
            <a:endParaRPr lang="ru-RU" sz="4800" dirty="0">
              <a:solidFill>
                <a:schemeClr val="bg1"/>
              </a:solidFill>
              <a:latin typeface="Croc" panose="020B0502020203020203" pitchFamily="34" charset="0"/>
            </a:endParaRPr>
          </a:p>
          <a:p>
            <a:pPr>
              <a:lnSpc>
                <a:spcPct val="90000"/>
              </a:lnSpc>
            </a:pPr>
            <a:endParaRPr lang="ru-RU" sz="4800" dirty="0">
              <a:solidFill>
                <a:schemeClr val="bg1"/>
              </a:solidFill>
              <a:latin typeface="Croc" panose="020B0502020203020203" pitchFamily="34" charset="0"/>
            </a:endParaRPr>
          </a:p>
        </p:txBody>
      </p:sp>
      <p:pic>
        <p:nvPicPr>
          <p:cNvPr id="4"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1969" y="6291563"/>
            <a:ext cx="1231941" cy="481826"/>
          </a:xfrm>
          <a:prstGeom prst="rect">
            <a:avLst/>
          </a:prstGeom>
          <a:noFill/>
          <a:extLst>
            <a:ext uri="{909E8E84-426E-40DD-AFC4-6F175D3DCCD1}">
              <a14:hiddenFill xmlns:a14="http://schemas.microsoft.com/office/drawing/2010/main">
                <a:solidFill>
                  <a:srgbClr val="FFFFFF"/>
                </a:solidFill>
              </a14:hiddenFill>
            </a:ext>
          </a:extLst>
        </p:spPr>
      </p:pic>
      <p:pic>
        <p:nvPicPr>
          <p:cNvPr id="20" name="Мем s18_02_nositel_yazyka" descr="s18_02_nositel_yazyka.jpg"/>
          <p:cNvPicPr>
            <a:picLocks noChangeAspect="1"/>
          </p:cNvPicPr>
          <p:nvPr/>
        </p:nvPicPr>
        <p:blipFill>
          <a:blip r:embed="rId5"/>
          <a:stretch>
            <a:fillRect/>
          </a:stretch>
        </p:blipFill>
        <p:spPr>
          <a:xfrm>
            <a:off x="4613283" y="362953"/>
            <a:ext cx="5837003" cy="613209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Прямоугольник 19"/>
          <p:cNvSpPr/>
          <p:nvPr/>
        </p:nvSpPr>
        <p:spPr>
          <a:xfrm>
            <a:off x="0" y="1"/>
            <a:ext cx="12192000" cy="3429000"/>
          </a:xfrm>
          <a:prstGeom prst="rect">
            <a:avLst/>
          </a:prstGeom>
          <a:solidFill>
            <a:srgbClr val="6F26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object 2"/>
          <p:cNvSpPr/>
          <p:nvPr/>
        </p:nvSpPr>
        <p:spPr>
          <a:xfrm>
            <a:off x="0" y="1303199"/>
            <a:ext cx="12192000" cy="55548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0000"/>
          </a:solidFill>
        </p:spPr>
        <p:txBody>
          <a:bodyPr wrap="square" lIns="0" tIns="0" rIns="0" bIns="0" rtlCol="0"/>
          <a:lstStyle/>
          <a:p>
            <a:r>
              <a:rPr lang="ru-RU" b="0" i="0">
                <a:solidFill>
                  <a:schemeClr val="bg1"/>
                </a:solidFill>
                <a:effectLst/>
                <a:latin typeface="Roboto" panose="02000000000000000000" pitchFamily="2" charset="0"/>
              </a:rPr>
              <a:t>  </a:t>
            </a:r>
            <a:endParaRPr lang="ru-RU" dirty="0">
              <a:solidFill>
                <a:schemeClr val="bg1"/>
              </a:solidFill>
            </a:endParaRPr>
          </a:p>
        </p:txBody>
      </p:sp>
      <p:sp>
        <p:nvSpPr>
          <p:cNvPr id="8" name="Заголовок 2"/>
          <p:cNvSpPr>
            <a:spLocks noGrp="1"/>
          </p:cNvSpPr>
          <p:nvPr>
            <p:ph type="title"/>
          </p:nvPr>
        </p:nvSpPr>
        <p:spPr>
          <a:xfrm>
            <a:off x="288294" y="378315"/>
            <a:ext cx="10566837" cy="609398"/>
          </a:xfrm>
        </p:spPr>
        <p:txBody>
          <a:bodyPr/>
          <a:lstStyle/>
          <a:p>
            <a:r>
              <a:rPr lang="ru-RU" sz="4400" b="0" dirty="0">
                <a:solidFill>
                  <a:schemeClr val="bg1"/>
                </a:solidFill>
              </a:rPr>
              <a:t>А ради чего мы тут собрались? </a:t>
            </a:r>
          </a:p>
        </p:txBody>
      </p:sp>
      <p:sp>
        <p:nvSpPr>
          <p:cNvPr id="11" name="TextBox 10">
            <a:extLst>
              <a:ext uri="{FF2B5EF4-FFF2-40B4-BE49-F238E27FC236}">
                <a16:creationId xmlns:a16="http://schemas.microsoft.com/office/drawing/2014/main" id="{FA7253F7-9E11-4F60-8958-DD6D8CC73AD3}"/>
              </a:ext>
            </a:extLst>
          </p:cNvPr>
          <p:cNvSpPr txBox="1"/>
          <p:nvPr/>
        </p:nvSpPr>
        <p:spPr>
          <a:xfrm>
            <a:off x="1446244" y="2835176"/>
            <a:ext cx="10011747" cy="2308324"/>
          </a:xfrm>
          <a:prstGeom prst="rect">
            <a:avLst/>
          </a:prstGeom>
          <a:noFill/>
        </p:spPr>
        <p:txBody>
          <a:bodyPr wrap="square">
            <a:spAutoFit/>
          </a:bodyPr>
          <a:lstStyle/>
          <a:p>
            <a:pPr algn="l"/>
            <a:r>
              <a:rPr lang="ru-RU" sz="4800" b="0" i="0" dirty="0">
                <a:solidFill>
                  <a:schemeClr val="bg1"/>
                </a:solidFill>
                <a:effectLst/>
                <a:latin typeface="-apple-system"/>
              </a:rPr>
              <a:t>Python — это не самоцель. Это наш инструмент, чтобы добраться до самого интересного</a:t>
            </a:r>
          </a:p>
        </p:txBody>
      </p:sp>
    </p:spTree>
    <p:extLst>
      <p:ext uri="{BB962C8B-B14F-4D97-AF65-F5344CB8AC3E}">
        <p14:creationId xmlns:p14="http://schemas.microsoft.com/office/powerpoint/2010/main" val="35173288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22"/>
          <p:cNvSpPr/>
          <p:nvPr/>
        </p:nvSpPr>
        <p:spPr>
          <a:xfrm>
            <a:off x="4945527" y="0"/>
            <a:ext cx="7246473" cy="6857999"/>
          </a:xfrm>
          <a:prstGeom prst="rect">
            <a:avLst/>
          </a:prstGeom>
          <a:solidFill>
            <a:srgbClr val="6F26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grpSp>
        <p:nvGrpSpPr>
          <p:cNvPr id="351" name="Google Shape;351;p22"/>
          <p:cNvGrpSpPr/>
          <p:nvPr/>
        </p:nvGrpSpPr>
        <p:grpSpPr>
          <a:xfrm>
            <a:off x="4764824" y="4108596"/>
            <a:ext cx="14854353" cy="14854353"/>
            <a:chOff x="41568" y="3083077"/>
            <a:chExt cx="8925756" cy="8925756"/>
          </a:xfrm>
        </p:grpSpPr>
        <p:sp>
          <p:nvSpPr>
            <p:cNvPr id="352" name="Google Shape;352;p22"/>
            <p:cNvSpPr/>
            <p:nvPr/>
          </p:nvSpPr>
          <p:spPr>
            <a:xfrm>
              <a:off x="41568" y="3083077"/>
              <a:ext cx="8925756" cy="8925756"/>
            </a:xfrm>
            <a:prstGeom prst="ellipse">
              <a:avLst/>
            </a:prstGeom>
            <a:solidFill>
              <a:srgbClr val="24242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353" name="Google Shape;353;p22"/>
            <p:cNvSpPr/>
            <p:nvPr/>
          </p:nvSpPr>
          <p:spPr>
            <a:xfrm>
              <a:off x="2387350" y="3799046"/>
              <a:ext cx="5760000" cy="5760000"/>
            </a:xfrm>
            <a:prstGeom prst="ellipse">
              <a:avLst/>
            </a:prstGeom>
            <a:solidFill>
              <a:srgbClr val="6F26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grpSp>
      <p:sp>
        <p:nvSpPr>
          <p:cNvPr id="354" name="Google Shape;354;p22"/>
          <p:cNvSpPr txBox="1">
            <a:spLocks noGrp="1"/>
          </p:cNvSpPr>
          <p:nvPr>
            <p:ph type="title"/>
          </p:nvPr>
        </p:nvSpPr>
        <p:spPr>
          <a:xfrm>
            <a:off x="55333" y="180028"/>
            <a:ext cx="10566837" cy="664797"/>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rgbClr val="3A393C"/>
              </a:buClr>
              <a:buSzPts val="2800"/>
              <a:buFont typeface="Arial" panose="020B0604020202020204"/>
              <a:buNone/>
            </a:pPr>
            <a:r>
              <a:rPr lang="ru-RU" sz="4800">
                <a:solidFill>
                  <a:schemeClr val="dk1"/>
                </a:solidFill>
              </a:rPr>
              <a:t>Немного истории</a:t>
            </a:r>
            <a:endParaRPr sz="4800"/>
          </a:p>
        </p:txBody>
      </p:sp>
      <p:sp>
        <p:nvSpPr>
          <p:cNvPr id="355" name="Google Shape;355;p22"/>
          <p:cNvSpPr/>
          <p:nvPr/>
        </p:nvSpPr>
        <p:spPr>
          <a:xfrm>
            <a:off x="556519" y="932948"/>
            <a:ext cx="4298506" cy="6186309"/>
          </a:xfrm>
          <a:prstGeom prst="rect">
            <a:avLst/>
          </a:prstGeom>
          <a:noFill/>
          <a:ln>
            <a:noFill/>
          </a:ln>
        </p:spPr>
        <p:txBody>
          <a:bodyPr spcFirstLastPara="1" wrap="square" lIns="0" tIns="45700" rIns="91425" bIns="45700" anchor="t" anchorCtr="0">
            <a:spAutoFit/>
          </a:bodyPr>
          <a:lstStyle/>
          <a:p>
            <a:pPr marL="0" marR="0" lvl="0" indent="0" algn="ctr" rtl="0">
              <a:spcBef>
                <a:spcPts val="0"/>
              </a:spcBef>
              <a:spcAft>
                <a:spcPts val="0"/>
              </a:spcAft>
              <a:buNone/>
            </a:pPr>
            <a:r>
              <a:rPr lang="ru-RU" sz="2400" b="0" i="0">
                <a:solidFill>
                  <a:srgbClr val="000000"/>
                </a:solidFill>
                <a:latin typeface="Arial" panose="020B0604020202020204"/>
                <a:ea typeface="Arial" panose="020B0604020202020204"/>
                <a:cs typeface="Arial" panose="020B0604020202020204"/>
                <a:sym typeface="Arial" panose="020B0604020202020204"/>
              </a:rPr>
              <a:t>Python был разработан в конце 1989 г. Гуидо ван Россумом </a:t>
            </a:r>
          </a:p>
          <a:p>
            <a:pPr marL="0" marR="0" lvl="0" indent="0" algn="ctr" rtl="0">
              <a:spcBef>
                <a:spcPts val="0"/>
              </a:spcBef>
              <a:spcAft>
                <a:spcPts val="0"/>
              </a:spcAft>
              <a:buNone/>
            </a:pPr>
            <a:endParaRPr sz="2400">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spcBef>
                <a:spcPts val="0"/>
              </a:spcBef>
              <a:spcAft>
                <a:spcPts val="0"/>
              </a:spcAft>
              <a:buNone/>
            </a:pPr>
            <a:r>
              <a:rPr lang="ru-RU" sz="2400" b="0" i="0">
                <a:solidFill>
                  <a:srgbClr val="000000"/>
                </a:solidFill>
                <a:latin typeface="Arial" panose="020B0604020202020204"/>
                <a:ea typeface="Arial" panose="020B0604020202020204"/>
                <a:cs typeface="Arial" panose="020B0604020202020204"/>
                <a:sym typeface="Arial" panose="020B0604020202020204"/>
              </a:rPr>
              <a:t>Гуидо обожал телевизионную передачу “Летающий цирк питона Монти”, и когда пришло время дать название своему языку, он выбрал имя Python. </a:t>
            </a:r>
          </a:p>
          <a:p>
            <a:pPr marL="0" marR="0" lvl="0" indent="0" algn="ctr" rtl="0">
              <a:spcBef>
                <a:spcPts val="0"/>
              </a:spcBef>
              <a:spcAft>
                <a:spcPts val="0"/>
              </a:spcAft>
              <a:buNone/>
            </a:pPr>
            <a:endParaRPr sz="2400">
              <a:solidFill>
                <a:srgbClr val="000000"/>
              </a:solidFill>
              <a:latin typeface="Arial" panose="020B0604020202020204"/>
              <a:ea typeface="Arial" panose="020B0604020202020204"/>
              <a:cs typeface="Arial" panose="020B0604020202020204"/>
              <a:sym typeface="Arial" panose="020B0604020202020204"/>
            </a:endParaRPr>
          </a:p>
          <a:p>
            <a:pPr marL="0" marR="0" lvl="0" indent="0" algn="ctr" rtl="0">
              <a:spcBef>
                <a:spcPts val="0"/>
              </a:spcBef>
              <a:spcAft>
                <a:spcPts val="0"/>
              </a:spcAft>
              <a:buNone/>
            </a:pPr>
            <a:r>
              <a:rPr lang="ru-RU" sz="2400" b="0" i="0">
                <a:solidFill>
                  <a:srgbClr val="000000"/>
                </a:solidFill>
                <a:latin typeface="Arial" panose="020B0604020202020204"/>
                <a:ea typeface="Arial" panose="020B0604020202020204"/>
                <a:cs typeface="Arial" panose="020B0604020202020204"/>
                <a:sym typeface="Arial" panose="020B0604020202020204"/>
              </a:rPr>
              <a:t>В 1991 г. Python был размещен для общего доступа</a:t>
            </a:r>
          </a:p>
          <a:p>
            <a:pPr marL="0" marR="0" lvl="0" indent="0" algn="l" rtl="0">
              <a:spcBef>
                <a:spcPts val="0"/>
              </a:spcBef>
              <a:spcAft>
                <a:spcPts val="0"/>
              </a:spcAft>
              <a:buNone/>
            </a:pPr>
            <a:br>
              <a:rPr lang="ru-RU" sz="1800">
                <a:solidFill>
                  <a:schemeClr val="dk1"/>
                </a:solidFill>
                <a:latin typeface="Arial" panose="020B0604020202020204"/>
                <a:ea typeface="Arial" panose="020B0604020202020204"/>
                <a:cs typeface="Arial" panose="020B0604020202020204"/>
                <a:sym typeface="Arial" panose="020B0604020202020204"/>
              </a:rPr>
            </a:br>
            <a:endParaRPr sz="1800">
              <a:solidFill>
                <a:srgbClr val="343336"/>
              </a:solidFill>
              <a:latin typeface="Arial" panose="020B0604020202020204"/>
              <a:ea typeface="Arial" panose="020B0604020202020204"/>
              <a:cs typeface="Arial" panose="020B0604020202020204"/>
              <a:sym typeface="Arial" panose="020B0604020202020204"/>
            </a:endParaRPr>
          </a:p>
        </p:txBody>
      </p:sp>
      <p:pic>
        <p:nvPicPr>
          <p:cNvPr id="357" name="Google Shape;357;p22" descr="Летающий цирк Монти Пайтона — Википедия"/>
          <p:cNvPicPr preferRelativeResize="0"/>
          <p:nvPr/>
        </p:nvPicPr>
        <p:blipFill rotWithShape="1">
          <a:blip r:embed="rId3"/>
          <a:srcRect/>
          <a:stretch>
            <a:fillRect/>
          </a:stretch>
        </p:blipFill>
        <p:spPr>
          <a:xfrm>
            <a:off x="8636582" y="1635020"/>
            <a:ext cx="3063404" cy="4737222"/>
          </a:xfrm>
          <a:prstGeom prst="rect">
            <a:avLst/>
          </a:prstGeom>
          <a:noFill/>
          <a:ln>
            <a:noFill/>
          </a:ln>
        </p:spPr>
      </p:pic>
      <p:pic>
        <p:nvPicPr>
          <p:cNvPr id="358" name="Google Shape;358;p22" descr="Ван Россум, Гвидо — Википедия"/>
          <p:cNvPicPr preferRelativeResize="0"/>
          <p:nvPr/>
        </p:nvPicPr>
        <p:blipFill rotWithShape="1">
          <a:blip r:embed="rId4"/>
          <a:srcRect/>
          <a:stretch>
            <a:fillRect/>
          </a:stretch>
        </p:blipFill>
        <p:spPr>
          <a:xfrm>
            <a:off x="5180778" y="1679966"/>
            <a:ext cx="3128184" cy="4692276"/>
          </a:xfrm>
          <a:prstGeom prst="rect">
            <a:avLst/>
          </a:prstGeom>
          <a:noFill/>
          <a:ln>
            <a:noFill/>
          </a:ln>
        </p:spPr>
      </p:pic>
      <p:pic>
        <p:nvPicPr>
          <p:cNvPr id="359" name="Google Shape;359;p22"/>
          <p:cNvPicPr preferRelativeResize="0"/>
          <p:nvPr/>
        </p:nvPicPr>
        <p:blipFill rotWithShape="1">
          <a:blip r:embed="rId5"/>
          <a:srcRect/>
          <a:stretch>
            <a:fillRect/>
          </a:stretch>
        </p:blipFill>
        <p:spPr>
          <a:xfrm>
            <a:off x="5309216" y="-382635"/>
            <a:ext cx="6327113" cy="245492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a:xfrm>
            <a:off x="586001" y="474130"/>
            <a:ext cx="10566837" cy="498598"/>
          </a:xfrm>
        </p:spPr>
        <p:txBody>
          <a:bodyPr/>
          <a:lstStyle/>
          <a:p>
            <a:r>
              <a:rPr lang="ru-RU" dirty="0"/>
              <a:t>PYTHON СЕГОДНЯ</a:t>
            </a:r>
          </a:p>
        </p:txBody>
      </p:sp>
      <p:sp>
        <p:nvSpPr>
          <p:cNvPr id="4" name="TextBox 3"/>
          <p:cNvSpPr txBox="1"/>
          <p:nvPr/>
        </p:nvSpPr>
        <p:spPr>
          <a:xfrm>
            <a:off x="10751893" y="6409366"/>
            <a:ext cx="868101" cy="246221"/>
          </a:xfrm>
          <a:prstGeom prst="rect">
            <a:avLst/>
          </a:prstGeom>
          <a:noFill/>
        </p:spPr>
        <p:txBody>
          <a:bodyPr wrap="square" rIns="0" rtlCol="0" anchor="b">
            <a:spAutoFit/>
          </a:bodyPr>
          <a:lstStyle/>
          <a:p>
            <a:pPr algn="r"/>
            <a:r>
              <a:rPr lang="en-US" sz="1000" dirty="0">
                <a:solidFill>
                  <a:srgbClr val="242425"/>
                </a:solidFill>
                <a:latin typeface="Croc" panose="020B0502020203020203" pitchFamily="34" charset="0"/>
              </a:rPr>
              <a:t>N</a:t>
            </a:r>
            <a:endParaRPr lang="ru-RU" sz="1000" dirty="0">
              <a:solidFill>
                <a:srgbClr val="242425"/>
              </a:solidFill>
              <a:latin typeface="Croc" panose="020B0502020203020203" pitchFamily="34" charset="0"/>
            </a:endParaRPr>
          </a:p>
        </p:txBody>
      </p:sp>
      <p:pic>
        <p:nvPicPr>
          <p:cNvPr id="307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1969" y="6291563"/>
            <a:ext cx="1231941" cy="481826"/>
          </a:xfrm>
          <a:prstGeom prst="rect">
            <a:avLst/>
          </a:prstGeom>
          <a:noFill/>
          <a:extLst>
            <a:ext uri="{909E8E84-426E-40DD-AFC4-6F175D3DCCD1}">
              <a14:hiddenFill xmlns:a14="http://schemas.microsoft.com/office/drawing/2010/main">
                <a:solidFill>
                  <a:srgbClr val="FFFFFF"/>
                </a:solidFill>
              </a14:hiddenFill>
            </a:ext>
          </a:extLst>
        </p:spPr>
      </p:pic>
      <p:sp>
        <p:nvSpPr>
          <p:cNvPr id="3075" name="TextBox 3074"/>
          <p:cNvSpPr txBox="1"/>
          <p:nvPr/>
        </p:nvSpPr>
        <p:spPr>
          <a:xfrm>
            <a:off x="585216" y="1143000"/>
            <a:ext cx="10972800" cy="457200"/>
          </a:xfrm>
          <a:prstGeom prst="rect">
            <a:avLst/>
          </a:prstGeom>
          <a:noFill/>
        </p:spPr>
        <p:txBody>
          <a:bodyPr wrap="square" lIns="45720" rIns="45720" anchor="t">
            <a:noAutofit/>
          </a:bodyPr>
          <a:lstStyle/>
          <a:p>
            <a:pPr algn="l"/>
            <a:r>
              <a:rPr sz="1600" b="1" i="0">
                <a:solidFill>
                  <a:srgbClr val="242425"/>
                </a:solidFill>
                <a:latin typeface="Croc"/>
              </a:rPr>
              <a:t>Новая версия — каждый октябрь. </a:t>
            </a:r>
            <a:r>
              <a:rPr sz="1600" b="0" i="0">
                <a:solidFill>
                  <a:srgbClr val="242425"/>
                </a:solidFill>
                <a:latin typeface="Croc"/>
              </a:rPr>
              <a:t>Поддержка — 5 лет: 2 года исправлений + 3 года безопасности.</a:t>
            </a:r>
          </a:p>
        </p:txBody>
      </p:sp>
      <p:sp>
        <p:nvSpPr>
          <p:cNvPr id="3076" name="Rounded Rectangle 3075"/>
          <p:cNvSpPr/>
          <p:nvPr/>
        </p:nvSpPr>
        <p:spPr>
          <a:xfrm>
            <a:off x="585216" y="1874519"/>
            <a:ext cx="2606040" cy="393192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7" name="TextBox 3076"/>
          <p:cNvSpPr txBox="1"/>
          <p:nvPr/>
        </p:nvSpPr>
        <p:spPr>
          <a:xfrm>
            <a:off x="768096" y="2057400"/>
            <a:ext cx="2240280" cy="868680"/>
          </a:xfrm>
          <a:prstGeom prst="rect">
            <a:avLst/>
          </a:prstGeom>
          <a:noFill/>
        </p:spPr>
        <p:txBody>
          <a:bodyPr wrap="square" lIns="45720" rIns="45720" anchor="t">
            <a:noAutofit/>
          </a:bodyPr>
          <a:lstStyle/>
          <a:p>
            <a:pPr algn="l"/>
            <a:r>
              <a:rPr sz="4400" b="1" i="0">
                <a:solidFill>
                  <a:srgbClr val="4E4E4E"/>
                </a:solidFill>
                <a:latin typeface="Croc"/>
              </a:rPr>
              <a:t>3.10</a:t>
            </a:r>
          </a:p>
        </p:txBody>
      </p:sp>
      <p:sp>
        <p:nvSpPr>
          <p:cNvPr id="3078" name="TextBox 3077"/>
          <p:cNvSpPr txBox="1"/>
          <p:nvPr/>
        </p:nvSpPr>
        <p:spPr>
          <a:xfrm>
            <a:off x="768096" y="2880360"/>
            <a:ext cx="2240280" cy="365760"/>
          </a:xfrm>
          <a:prstGeom prst="rect">
            <a:avLst/>
          </a:prstGeom>
          <a:noFill/>
        </p:spPr>
        <p:txBody>
          <a:bodyPr wrap="square" lIns="45720" rIns="45720" anchor="t">
            <a:noAutofit/>
          </a:bodyPr>
          <a:lstStyle/>
          <a:p>
            <a:pPr algn="l"/>
            <a:r>
              <a:rPr sz="1400" b="0" i="0">
                <a:solidFill>
                  <a:srgbClr val="242425"/>
                </a:solidFill>
                <a:latin typeface="Croc"/>
              </a:rPr>
              <a:t>2021</a:t>
            </a:r>
          </a:p>
        </p:txBody>
      </p:sp>
      <p:sp>
        <p:nvSpPr>
          <p:cNvPr id="3079" name="TextBox 3078"/>
          <p:cNvSpPr txBox="1"/>
          <p:nvPr/>
        </p:nvSpPr>
        <p:spPr>
          <a:xfrm>
            <a:off x="768096" y="3337560"/>
            <a:ext cx="2240280" cy="2331720"/>
          </a:xfrm>
          <a:prstGeom prst="rect">
            <a:avLst/>
          </a:prstGeom>
          <a:noFill/>
        </p:spPr>
        <p:txBody>
          <a:bodyPr wrap="square" lIns="45720" rIns="45720" anchor="t">
            <a:noAutofit/>
          </a:bodyPr>
          <a:lstStyle/>
          <a:p>
            <a:pPr algn="l">
              <a:spcAft>
                <a:spcPts val="800"/>
              </a:spcAft>
            </a:pPr>
            <a:r>
              <a:rPr sz="1600" b="1" i="0">
                <a:solidFill>
                  <a:srgbClr val="242425"/>
                </a:solidFill>
                <a:latin typeface="Croc"/>
              </a:rPr>
              <a:t>Поддержка закончилась</a:t>
            </a:r>
          </a:p>
          <a:p>
            <a:pPr algn="l">
              <a:spcAft>
                <a:spcPts val="800"/>
              </a:spcAft>
            </a:pPr>
            <a:r>
              <a:rPr sz="1600" b="0" i="0">
                <a:solidFill>
                  <a:srgbClr val="242425"/>
                </a:solidFill>
                <a:latin typeface="Croc"/>
              </a:rPr>
              <a:t>в октябре 2026</a:t>
            </a:r>
          </a:p>
          <a:p>
            <a:pPr algn="l">
              <a:spcAft>
                <a:spcPts val="800"/>
              </a:spcAft>
            </a:pPr>
            <a:r>
              <a:rPr sz="1600" b="0" i="0">
                <a:solidFill>
                  <a:srgbClr val="242425"/>
                </a:solidFill>
                <a:latin typeface="Croc"/>
              </a:rPr>
              <a:t>→ пора обновляться</a:t>
            </a:r>
          </a:p>
        </p:txBody>
      </p:sp>
      <p:sp>
        <p:nvSpPr>
          <p:cNvPr id="3080" name="Rounded Rectangle 3079"/>
          <p:cNvSpPr/>
          <p:nvPr/>
        </p:nvSpPr>
        <p:spPr>
          <a:xfrm>
            <a:off x="3374136" y="1874519"/>
            <a:ext cx="2606040" cy="3931920"/>
          </a:xfrm>
          <a:prstGeom prst="roundRect">
            <a:avLst>
              <a:gd name="adj" fmla="val 6000"/>
            </a:avLst>
          </a:prstGeom>
          <a:solidFill>
            <a:srgbClr val="6F2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1" name="TextBox 3080"/>
          <p:cNvSpPr txBox="1"/>
          <p:nvPr/>
        </p:nvSpPr>
        <p:spPr>
          <a:xfrm>
            <a:off x="3557016" y="2057400"/>
            <a:ext cx="2240280" cy="868680"/>
          </a:xfrm>
          <a:prstGeom prst="rect">
            <a:avLst/>
          </a:prstGeom>
          <a:noFill/>
        </p:spPr>
        <p:txBody>
          <a:bodyPr wrap="square" lIns="45720" rIns="45720" anchor="t">
            <a:noAutofit/>
          </a:bodyPr>
          <a:lstStyle/>
          <a:p>
            <a:pPr algn="l"/>
            <a:r>
              <a:rPr sz="4400" b="1" i="0">
                <a:solidFill>
                  <a:srgbClr val="FFFFFF"/>
                </a:solidFill>
                <a:latin typeface="Croc"/>
              </a:rPr>
              <a:t>3.13</a:t>
            </a:r>
          </a:p>
        </p:txBody>
      </p:sp>
      <p:sp>
        <p:nvSpPr>
          <p:cNvPr id="3082" name="TextBox 3081"/>
          <p:cNvSpPr txBox="1"/>
          <p:nvPr/>
        </p:nvSpPr>
        <p:spPr>
          <a:xfrm>
            <a:off x="3557016" y="2880360"/>
            <a:ext cx="2240280" cy="365760"/>
          </a:xfrm>
          <a:prstGeom prst="rect">
            <a:avLst/>
          </a:prstGeom>
          <a:noFill/>
        </p:spPr>
        <p:txBody>
          <a:bodyPr wrap="square" lIns="45720" rIns="45720" anchor="t">
            <a:noAutofit/>
          </a:bodyPr>
          <a:lstStyle/>
          <a:p>
            <a:pPr algn="l"/>
            <a:r>
              <a:rPr sz="1400" b="0" i="0">
                <a:solidFill>
                  <a:srgbClr val="FFFFFF"/>
                </a:solidFill>
                <a:latin typeface="Croc"/>
              </a:rPr>
              <a:t>2024</a:t>
            </a:r>
          </a:p>
        </p:txBody>
      </p:sp>
      <p:sp>
        <p:nvSpPr>
          <p:cNvPr id="3083" name="TextBox 3082"/>
          <p:cNvSpPr txBox="1"/>
          <p:nvPr/>
        </p:nvSpPr>
        <p:spPr>
          <a:xfrm>
            <a:off x="3557016" y="3337560"/>
            <a:ext cx="2240280" cy="2331720"/>
          </a:xfrm>
          <a:prstGeom prst="rect">
            <a:avLst/>
          </a:prstGeom>
          <a:noFill/>
        </p:spPr>
        <p:txBody>
          <a:bodyPr wrap="square" lIns="45720" rIns="45720" anchor="t">
            <a:noAutofit/>
          </a:bodyPr>
          <a:lstStyle/>
          <a:p>
            <a:pPr algn="l">
              <a:spcAft>
                <a:spcPts val="800"/>
              </a:spcAft>
            </a:pPr>
            <a:r>
              <a:rPr sz="1600" b="1" i="0">
                <a:solidFill>
                  <a:srgbClr val="FFFFFF"/>
                </a:solidFill>
                <a:latin typeface="Croc"/>
              </a:rPr>
              <a:t>Версия нашего курса</a:t>
            </a:r>
          </a:p>
          <a:p>
            <a:pPr algn="l">
              <a:spcAft>
                <a:spcPts val="800"/>
              </a:spcAft>
            </a:pPr>
            <a:r>
              <a:rPr sz="1600" b="0" i="0">
                <a:solidFill>
                  <a:srgbClr val="FFFFFF"/>
                </a:solidFill>
                <a:latin typeface="Croc"/>
              </a:rPr>
              <a:t>Новый цветной REPL</a:t>
            </a:r>
          </a:p>
          <a:p>
            <a:pPr algn="l">
              <a:spcAft>
                <a:spcPts val="800"/>
              </a:spcAft>
            </a:pPr>
            <a:r>
              <a:rPr sz="1600" b="0" i="0">
                <a:solidFill>
                  <a:srgbClr val="FFFFFF"/>
                </a:solidFill>
                <a:latin typeface="Croc"/>
              </a:rPr>
              <a:t>Экспериментально: без GIL и JIT</a:t>
            </a:r>
          </a:p>
        </p:txBody>
      </p:sp>
      <p:sp>
        <p:nvSpPr>
          <p:cNvPr id="3084" name="Rounded Rectangle 3083"/>
          <p:cNvSpPr/>
          <p:nvPr/>
        </p:nvSpPr>
        <p:spPr>
          <a:xfrm>
            <a:off x="6163056" y="1874519"/>
            <a:ext cx="2606040" cy="3931920"/>
          </a:xfrm>
          <a:prstGeom prst="roundRect">
            <a:avLst>
              <a:gd name="adj" fmla="val 6000"/>
            </a:avLst>
          </a:prstGeom>
          <a:solidFill>
            <a:srgbClr val="F0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5" name="TextBox 3084"/>
          <p:cNvSpPr txBox="1"/>
          <p:nvPr/>
        </p:nvSpPr>
        <p:spPr>
          <a:xfrm>
            <a:off x="6345936" y="2057400"/>
            <a:ext cx="2240280" cy="868680"/>
          </a:xfrm>
          <a:prstGeom prst="rect">
            <a:avLst/>
          </a:prstGeom>
          <a:noFill/>
        </p:spPr>
        <p:txBody>
          <a:bodyPr wrap="square" lIns="45720" rIns="45720" anchor="t">
            <a:noAutofit/>
          </a:bodyPr>
          <a:lstStyle/>
          <a:p>
            <a:pPr algn="l"/>
            <a:r>
              <a:rPr sz="4400" b="1" i="0">
                <a:solidFill>
                  <a:srgbClr val="6F26E2"/>
                </a:solidFill>
                <a:latin typeface="Croc"/>
              </a:rPr>
              <a:t>3.14</a:t>
            </a:r>
          </a:p>
        </p:txBody>
      </p:sp>
      <p:sp>
        <p:nvSpPr>
          <p:cNvPr id="3086" name="TextBox 3085"/>
          <p:cNvSpPr txBox="1"/>
          <p:nvPr/>
        </p:nvSpPr>
        <p:spPr>
          <a:xfrm>
            <a:off x="6345936" y="2880360"/>
            <a:ext cx="2240280" cy="365760"/>
          </a:xfrm>
          <a:prstGeom prst="rect">
            <a:avLst/>
          </a:prstGeom>
          <a:noFill/>
        </p:spPr>
        <p:txBody>
          <a:bodyPr wrap="square" lIns="45720" rIns="45720" anchor="t">
            <a:noAutofit/>
          </a:bodyPr>
          <a:lstStyle/>
          <a:p>
            <a:pPr algn="l"/>
            <a:r>
              <a:rPr sz="1400" b="0" i="0">
                <a:solidFill>
                  <a:srgbClr val="242425"/>
                </a:solidFill>
                <a:latin typeface="Croc"/>
              </a:rPr>
              <a:t>2025</a:t>
            </a:r>
          </a:p>
        </p:txBody>
      </p:sp>
      <p:sp>
        <p:nvSpPr>
          <p:cNvPr id="3087" name="TextBox 3086"/>
          <p:cNvSpPr txBox="1"/>
          <p:nvPr/>
        </p:nvSpPr>
        <p:spPr>
          <a:xfrm>
            <a:off x="6345936" y="3337560"/>
            <a:ext cx="2240280" cy="2331720"/>
          </a:xfrm>
          <a:prstGeom prst="rect">
            <a:avLst/>
          </a:prstGeom>
          <a:noFill/>
        </p:spPr>
        <p:txBody>
          <a:bodyPr wrap="square" lIns="45720" rIns="45720" anchor="t">
            <a:noAutofit/>
          </a:bodyPr>
          <a:lstStyle/>
          <a:p>
            <a:pPr algn="l">
              <a:spcAft>
                <a:spcPts val="800"/>
              </a:spcAft>
            </a:pPr>
            <a:r>
              <a:rPr sz="1600" b="1" i="0">
                <a:solidFill>
                  <a:srgbClr val="242425"/>
                </a:solidFill>
                <a:latin typeface="Croc"/>
              </a:rPr>
              <a:t>Сборка без GIL (free-threading) официально поддерживается</a:t>
            </a:r>
          </a:p>
          <a:p>
            <a:pPr algn="l">
              <a:spcAft>
                <a:spcPts val="800"/>
              </a:spcAft>
            </a:pPr>
            <a:r>
              <a:rPr sz="1600" b="0" i="0">
                <a:solidFill>
                  <a:srgbClr val="242425"/>
                </a:solidFill>
                <a:latin typeface="Croc"/>
              </a:rPr>
              <a:t>t-строки — «шаблонные» f-строки</a:t>
            </a:r>
          </a:p>
        </p:txBody>
      </p:sp>
      <p:sp>
        <p:nvSpPr>
          <p:cNvPr id="3088" name="Rounded Rectangle 3087"/>
          <p:cNvSpPr/>
          <p:nvPr/>
        </p:nvSpPr>
        <p:spPr>
          <a:xfrm>
            <a:off x="8951976" y="1874519"/>
            <a:ext cx="2606040" cy="3931920"/>
          </a:xfrm>
          <a:prstGeom prst="roundRect">
            <a:avLst>
              <a:gd name="adj" fmla="val 6000"/>
            </a:avLst>
          </a:prstGeom>
          <a:solidFill>
            <a:srgbClr val="F0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9" name="TextBox 3088"/>
          <p:cNvSpPr txBox="1"/>
          <p:nvPr/>
        </p:nvSpPr>
        <p:spPr>
          <a:xfrm>
            <a:off x="9134856" y="2057400"/>
            <a:ext cx="2240280" cy="868680"/>
          </a:xfrm>
          <a:prstGeom prst="rect">
            <a:avLst/>
          </a:prstGeom>
          <a:noFill/>
        </p:spPr>
        <p:txBody>
          <a:bodyPr wrap="square" lIns="45720" rIns="45720" anchor="t">
            <a:noAutofit/>
          </a:bodyPr>
          <a:lstStyle/>
          <a:p>
            <a:pPr algn="l"/>
            <a:r>
              <a:rPr sz="4400" b="1" i="0">
                <a:solidFill>
                  <a:srgbClr val="6F26E2"/>
                </a:solidFill>
                <a:latin typeface="Croc"/>
              </a:rPr>
              <a:t>3.15</a:t>
            </a:r>
          </a:p>
        </p:txBody>
      </p:sp>
      <p:sp>
        <p:nvSpPr>
          <p:cNvPr id="3090" name="TextBox 3089"/>
          <p:cNvSpPr txBox="1"/>
          <p:nvPr/>
        </p:nvSpPr>
        <p:spPr>
          <a:xfrm>
            <a:off x="9134856" y="2880360"/>
            <a:ext cx="2240280" cy="365760"/>
          </a:xfrm>
          <a:prstGeom prst="rect">
            <a:avLst/>
          </a:prstGeom>
          <a:noFill/>
        </p:spPr>
        <p:txBody>
          <a:bodyPr wrap="square" lIns="45720" rIns="45720" anchor="t">
            <a:noAutofit/>
          </a:bodyPr>
          <a:lstStyle/>
          <a:p>
            <a:pPr algn="l"/>
            <a:r>
              <a:rPr sz="1400" b="0" i="0">
                <a:solidFill>
                  <a:srgbClr val="242425"/>
                </a:solidFill>
                <a:latin typeface="Croc"/>
              </a:rPr>
              <a:t>09.10.2026</a:t>
            </a:r>
          </a:p>
        </p:txBody>
      </p:sp>
      <p:sp>
        <p:nvSpPr>
          <p:cNvPr id="3091" name="TextBox 3090"/>
          <p:cNvSpPr txBox="1"/>
          <p:nvPr/>
        </p:nvSpPr>
        <p:spPr>
          <a:xfrm>
            <a:off x="9134856" y="3337560"/>
            <a:ext cx="2240280" cy="2331720"/>
          </a:xfrm>
          <a:prstGeom prst="rect">
            <a:avLst/>
          </a:prstGeom>
          <a:noFill/>
        </p:spPr>
        <p:txBody>
          <a:bodyPr wrap="square" lIns="45720" rIns="45720" anchor="t">
            <a:noAutofit/>
          </a:bodyPr>
          <a:lstStyle/>
          <a:p>
            <a:pPr algn="l">
              <a:spcAft>
                <a:spcPts val="800"/>
              </a:spcAft>
            </a:pPr>
            <a:r>
              <a:rPr sz="1600" b="1" i="0">
                <a:solidFill>
                  <a:srgbClr val="242425"/>
                </a:solidFill>
                <a:latin typeface="Croc"/>
              </a:rPr>
              <a:t>Свежий релиз</a:t>
            </a:r>
          </a:p>
          <a:p>
            <a:pPr algn="l">
              <a:spcAft>
                <a:spcPts val="800"/>
              </a:spcAft>
            </a:pPr>
            <a:r>
              <a:rPr sz="1600" b="0" i="0">
                <a:solidFill>
                  <a:srgbClr val="242425"/>
                </a:solidFill>
                <a:latin typeface="Croc"/>
              </a:rPr>
              <a:t>UTF-8 по умолчанию</a:t>
            </a:r>
          </a:p>
          <a:p>
            <a:pPr algn="l">
              <a:spcAft>
                <a:spcPts val="800"/>
              </a:spcAft>
            </a:pPr>
            <a:r>
              <a:rPr sz="1600" b="0" i="0">
                <a:solidFill>
                  <a:srgbClr val="242425"/>
                </a:solidFill>
                <a:latin typeface="Croc"/>
              </a:rPr>
              <a:t>lazy import — ленивые импорты</a:t>
            </a:r>
          </a:p>
          <a:p>
            <a:pPr algn="l">
              <a:spcAft>
                <a:spcPts val="800"/>
              </a:spcAft>
            </a:pPr>
            <a:r>
              <a:rPr sz="1600" b="0" i="0">
                <a:solidFill>
                  <a:srgbClr val="242425"/>
                </a:solidFill>
                <a:latin typeface="Croc"/>
              </a:rPr>
              <a:t>frozendict — неизменяемый словарь</a:t>
            </a:r>
          </a:p>
        </p:txBody>
      </p:sp>
      <p:sp>
        <p:nvSpPr>
          <p:cNvPr id="3092" name="TextBox 3091"/>
          <p:cNvSpPr txBox="1"/>
          <p:nvPr/>
        </p:nvSpPr>
        <p:spPr>
          <a:xfrm>
            <a:off x="585216" y="5897880"/>
            <a:ext cx="9601200" cy="365760"/>
          </a:xfrm>
          <a:prstGeom prst="rect">
            <a:avLst/>
          </a:prstGeom>
          <a:noFill/>
        </p:spPr>
        <p:txBody>
          <a:bodyPr wrap="square" lIns="45720" rIns="45720" anchor="t">
            <a:noAutofit/>
          </a:bodyPr>
          <a:lstStyle/>
          <a:p>
            <a:pPr algn="l"/>
            <a:r>
              <a:rPr sz="1400" b="0" i="0">
                <a:solidFill>
                  <a:srgbClr val="4E4E4E"/>
                </a:solidFill>
                <a:latin typeface="Croc"/>
              </a:rPr>
              <a:t>Проверить свою версию: python --version  или  uv python list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Прямоугольник 19"/>
          <p:cNvSpPr/>
          <p:nvPr/>
        </p:nvSpPr>
        <p:spPr>
          <a:xfrm>
            <a:off x="0" y="1"/>
            <a:ext cx="12192000" cy="3429000"/>
          </a:xfrm>
          <a:prstGeom prst="rect">
            <a:avLst/>
          </a:prstGeom>
          <a:solidFill>
            <a:srgbClr val="6F26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object 2"/>
          <p:cNvSpPr/>
          <p:nvPr/>
        </p:nvSpPr>
        <p:spPr>
          <a:xfrm>
            <a:off x="0" y="1303199"/>
            <a:ext cx="12192000" cy="55548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0000"/>
          </a:solidFill>
        </p:spPr>
        <p:txBody>
          <a:bodyPr wrap="square" lIns="0" tIns="0" rIns="0" bIns="0" rtlCol="0"/>
          <a:lstStyle/>
          <a:p>
            <a:r>
              <a:rPr lang="ru-RU" b="0" i="0">
                <a:solidFill>
                  <a:schemeClr val="bg1"/>
                </a:solidFill>
                <a:effectLst/>
                <a:latin typeface="Roboto" panose="02000000000000000000" pitchFamily="2" charset="0"/>
              </a:rPr>
              <a:t>  </a:t>
            </a:r>
            <a:endParaRPr lang="ru-RU" dirty="0">
              <a:solidFill>
                <a:schemeClr val="bg1"/>
              </a:solidFill>
            </a:endParaRPr>
          </a:p>
        </p:txBody>
      </p:sp>
      <p:pic>
        <p:nvPicPr>
          <p:cNvPr id="46" name="object 7"/>
          <p:cNvPicPr/>
          <p:nvPr/>
        </p:nvPicPr>
        <p:blipFill>
          <a:blip r:embed="rId3" cstate="print"/>
          <a:stretch>
            <a:fillRect/>
          </a:stretch>
        </p:blipFill>
        <p:spPr>
          <a:xfrm>
            <a:off x="8137000" y="1303200"/>
            <a:ext cx="4054999" cy="5554799"/>
          </a:xfrm>
          <a:prstGeom prst="rect">
            <a:avLst/>
          </a:prstGeom>
        </p:spPr>
      </p:pic>
      <p:sp>
        <p:nvSpPr>
          <p:cNvPr id="8" name="Заголовок 2"/>
          <p:cNvSpPr>
            <a:spLocks noGrp="1"/>
          </p:cNvSpPr>
          <p:nvPr>
            <p:ph type="title"/>
          </p:nvPr>
        </p:nvSpPr>
        <p:spPr>
          <a:xfrm>
            <a:off x="288294" y="378315"/>
            <a:ext cx="10566837" cy="609398"/>
          </a:xfrm>
        </p:spPr>
        <p:txBody>
          <a:bodyPr/>
          <a:lstStyle/>
          <a:p>
            <a:r>
              <a:rPr lang="ru-RU" sz="4400" b="0" dirty="0">
                <a:solidFill>
                  <a:schemeClr val="bg1"/>
                </a:solidFill>
              </a:rPr>
              <a:t>Философия питона</a:t>
            </a:r>
          </a:p>
        </p:txBody>
      </p:sp>
      <p:sp>
        <p:nvSpPr>
          <p:cNvPr id="10" name="TextBox 9"/>
          <p:cNvSpPr txBox="1"/>
          <p:nvPr/>
        </p:nvSpPr>
        <p:spPr>
          <a:xfrm>
            <a:off x="118641" y="1173182"/>
            <a:ext cx="4054999" cy="3970318"/>
          </a:xfrm>
          <a:prstGeom prst="rect">
            <a:avLst/>
          </a:prstGeom>
          <a:noFill/>
        </p:spPr>
        <p:txBody>
          <a:bodyPr wrap="square">
            <a:spAutoFit/>
          </a:bodyPr>
          <a:lstStyle/>
          <a:p>
            <a:br>
              <a:rPr lang="ru-RU" dirty="0">
                <a:solidFill>
                  <a:schemeClr val="bg1"/>
                </a:solidFill>
              </a:rPr>
            </a:br>
            <a:r>
              <a:rPr lang="ru-RU" b="0" i="0" dirty="0">
                <a:solidFill>
                  <a:schemeClr val="bg1"/>
                </a:solidFill>
                <a:effectLst/>
                <a:latin typeface="Roboto" panose="02000000000000000000" pitchFamily="2" charset="0"/>
              </a:rPr>
              <a:t>Красивое лучше, чем уродливое.</a:t>
            </a:r>
            <a:br>
              <a:rPr lang="ru-RU" dirty="0">
                <a:solidFill>
                  <a:schemeClr val="bg1"/>
                </a:solidFill>
              </a:rPr>
            </a:br>
            <a:r>
              <a:rPr lang="ru-RU" b="0" i="0" dirty="0">
                <a:solidFill>
                  <a:schemeClr val="bg1"/>
                </a:solidFill>
                <a:effectLst/>
                <a:latin typeface="Roboto" panose="02000000000000000000" pitchFamily="2" charset="0"/>
              </a:rPr>
              <a:t>Явное лучше, чем неявное.</a:t>
            </a:r>
            <a:br>
              <a:rPr lang="ru-RU" dirty="0">
                <a:solidFill>
                  <a:schemeClr val="bg1"/>
                </a:solidFill>
              </a:rPr>
            </a:br>
            <a:r>
              <a:rPr lang="ru-RU" b="0" i="0" dirty="0">
                <a:solidFill>
                  <a:schemeClr val="bg1"/>
                </a:solidFill>
                <a:effectLst/>
                <a:latin typeface="Roboto" panose="02000000000000000000" pitchFamily="2" charset="0"/>
              </a:rPr>
              <a:t>Простое лучше, чем сложное.</a:t>
            </a:r>
            <a:br>
              <a:rPr lang="ru-RU" dirty="0">
                <a:solidFill>
                  <a:schemeClr val="bg1"/>
                </a:solidFill>
              </a:rPr>
            </a:br>
            <a:r>
              <a:rPr lang="ru-RU" b="0" i="0" dirty="0">
                <a:solidFill>
                  <a:schemeClr val="bg1"/>
                </a:solidFill>
                <a:effectLst/>
                <a:latin typeface="Roboto" panose="02000000000000000000" pitchFamily="2" charset="0"/>
              </a:rPr>
              <a:t>Сложное лучше, чем запутанное.</a:t>
            </a:r>
            <a:br>
              <a:rPr lang="ru-RU" dirty="0">
                <a:solidFill>
                  <a:schemeClr val="bg1"/>
                </a:solidFill>
              </a:rPr>
            </a:br>
            <a:r>
              <a:rPr lang="ru-RU" b="0" i="0" dirty="0">
                <a:solidFill>
                  <a:schemeClr val="bg1"/>
                </a:solidFill>
                <a:effectLst/>
                <a:latin typeface="Roboto" panose="02000000000000000000" pitchFamily="2" charset="0"/>
              </a:rPr>
              <a:t>Плоское лучше, чем вложенное.</a:t>
            </a:r>
            <a:br>
              <a:rPr lang="ru-RU" dirty="0">
                <a:solidFill>
                  <a:schemeClr val="bg1"/>
                </a:solidFill>
              </a:rPr>
            </a:br>
            <a:r>
              <a:rPr lang="ru-RU" b="0" i="0" dirty="0">
                <a:solidFill>
                  <a:schemeClr val="bg1"/>
                </a:solidFill>
                <a:effectLst/>
                <a:latin typeface="Roboto" panose="02000000000000000000" pitchFamily="2" charset="0"/>
              </a:rPr>
              <a:t>Разреженное лучше, чем плотное.</a:t>
            </a:r>
            <a:br>
              <a:rPr lang="ru-RU" dirty="0">
                <a:solidFill>
                  <a:schemeClr val="bg1"/>
                </a:solidFill>
              </a:rPr>
            </a:br>
            <a:r>
              <a:rPr lang="ru-RU" b="0" i="0" dirty="0">
                <a:solidFill>
                  <a:schemeClr val="bg1"/>
                </a:solidFill>
                <a:effectLst/>
                <a:latin typeface="Roboto" panose="02000000000000000000" pitchFamily="2" charset="0"/>
              </a:rPr>
              <a:t>Читабельность имеет значение.</a:t>
            </a:r>
            <a:br>
              <a:rPr lang="ru-RU" dirty="0">
                <a:solidFill>
                  <a:schemeClr val="bg1"/>
                </a:solidFill>
              </a:rPr>
            </a:br>
            <a:r>
              <a:rPr lang="ru-RU" b="0" i="0" dirty="0">
                <a:solidFill>
                  <a:schemeClr val="bg1"/>
                </a:solidFill>
                <a:effectLst/>
                <a:latin typeface="Roboto" panose="02000000000000000000" pitchFamily="2" charset="0"/>
              </a:rPr>
              <a:t>Особые случаи не настолько особые, чтобы нарушать правила.</a:t>
            </a:r>
            <a:br>
              <a:rPr lang="ru-RU" dirty="0">
                <a:solidFill>
                  <a:schemeClr val="bg1"/>
                </a:solidFill>
              </a:rPr>
            </a:br>
            <a:r>
              <a:rPr lang="ru-RU" b="0" i="0" dirty="0">
                <a:solidFill>
                  <a:schemeClr val="bg1"/>
                </a:solidFill>
                <a:effectLst/>
                <a:latin typeface="Roboto" panose="02000000000000000000" pitchFamily="2" charset="0"/>
              </a:rPr>
              <a:t>Хотя практичность побеждает стремление к чистоте.</a:t>
            </a:r>
            <a:br>
              <a:rPr lang="ru-RU" dirty="0">
                <a:solidFill>
                  <a:schemeClr val="bg1"/>
                </a:solidFill>
              </a:rPr>
            </a:br>
            <a:r>
              <a:rPr lang="ru-RU" b="0" i="0" dirty="0">
                <a:solidFill>
                  <a:schemeClr val="bg1"/>
                </a:solidFill>
                <a:effectLst/>
                <a:latin typeface="Roboto" panose="02000000000000000000" pitchFamily="2" charset="0"/>
              </a:rPr>
              <a:t>Ошибки никогда не должны замалчиваться.</a:t>
            </a:r>
            <a:endParaRPr lang="ru-RU" dirty="0">
              <a:solidFill>
                <a:schemeClr val="bg1"/>
              </a:solidFill>
            </a:endParaRPr>
          </a:p>
        </p:txBody>
      </p:sp>
      <p:sp>
        <p:nvSpPr>
          <p:cNvPr id="12" name="TextBox 11"/>
          <p:cNvSpPr txBox="1"/>
          <p:nvPr/>
        </p:nvSpPr>
        <p:spPr>
          <a:xfrm>
            <a:off x="4055001" y="1414451"/>
            <a:ext cx="4328741" cy="5078313"/>
          </a:xfrm>
          <a:prstGeom prst="rect">
            <a:avLst/>
          </a:prstGeom>
          <a:noFill/>
        </p:spPr>
        <p:txBody>
          <a:bodyPr wrap="square">
            <a:spAutoFit/>
          </a:bodyPr>
          <a:lstStyle/>
          <a:p>
            <a:r>
              <a:rPr lang="ru-RU" b="0" i="0" dirty="0">
                <a:solidFill>
                  <a:schemeClr val="bg1"/>
                </a:solidFill>
                <a:effectLst/>
                <a:latin typeface="Roboto" panose="02000000000000000000" pitchFamily="2" charset="0"/>
              </a:rPr>
              <a:t>Если не замалчиваются явно.</a:t>
            </a:r>
            <a:br>
              <a:rPr lang="ru-RU" dirty="0">
                <a:solidFill>
                  <a:schemeClr val="bg1"/>
                </a:solidFill>
              </a:rPr>
            </a:br>
            <a:r>
              <a:rPr lang="ru-RU" b="0" i="0" dirty="0">
                <a:solidFill>
                  <a:schemeClr val="bg1"/>
                </a:solidFill>
                <a:effectLst/>
                <a:latin typeface="Roboto" panose="02000000000000000000" pitchFamily="2" charset="0"/>
              </a:rPr>
              <a:t>Если видишь двусмысленность, отбрось искушение угадать.</a:t>
            </a:r>
            <a:br>
              <a:rPr lang="ru-RU" dirty="0">
                <a:solidFill>
                  <a:schemeClr val="bg1"/>
                </a:solidFill>
              </a:rPr>
            </a:br>
            <a:r>
              <a:rPr lang="ru-RU" b="0" i="0" dirty="0">
                <a:solidFill>
                  <a:schemeClr val="bg1"/>
                </a:solidFill>
                <a:effectLst/>
                <a:latin typeface="Roboto" panose="02000000000000000000" pitchFamily="2" charset="0"/>
              </a:rPr>
              <a:t>Должен существовать один — и, желательно, только один — очевидный способ сделать это.</a:t>
            </a:r>
            <a:br>
              <a:rPr lang="ru-RU" dirty="0">
                <a:solidFill>
                  <a:schemeClr val="bg1"/>
                </a:solidFill>
              </a:rPr>
            </a:br>
            <a:r>
              <a:rPr lang="ru-RU" b="0" i="0" dirty="0">
                <a:solidFill>
                  <a:schemeClr val="bg1"/>
                </a:solidFill>
                <a:effectLst/>
                <a:latin typeface="Roboto" panose="02000000000000000000" pitchFamily="2" charset="0"/>
              </a:rPr>
              <a:t>Хотя он поначалу может быть и не очевиден, если вы не голландец.</a:t>
            </a:r>
            <a:br>
              <a:rPr lang="ru-RU" dirty="0">
                <a:solidFill>
                  <a:schemeClr val="bg1"/>
                </a:solidFill>
              </a:rPr>
            </a:br>
            <a:r>
              <a:rPr lang="ru-RU" b="0" i="0" dirty="0">
                <a:solidFill>
                  <a:schemeClr val="bg1"/>
                </a:solidFill>
                <a:effectLst/>
                <a:latin typeface="Roboto" panose="02000000000000000000" pitchFamily="2" charset="0"/>
              </a:rPr>
              <a:t>Сейчас лучше, чем никогда.</a:t>
            </a:r>
            <a:br>
              <a:rPr lang="ru-RU" dirty="0">
                <a:solidFill>
                  <a:schemeClr val="bg1"/>
                </a:solidFill>
              </a:rPr>
            </a:br>
            <a:r>
              <a:rPr lang="ru-RU" b="0" i="0" dirty="0">
                <a:solidFill>
                  <a:schemeClr val="bg1"/>
                </a:solidFill>
                <a:effectLst/>
                <a:latin typeface="Roboto" panose="02000000000000000000" pitchFamily="2" charset="0"/>
              </a:rPr>
              <a:t>Хотя никогда зачастую лучше, чем прямо сейчас.</a:t>
            </a:r>
            <a:br>
              <a:rPr lang="ru-RU" dirty="0">
                <a:solidFill>
                  <a:schemeClr val="bg1"/>
                </a:solidFill>
              </a:rPr>
            </a:br>
            <a:r>
              <a:rPr lang="ru-RU" b="0" i="0" dirty="0">
                <a:solidFill>
                  <a:schemeClr val="bg1"/>
                </a:solidFill>
                <a:effectLst/>
                <a:latin typeface="Roboto" panose="02000000000000000000" pitchFamily="2" charset="0"/>
              </a:rPr>
              <a:t>Если реализацию сложно объяснить — идея плоха.</a:t>
            </a:r>
            <a:br>
              <a:rPr lang="ru-RU" dirty="0">
                <a:solidFill>
                  <a:schemeClr val="bg1"/>
                </a:solidFill>
              </a:rPr>
            </a:br>
            <a:r>
              <a:rPr lang="ru-RU" b="0" i="0" dirty="0">
                <a:solidFill>
                  <a:schemeClr val="bg1"/>
                </a:solidFill>
                <a:effectLst/>
                <a:latin typeface="Roboto" panose="02000000000000000000" pitchFamily="2" charset="0"/>
              </a:rPr>
              <a:t>Если реализацию легко объяснить — идея, возможно, хороша.</a:t>
            </a:r>
            <a:br>
              <a:rPr lang="ru-RU" dirty="0">
                <a:solidFill>
                  <a:schemeClr val="bg1"/>
                </a:solidFill>
              </a:rPr>
            </a:br>
            <a:r>
              <a:rPr lang="ru-RU" b="0" i="0" dirty="0">
                <a:solidFill>
                  <a:schemeClr val="bg1"/>
                </a:solidFill>
                <a:effectLst/>
                <a:latin typeface="Roboto" panose="02000000000000000000" pitchFamily="2" charset="0"/>
              </a:rPr>
              <a:t>Пространства имён, черт возьми, — отличная штука! Будем делать их побольше!</a:t>
            </a:r>
            <a:endParaRPr lang="ru-RU" dirty="0">
              <a:solidFill>
                <a:schemeClr val="bg1"/>
              </a:solidFill>
            </a:endParaRPr>
          </a:p>
        </p:txBody>
      </p:sp>
      <p:sp>
        <p:nvSpPr>
          <p:cNvPr id="14" name="TextBox 13"/>
          <p:cNvSpPr txBox="1"/>
          <p:nvPr/>
        </p:nvSpPr>
        <p:spPr>
          <a:xfrm>
            <a:off x="6309360" y="476299"/>
            <a:ext cx="5120640" cy="461665"/>
          </a:xfrm>
          <a:prstGeom prst="rect">
            <a:avLst/>
          </a:prstGeom>
          <a:noFill/>
        </p:spPr>
        <p:txBody>
          <a:bodyPr wrap="square">
            <a:spAutoFit/>
          </a:bodyPr>
          <a:lstStyle/>
          <a:p>
            <a:r>
              <a:rPr lang="en-US" sz="2400" b="1" i="1" u="sng" dirty="0">
                <a:solidFill>
                  <a:schemeClr val="bg1"/>
                </a:solidFill>
                <a:effectLst/>
                <a:latin typeface="Roboto" panose="02000000000000000000" pitchFamily="2" charset="0"/>
              </a:rPr>
              <a:t>import this</a:t>
            </a:r>
            <a:endParaRPr lang="ru-RU" sz="2400" b="1" i="1" u="sng" dirty="0">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9"/>
          <p:cNvSpPr/>
          <p:nvPr/>
        </p:nvSpPr>
        <p:spPr>
          <a:xfrm>
            <a:off x="701827" y="2314420"/>
            <a:ext cx="1871663" cy="1871663"/>
          </a:xfrm>
          <a:prstGeom prst="rect">
            <a:avLst/>
          </a:prstGeom>
          <a:solidFill>
            <a:srgbClr val="6F26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chemeClr val="lt1"/>
              </a:solidFill>
              <a:latin typeface="Croc" panose="020B0502020203020203" pitchFamily="34" charset="0"/>
              <a:sym typeface="Arial" panose="020B0604020202020204"/>
            </a:endParaRPr>
          </a:p>
        </p:txBody>
      </p:sp>
      <p:sp>
        <p:nvSpPr>
          <p:cNvPr id="277" name="Google Shape;277;p9"/>
          <p:cNvSpPr/>
          <p:nvPr/>
        </p:nvSpPr>
        <p:spPr>
          <a:xfrm>
            <a:off x="4875169" y="2314420"/>
            <a:ext cx="1871663" cy="1871663"/>
          </a:xfrm>
          <a:prstGeom prst="rect">
            <a:avLst/>
          </a:prstGeom>
          <a:solidFill>
            <a:srgbClr val="6F26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chemeClr val="lt1"/>
              </a:solidFill>
              <a:latin typeface="Croc" panose="020B0502020203020203" pitchFamily="34" charset="0"/>
              <a:sym typeface="Arial" panose="020B0604020202020204"/>
            </a:endParaRPr>
          </a:p>
        </p:txBody>
      </p:sp>
      <p:sp>
        <p:nvSpPr>
          <p:cNvPr id="278" name="Google Shape;278;p9"/>
          <p:cNvSpPr/>
          <p:nvPr/>
        </p:nvSpPr>
        <p:spPr>
          <a:xfrm>
            <a:off x="9063121" y="2314420"/>
            <a:ext cx="1871663" cy="1871663"/>
          </a:xfrm>
          <a:prstGeom prst="rect">
            <a:avLst/>
          </a:prstGeom>
          <a:solidFill>
            <a:srgbClr val="6F26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chemeClr val="lt1"/>
              </a:solidFill>
              <a:latin typeface="Croc" panose="020B0502020203020203" pitchFamily="34" charset="0"/>
              <a:sym typeface="Arial" panose="020B0604020202020204"/>
            </a:endParaRPr>
          </a:p>
        </p:txBody>
      </p:sp>
      <p:sp>
        <p:nvSpPr>
          <p:cNvPr id="280" name="Google Shape;280;p9"/>
          <p:cNvSpPr txBox="1"/>
          <p:nvPr/>
        </p:nvSpPr>
        <p:spPr>
          <a:xfrm>
            <a:off x="2279789" y="3443133"/>
            <a:ext cx="1107996"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ru-RU" sz="6000" b="1" dirty="0">
                <a:solidFill>
                  <a:srgbClr val="000000"/>
                </a:solidFill>
                <a:latin typeface="Croc" panose="020B0502020203020203" pitchFamily="34" charset="0"/>
                <a:sym typeface="Arial" panose="020B0604020202020204"/>
              </a:rPr>
              <a:t>01</a:t>
            </a:r>
            <a:endParaRPr sz="6000" b="1" dirty="0">
              <a:solidFill>
                <a:srgbClr val="000000"/>
              </a:solidFill>
              <a:latin typeface="Croc" panose="020B0502020203020203" pitchFamily="34" charset="0"/>
              <a:sym typeface="Arial" panose="020B0604020202020204"/>
            </a:endParaRPr>
          </a:p>
        </p:txBody>
      </p:sp>
      <p:sp>
        <p:nvSpPr>
          <p:cNvPr id="281" name="Google Shape;281;p9"/>
          <p:cNvSpPr txBox="1"/>
          <p:nvPr/>
        </p:nvSpPr>
        <p:spPr>
          <a:xfrm>
            <a:off x="6444499" y="3443134"/>
            <a:ext cx="1107996"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ru-RU" sz="6000" b="1" dirty="0">
                <a:solidFill>
                  <a:srgbClr val="000000"/>
                </a:solidFill>
                <a:latin typeface="Croc" panose="020B0502020203020203" pitchFamily="34" charset="0"/>
                <a:sym typeface="Arial" panose="020B0604020202020204"/>
              </a:rPr>
              <a:t>02</a:t>
            </a:r>
            <a:endParaRPr sz="6000" b="1" dirty="0">
              <a:solidFill>
                <a:srgbClr val="000000"/>
              </a:solidFill>
              <a:latin typeface="Croc" panose="020B0502020203020203" pitchFamily="34" charset="0"/>
              <a:sym typeface="Arial" panose="020B0604020202020204"/>
            </a:endParaRPr>
          </a:p>
        </p:txBody>
      </p:sp>
      <p:sp>
        <p:nvSpPr>
          <p:cNvPr id="282" name="Google Shape;282;p9"/>
          <p:cNvSpPr txBox="1"/>
          <p:nvPr/>
        </p:nvSpPr>
        <p:spPr>
          <a:xfrm>
            <a:off x="10641083" y="3431267"/>
            <a:ext cx="1107996"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ru-RU" sz="6000" b="1" dirty="0">
                <a:solidFill>
                  <a:srgbClr val="000000"/>
                </a:solidFill>
                <a:latin typeface="Croc" panose="020B0502020203020203" pitchFamily="34" charset="0"/>
                <a:sym typeface="Arial" panose="020B0604020202020204"/>
              </a:rPr>
              <a:t>03</a:t>
            </a:r>
            <a:endParaRPr sz="6000" b="1" dirty="0">
              <a:solidFill>
                <a:srgbClr val="000000"/>
              </a:solidFill>
              <a:latin typeface="Croc" panose="020B0502020203020203" pitchFamily="34" charset="0"/>
              <a:sym typeface="Arial" panose="020B0604020202020204"/>
            </a:endParaRPr>
          </a:p>
        </p:txBody>
      </p:sp>
      <p:sp>
        <p:nvSpPr>
          <p:cNvPr id="283" name="Google Shape;283;p9"/>
          <p:cNvSpPr txBox="1"/>
          <p:nvPr/>
        </p:nvSpPr>
        <p:spPr>
          <a:xfrm>
            <a:off x="1149140" y="4499174"/>
            <a:ext cx="3390901" cy="923289"/>
          </a:xfrm>
          <a:prstGeom prst="rect">
            <a:avLst/>
          </a:prstGeom>
          <a:noFill/>
          <a:ln>
            <a:noFill/>
          </a:ln>
        </p:spPr>
        <p:txBody>
          <a:bodyPr spcFirstLastPara="1" wrap="square" lIns="91425" tIns="45700" rIns="91425" bIns="45700" anchor="t" anchorCtr="0">
            <a:spAutoFit/>
          </a:bodyPr>
          <a:lstStyle/>
          <a:p>
            <a:pPr algn="l"/>
            <a:r>
              <a:rPr lang="ru-RU" b="1" i="0" dirty="0">
                <a:solidFill>
                  <a:srgbClr val="333A4D"/>
                </a:solidFill>
                <a:effectLst/>
                <a:latin typeface="var(--header-font)"/>
              </a:rPr>
              <a:t>Веб-разработка</a:t>
            </a:r>
          </a:p>
          <a:p>
            <a:br>
              <a:rPr lang="ru-RU" dirty="0"/>
            </a:br>
            <a:endParaRPr b="1" dirty="0">
              <a:latin typeface="Croc" panose="020B0502020203020203" pitchFamily="34" charset="0"/>
            </a:endParaRPr>
          </a:p>
        </p:txBody>
      </p:sp>
      <p:sp>
        <p:nvSpPr>
          <p:cNvPr id="284" name="Google Shape;284;p9"/>
          <p:cNvSpPr/>
          <p:nvPr/>
        </p:nvSpPr>
        <p:spPr>
          <a:xfrm>
            <a:off x="5321093" y="4499174"/>
            <a:ext cx="3505200" cy="369291"/>
          </a:xfrm>
          <a:prstGeom prst="rect">
            <a:avLst/>
          </a:prstGeom>
          <a:noFill/>
          <a:ln>
            <a:noFill/>
          </a:ln>
        </p:spPr>
        <p:txBody>
          <a:bodyPr spcFirstLastPara="1" wrap="square" lIns="91425" tIns="45700" rIns="91425" bIns="45700" anchor="t" anchorCtr="0">
            <a:spAutoFit/>
          </a:bodyPr>
          <a:lstStyle/>
          <a:p>
            <a:pPr lvl="0"/>
            <a:r>
              <a:rPr lang="en-US" b="1" dirty="0">
                <a:latin typeface="Croc" panose="020B0502020203020203" pitchFamily="34" charset="0"/>
              </a:rPr>
              <a:t>Data Science</a:t>
            </a:r>
            <a:endParaRPr lang="ru-RU" b="1" dirty="0">
              <a:latin typeface="Croc" panose="020B0502020203020203" pitchFamily="34" charset="0"/>
            </a:endParaRPr>
          </a:p>
        </p:txBody>
      </p:sp>
      <p:sp>
        <p:nvSpPr>
          <p:cNvPr id="285" name="Google Shape;285;p9"/>
          <p:cNvSpPr/>
          <p:nvPr/>
        </p:nvSpPr>
        <p:spPr>
          <a:xfrm>
            <a:off x="9408369" y="4499174"/>
            <a:ext cx="2466975" cy="923289"/>
          </a:xfrm>
          <a:prstGeom prst="rect">
            <a:avLst/>
          </a:prstGeom>
          <a:noFill/>
          <a:ln>
            <a:noFill/>
          </a:ln>
        </p:spPr>
        <p:txBody>
          <a:bodyPr spcFirstLastPara="1" wrap="square" lIns="91425" tIns="45700" rIns="91425" bIns="45700" anchor="t" anchorCtr="0">
            <a:spAutoFit/>
          </a:bodyPr>
          <a:lstStyle/>
          <a:p>
            <a:pPr lvl="0"/>
            <a:r>
              <a:rPr lang="ru-RU" b="1" dirty="0">
                <a:latin typeface="Croc" panose="020B0502020203020203" pitchFamily="34" charset="0"/>
              </a:rPr>
              <a:t>Автоматизация процессов</a:t>
            </a:r>
          </a:p>
          <a:p>
            <a:pPr lvl="0"/>
            <a:endParaRPr lang="ru-RU" b="1" dirty="0">
              <a:latin typeface="Croc" panose="020B0502020203020203" pitchFamily="34" charset="0"/>
            </a:endParaRPr>
          </a:p>
        </p:txBody>
      </p:sp>
      <p:pic>
        <p:nvPicPr>
          <p:cNvPr id="287" name="Google Shape;287;p9"/>
          <p:cNvPicPr preferRelativeResize="0"/>
          <p:nvPr/>
        </p:nvPicPr>
        <p:blipFill rotWithShape="1">
          <a:blip r:embed="rId3"/>
          <a:srcRect/>
          <a:stretch>
            <a:fillRect/>
          </a:stretch>
        </p:blipFill>
        <p:spPr>
          <a:xfrm>
            <a:off x="9323418" y="2734430"/>
            <a:ext cx="1395768" cy="993598"/>
          </a:xfrm>
          <a:prstGeom prst="rect">
            <a:avLst/>
          </a:prstGeom>
          <a:noFill/>
          <a:ln>
            <a:noFill/>
          </a:ln>
        </p:spPr>
      </p:pic>
      <p:pic>
        <p:nvPicPr>
          <p:cNvPr id="288" name="Google Shape;288;p9"/>
          <p:cNvPicPr preferRelativeResize="0"/>
          <p:nvPr/>
        </p:nvPicPr>
        <p:blipFill rotWithShape="1">
          <a:blip r:embed="rId4"/>
          <a:srcRect/>
          <a:stretch>
            <a:fillRect/>
          </a:stretch>
        </p:blipFill>
        <p:spPr>
          <a:xfrm>
            <a:off x="5206036" y="2710773"/>
            <a:ext cx="1324797" cy="1017255"/>
          </a:xfrm>
          <a:prstGeom prst="rect">
            <a:avLst/>
          </a:prstGeom>
          <a:noFill/>
          <a:ln>
            <a:noFill/>
          </a:ln>
        </p:spPr>
      </p:pic>
      <p:pic>
        <p:nvPicPr>
          <p:cNvPr id="289" name="Google Shape;289;p9"/>
          <p:cNvPicPr preferRelativeResize="0"/>
          <p:nvPr/>
        </p:nvPicPr>
        <p:blipFill rotWithShape="1">
          <a:blip r:embed="rId5"/>
          <a:srcRect/>
          <a:stretch>
            <a:fillRect/>
          </a:stretch>
        </p:blipFill>
        <p:spPr>
          <a:xfrm>
            <a:off x="907175" y="2666709"/>
            <a:ext cx="1324797" cy="1167084"/>
          </a:xfrm>
          <a:prstGeom prst="rect">
            <a:avLst/>
          </a:prstGeom>
          <a:noFill/>
          <a:ln>
            <a:noFill/>
          </a:ln>
        </p:spPr>
      </p:pic>
      <p:sp>
        <p:nvSpPr>
          <p:cNvPr id="26" name="TextBox 25"/>
          <p:cNvSpPr txBox="1"/>
          <p:nvPr/>
        </p:nvSpPr>
        <p:spPr>
          <a:xfrm>
            <a:off x="10751893" y="6409366"/>
            <a:ext cx="868101" cy="246221"/>
          </a:xfrm>
          <a:prstGeom prst="rect">
            <a:avLst/>
          </a:prstGeom>
          <a:noFill/>
        </p:spPr>
        <p:txBody>
          <a:bodyPr wrap="square" rIns="0" rtlCol="0" anchor="b">
            <a:spAutoFit/>
          </a:bodyPr>
          <a:lstStyle/>
          <a:p>
            <a:pPr algn="r"/>
            <a:r>
              <a:rPr lang="en-US" sz="1000" dirty="0">
                <a:latin typeface="Croc" panose="020B0502020203020203" pitchFamily="34" charset="0"/>
              </a:rPr>
              <a:t>N</a:t>
            </a:r>
            <a:endParaRPr lang="ru-RU" sz="1000" dirty="0">
              <a:latin typeface="Croc" panose="020B0502020203020203" pitchFamily="34" charset="0"/>
            </a:endParaRPr>
          </a:p>
        </p:txBody>
      </p:sp>
      <p:sp>
        <p:nvSpPr>
          <p:cNvPr id="17" name="Заголовок 1"/>
          <p:cNvSpPr>
            <a:spLocks noGrp="1"/>
          </p:cNvSpPr>
          <p:nvPr>
            <p:ph type="title"/>
          </p:nvPr>
        </p:nvSpPr>
        <p:spPr>
          <a:xfrm>
            <a:off x="585788" y="474663"/>
            <a:ext cx="10566400" cy="1329595"/>
          </a:xfrm>
        </p:spPr>
        <p:txBody>
          <a:bodyPr/>
          <a:lstStyle/>
          <a:p>
            <a:r>
              <a:rPr lang="ru-RU" sz="4800" dirty="0"/>
              <a:t>Не только аналитика</a:t>
            </a:r>
            <a:r>
              <a:rPr lang="en-US" sz="4800" dirty="0"/>
              <a:t>. </a:t>
            </a:r>
            <a:r>
              <a:rPr lang="ru-RU" sz="4800" dirty="0"/>
              <a:t>Основные направления</a:t>
            </a:r>
            <a:r>
              <a:rPr lang="en-US" sz="4800" dirty="0"/>
              <a:t> </a:t>
            </a:r>
            <a:r>
              <a:rPr lang="ru-RU" sz="4800" dirty="0"/>
              <a:t>использования</a:t>
            </a:r>
          </a:p>
        </p:txBody>
      </p:sp>
      <p:pic>
        <p:nvPicPr>
          <p:cNvPr id="290" name="Рисунок 14">
            <a:extLst>
              <a:ext uri="{FF2B5EF4-FFF2-40B4-BE49-F238E27FC236}">
                <a16:creationId xmlns:a16="http://schemas.microsoft.com/office/drawing/2014/main" id="{1E3B10B8-4628-40D7-A280-164F73D8F8FF}"/>
              </a:ext>
            </a:extLst>
          </p:cNvPr>
          <p:cNvPicPr>
            <a:picLocks noChangeAspect="1"/>
          </p:cNvPicPr>
          <p:nvPr/>
        </p:nvPicPr>
        <p:blipFill>
          <a:blip r:embed="rId6"/>
          <a:stretch>
            <a:fillRect/>
          </a:stretch>
        </p:blipFill>
        <p:spPr>
          <a:xfrm>
            <a:off x="3959352" y="3840480"/>
            <a:ext cx="4267746" cy="160117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9"/>
          <p:cNvSpPr/>
          <p:nvPr/>
        </p:nvSpPr>
        <p:spPr>
          <a:xfrm>
            <a:off x="701827" y="2314420"/>
            <a:ext cx="1871663" cy="1871663"/>
          </a:xfrm>
          <a:prstGeom prst="rect">
            <a:avLst/>
          </a:prstGeom>
          <a:solidFill>
            <a:srgbClr val="6F26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chemeClr val="lt1"/>
              </a:solidFill>
              <a:latin typeface="Croc" panose="020B0502020203020203" pitchFamily="34" charset="0"/>
              <a:sym typeface="Arial" panose="020B0604020202020204"/>
            </a:endParaRPr>
          </a:p>
        </p:txBody>
      </p:sp>
      <p:sp>
        <p:nvSpPr>
          <p:cNvPr id="277" name="Google Shape;277;p9"/>
          <p:cNvSpPr/>
          <p:nvPr/>
        </p:nvSpPr>
        <p:spPr>
          <a:xfrm>
            <a:off x="4875169" y="2314420"/>
            <a:ext cx="1871663" cy="1871663"/>
          </a:xfrm>
          <a:prstGeom prst="rect">
            <a:avLst/>
          </a:prstGeom>
          <a:solidFill>
            <a:srgbClr val="6F26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chemeClr val="lt1"/>
              </a:solidFill>
              <a:latin typeface="Croc" panose="020B0502020203020203" pitchFamily="34" charset="0"/>
              <a:sym typeface="Arial" panose="020B0604020202020204"/>
            </a:endParaRPr>
          </a:p>
        </p:txBody>
      </p:sp>
      <p:sp>
        <p:nvSpPr>
          <p:cNvPr id="278" name="Google Shape;278;p9"/>
          <p:cNvSpPr/>
          <p:nvPr/>
        </p:nvSpPr>
        <p:spPr>
          <a:xfrm>
            <a:off x="9063121" y="2314420"/>
            <a:ext cx="1871663" cy="1871663"/>
          </a:xfrm>
          <a:prstGeom prst="rect">
            <a:avLst/>
          </a:prstGeom>
          <a:solidFill>
            <a:srgbClr val="6F26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chemeClr val="lt1"/>
              </a:solidFill>
              <a:latin typeface="Croc" panose="020B0502020203020203" pitchFamily="34" charset="0"/>
              <a:sym typeface="Arial" panose="020B0604020202020204"/>
            </a:endParaRPr>
          </a:p>
        </p:txBody>
      </p:sp>
      <p:sp>
        <p:nvSpPr>
          <p:cNvPr id="280" name="Google Shape;280;p9"/>
          <p:cNvSpPr txBox="1"/>
          <p:nvPr/>
        </p:nvSpPr>
        <p:spPr>
          <a:xfrm>
            <a:off x="2279789" y="3443133"/>
            <a:ext cx="1107996"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ru-RU" sz="6000" b="1" dirty="0">
                <a:solidFill>
                  <a:srgbClr val="000000"/>
                </a:solidFill>
                <a:latin typeface="Croc" panose="020B0502020203020203" pitchFamily="34" charset="0"/>
                <a:sym typeface="Arial" panose="020B0604020202020204"/>
              </a:rPr>
              <a:t>01</a:t>
            </a:r>
            <a:endParaRPr sz="6000" b="1" dirty="0">
              <a:solidFill>
                <a:srgbClr val="000000"/>
              </a:solidFill>
              <a:latin typeface="Croc" panose="020B0502020203020203" pitchFamily="34" charset="0"/>
              <a:sym typeface="Arial" panose="020B0604020202020204"/>
            </a:endParaRPr>
          </a:p>
        </p:txBody>
      </p:sp>
      <p:sp>
        <p:nvSpPr>
          <p:cNvPr id="281" name="Google Shape;281;p9"/>
          <p:cNvSpPr txBox="1"/>
          <p:nvPr/>
        </p:nvSpPr>
        <p:spPr>
          <a:xfrm>
            <a:off x="6444499" y="3443134"/>
            <a:ext cx="1107996"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ru-RU" sz="6000" b="1" dirty="0">
                <a:solidFill>
                  <a:srgbClr val="000000"/>
                </a:solidFill>
                <a:latin typeface="Croc" panose="020B0502020203020203" pitchFamily="34" charset="0"/>
                <a:sym typeface="Arial" panose="020B0604020202020204"/>
              </a:rPr>
              <a:t>02</a:t>
            </a:r>
            <a:endParaRPr sz="6000" b="1" dirty="0">
              <a:solidFill>
                <a:srgbClr val="000000"/>
              </a:solidFill>
              <a:latin typeface="Croc" panose="020B0502020203020203" pitchFamily="34" charset="0"/>
              <a:sym typeface="Arial" panose="020B0604020202020204"/>
            </a:endParaRPr>
          </a:p>
        </p:txBody>
      </p:sp>
      <p:sp>
        <p:nvSpPr>
          <p:cNvPr id="282" name="Google Shape;282;p9"/>
          <p:cNvSpPr txBox="1"/>
          <p:nvPr/>
        </p:nvSpPr>
        <p:spPr>
          <a:xfrm>
            <a:off x="10641083" y="3431267"/>
            <a:ext cx="1107996"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ru-RU" sz="6000" b="1" dirty="0">
                <a:solidFill>
                  <a:srgbClr val="000000"/>
                </a:solidFill>
                <a:latin typeface="Croc" panose="020B0502020203020203" pitchFamily="34" charset="0"/>
                <a:sym typeface="Arial" panose="020B0604020202020204"/>
              </a:rPr>
              <a:t>03</a:t>
            </a:r>
            <a:endParaRPr sz="6000" b="1" dirty="0">
              <a:solidFill>
                <a:srgbClr val="000000"/>
              </a:solidFill>
              <a:latin typeface="Croc" panose="020B0502020203020203" pitchFamily="34" charset="0"/>
              <a:sym typeface="Arial" panose="020B0604020202020204"/>
            </a:endParaRPr>
          </a:p>
        </p:txBody>
      </p:sp>
      <p:sp>
        <p:nvSpPr>
          <p:cNvPr id="283" name="Google Shape;283;p9"/>
          <p:cNvSpPr txBox="1"/>
          <p:nvPr/>
        </p:nvSpPr>
        <p:spPr>
          <a:xfrm>
            <a:off x="1149140" y="4499174"/>
            <a:ext cx="3390901" cy="923289"/>
          </a:xfrm>
          <a:prstGeom prst="rect">
            <a:avLst/>
          </a:prstGeom>
          <a:noFill/>
          <a:ln>
            <a:noFill/>
          </a:ln>
        </p:spPr>
        <p:txBody>
          <a:bodyPr spcFirstLastPara="1" wrap="square" lIns="91425" tIns="45700" rIns="91425" bIns="45700" anchor="t" anchorCtr="0">
            <a:spAutoFit/>
          </a:bodyPr>
          <a:lstStyle/>
          <a:p>
            <a:pPr algn="l"/>
            <a:r>
              <a:rPr lang="ru-RU" b="1" i="0" dirty="0">
                <a:solidFill>
                  <a:srgbClr val="333A4D"/>
                </a:solidFill>
                <a:effectLst/>
                <a:latin typeface="var(--header-font)"/>
              </a:rPr>
              <a:t>Веб-разработка</a:t>
            </a:r>
          </a:p>
          <a:p>
            <a:pPr algn="l"/>
            <a:r>
              <a:rPr lang="ru-RU" sz="1400" b="0" i="0" dirty="0">
                <a:solidFill>
                  <a:srgbClr val="4E4E4E"/>
                </a:solidFill>
                <a:effectLst/>
                <a:latin typeface="var(--header-font)"/>
              </a:rPr>
              <a:t>FastAPI, Django: бэкенды и API</a:t>
            </a:r>
          </a:p>
        </p:txBody>
      </p:sp>
      <p:sp>
        <p:nvSpPr>
          <p:cNvPr id="284" name="Google Shape;284;p9"/>
          <p:cNvSpPr/>
          <p:nvPr/>
        </p:nvSpPr>
        <p:spPr>
          <a:xfrm>
            <a:off x="5321093" y="4499174"/>
            <a:ext cx="3505200" cy="369291"/>
          </a:xfrm>
          <a:prstGeom prst="rect">
            <a:avLst/>
          </a:prstGeom>
          <a:noFill/>
          <a:ln>
            <a:noFill/>
          </a:ln>
        </p:spPr>
        <p:txBody>
          <a:bodyPr spcFirstLastPara="1" wrap="square" lIns="91425" tIns="45700" rIns="91425" bIns="45700" anchor="t" anchorCtr="0">
            <a:spAutoFit/>
          </a:bodyPr>
          <a:lstStyle/>
          <a:p>
            <a:pPr lvl="0"/>
            <a:r>
              <a:rPr lang="en-US" b="1" dirty="0">
                <a:latin typeface="Croc" panose="020B0502020203020203" pitchFamily="34" charset="0"/>
              </a:rPr>
              <a:t>Data Science и ИИ</a:t>
            </a:r>
            <a:endParaRPr lang="ru-RU" b="1" dirty="0">
              <a:latin typeface="Croc" panose="020B0502020203020203" pitchFamily="34" charset="0"/>
            </a:endParaRPr>
          </a:p>
          <a:p>
            <a:pPr lvl="0"/>
            <a:r>
              <a:rPr lang="en-US" sz="1400" b="0" dirty="0">
                <a:solidFill>
                  <a:srgbClr val="4E4E4E"/>
                </a:solidFill>
                <a:latin typeface="Croc" panose="020B0502020203020203" pitchFamily="34" charset="0"/>
              </a:rPr>
              <a:t>pandas, PyTorch, LLM и ИИ-агенты</a:t>
            </a:r>
            <a:endParaRPr lang="ru-RU" b="1" dirty="0">
              <a:latin typeface="Croc" panose="020B0502020203020203" pitchFamily="34" charset="0"/>
            </a:endParaRPr>
          </a:p>
        </p:txBody>
      </p:sp>
      <p:sp>
        <p:nvSpPr>
          <p:cNvPr id="285" name="Google Shape;285;p9"/>
          <p:cNvSpPr/>
          <p:nvPr/>
        </p:nvSpPr>
        <p:spPr>
          <a:xfrm>
            <a:off x="9134856" y="4499174"/>
            <a:ext cx="3017520" cy="923289"/>
          </a:xfrm>
          <a:prstGeom prst="rect">
            <a:avLst/>
          </a:prstGeom>
          <a:noFill/>
          <a:ln>
            <a:noFill/>
          </a:ln>
        </p:spPr>
        <p:txBody>
          <a:bodyPr spcFirstLastPara="1" wrap="square" lIns="91425" tIns="45700" rIns="91425" bIns="45700" anchor="t" anchorCtr="0">
            <a:spAutoFit/>
          </a:bodyPr>
          <a:lstStyle/>
          <a:p>
            <a:pPr lvl="0"/>
            <a:r>
              <a:rPr lang="ru-RU" b="1" dirty="0">
                <a:latin typeface="Croc" panose="020B0502020203020203" pitchFamily="34" charset="0"/>
              </a:rPr>
              <a:t>Автоматизация процессов</a:t>
            </a:r>
          </a:p>
          <a:p>
            <a:pPr lvl="0"/>
            <a:r>
              <a:rPr lang="ru-RU" sz="1400" b="0" dirty="0">
                <a:solidFill>
                  <a:srgbClr val="4E4E4E"/>
                </a:solidFill>
                <a:latin typeface="Croc" panose="020B0502020203020203" pitchFamily="34" charset="0"/>
              </a:rPr>
              <a:t>скрипты, боты, парсинг, DevOps</a:t>
            </a:r>
          </a:p>
        </p:txBody>
      </p:sp>
      <p:pic>
        <p:nvPicPr>
          <p:cNvPr id="287" name="Google Shape;287;p9"/>
          <p:cNvPicPr preferRelativeResize="0"/>
          <p:nvPr/>
        </p:nvPicPr>
        <p:blipFill rotWithShape="1">
          <a:blip r:embed="rId3"/>
          <a:srcRect/>
          <a:stretch>
            <a:fillRect/>
          </a:stretch>
        </p:blipFill>
        <p:spPr>
          <a:xfrm>
            <a:off x="9323418" y="2734430"/>
            <a:ext cx="1395768" cy="993598"/>
          </a:xfrm>
          <a:prstGeom prst="rect">
            <a:avLst/>
          </a:prstGeom>
          <a:noFill/>
          <a:ln>
            <a:noFill/>
          </a:ln>
        </p:spPr>
      </p:pic>
      <p:pic>
        <p:nvPicPr>
          <p:cNvPr id="288" name="Google Shape;288;p9"/>
          <p:cNvPicPr preferRelativeResize="0"/>
          <p:nvPr/>
        </p:nvPicPr>
        <p:blipFill rotWithShape="1">
          <a:blip r:embed="rId4"/>
          <a:srcRect/>
          <a:stretch>
            <a:fillRect/>
          </a:stretch>
        </p:blipFill>
        <p:spPr>
          <a:xfrm>
            <a:off x="5206036" y="2710773"/>
            <a:ext cx="1324797" cy="1017255"/>
          </a:xfrm>
          <a:prstGeom prst="rect">
            <a:avLst/>
          </a:prstGeom>
          <a:noFill/>
          <a:ln>
            <a:noFill/>
          </a:ln>
        </p:spPr>
      </p:pic>
      <p:pic>
        <p:nvPicPr>
          <p:cNvPr id="289" name="Google Shape;289;p9"/>
          <p:cNvPicPr preferRelativeResize="0"/>
          <p:nvPr/>
        </p:nvPicPr>
        <p:blipFill rotWithShape="1">
          <a:blip r:embed="rId5"/>
          <a:srcRect/>
          <a:stretch>
            <a:fillRect/>
          </a:stretch>
        </p:blipFill>
        <p:spPr>
          <a:xfrm>
            <a:off x="907175" y="2666709"/>
            <a:ext cx="1324797" cy="1167084"/>
          </a:xfrm>
          <a:prstGeom prst="rect">
            <a:avLst/>
          </a:prstGeom>
          <a:noFill/>
          <a:ln>
            <a:noFill/>
          </a:ln>
        </p:spPr>
      </p:pic>
      <p:sp>
        <p:nvSpPr>
          <p:cNvPr id="26" name="TextBox 25"/>
          <p:cNvSpPr txBox="1"/>
          <p:nvPr/>
        </p:nvSpPr>
        <p:spPr>
          <a:xfrm>
            <a:off x="10751893" y="6409366"/>
            <a:ext cx="868101" cy="246221"/>
          </a:xfrm>
          <a:prstGeom prst="rect">
            <a:avLst/>
          </a:prstGeom>
          <a:noFill/>
        </p:spPr>
        <p:txBody>
          <a:bodyPr wrap="square" rIns="0" rtlCol="0" anchor="b">
            <a:spAutoFit/>
          </a:bodyPr>
          <a:lstStyle/>
          <a:p>
            <a:pPr algn="r"/>
            <a:r>
              <a:rPr lang="en-US" sz="1000" dirty="0">
                <a:latin typeface="Croc" panose="020B0502020203020203" pitchFamily="34" charset="0"/>
              </a:rPr>
              <a:t>N</a:t>
            </a:r>
            <a:endParaRPr lang="ru-RU" sz="1000" dirty="0">
              <a:latin typeface="Croc" panose="020B0502020203020203" pitchFamily="34" charset="0"/>
            </a:endParaRPr>
          </a:p>
        </p:txBody>
      </p:sp>
      <p:sp>
        <p:nvSpPr>
          <p:cNvPr id="17" name="Заголовок 1"/>
          <p:cNvSpPr>
            <a:spLocks noGrp="1"/>
          </p:cNvSpPr>
          <p:nvPr>
            <p:ph type="title"/>
          </p:nvPr>
        </p:nvSpPr>
        <p:spPr>
          <a:xfrm>
            <a:off x="585788" y="474663"/>
            <a:ext cx="10566400" cy="1329595"/>
          </a:xfrm>
        </p:spPr>
        <p:txBody>
          <a:bodyPr/>
          <a:lstStyle/>
          <a:p>
            <a:r>
              <a:rPr lang="ru-RU" sz="4800" dirty="0"/>
              <a:t>Не только аналитика: направления в 2026</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3"/>
          <p:cNvSpPr/>
          <p:nvPr/>
        </p:nvSpPr>
        <p:spPr>
          <a:xfrm>
            <a:off x="6381482" y="1"/>
            <a:ext cx="6096000" cy="6857999"/>
          </a:xfrm>
          <a:prstGeom prst="rect">
            <a:avLst/>
          </a:prstGeom>
          <a:solidFill>
            <a:srgbClr val="6F26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238" name="Google Shape;238;p13"/>
          <p:cNvSpPr txBox="1"/>
          <p:nvPr/>
        </p:nvSpPr>
        <p:spPr>
          <a:xfrm>
            <a:off x="566039" y="3972957"/>
            <a:ext cx="8499475" cy="2086725"/>
          </a:xfrm>
          <a:prstGeom prst="rect">
            <a:avLst/>
          </a:prstGeom>
          <a:noFill/>
          <a:ln>
            <a:noFill/>
          </a:ln>
        </p:spPr>
        <p:txBody>
          <a:bodyPr spcFirstLastPara="1" wrap="square" lIns="0" tIns="45700" rIns="91425" bIns="45700" anchor="t" anchorCtr="0">
            <a:spAutoFit/>
          </a:bodyPr>
          <a:lstStyle/>
          <a:p>
            <a:pPr marL="0" marR="0" lvl="0" indent="0" algn="l" rtl="0">
              <a:lnSpc>
                <a:spcPct val="90000"/>
              </a:lnSpc>
              <a:spcBef>
                <a:spcPts val="0"/>
              </a:spcBef>
              <a:spcAft>
                <a:spcPts val="0"/>
              </a:spcAft>
              <a:buNone/>
            </a:pPr>
            <a:r>
              <a:rPr lang="ru-RU" sz="4800">
                <a:solidFill>
                  <a:schemeClr val="lt1"/>
                </a:solidFill>
                <a:latin typeface="Arial" panose="020B0604020202020204"/>
                <a:ea typeface="Arial" panose="020B0604020202020204"/>
                <a:cs typeface="Arial" panose="020B0604020202020204"/>
                <a:sym typeface="Arial" panose="020B0604020202020204"/>
              </a:rPr>
              <a:t>PART 2 </a:t>
            </a:r>
          </a:p>
          <a:p>
            <a:pPr marL="0" marR="0" lvl="0" indent="0" algn="l" rtl="0">
              <a:lnSpc>
                <a:spcPct val="90000"/>
              </a:lnSpc>
              <a:spcBef>
                <a:spcPts val="0"/>
              </a:spcBef>
              <a:spcAft>
                <a:spcPts val="0"/>
              </a:spcAft>
              <a:buNone/>
            </a:pPr>
            <a:r>
              <a:rPr lang="ru-RU" sz="4800">
                <a:solidFill>
                  <a:schemeClr val="lt1"/>
                </a:solidFill>
                <a:latin typeface="Arial" panose="020B0604020202020204"/>
                <a:ea typeface="Arial" panose="020B0604020202020204"/>
                <a:cs typeface="Arial" panose="020B0604020202020204"/>
                <a:sym typeface="Arial" panose="020B0604020202020204"/>
              </a:rPr>
              <a:t>Python</a:t>
            </a:r>
            <a:endParaRPr sz="4800">
              <a:solidFill>
                <a:schemeClr val="lt1"/>
              </a:solidFill>
              <a:latin typeface="Arial" panose="020B0604020202020204"/>
              <a:ea typeface="Arial" panose="020B0604020202020204"/>
              <a:cs typeface="Arial" panose="020B0604020202020204"/>
              <a:sym typeface="Arial" panose="020B0604020202020204"/>
            </a:endParaRPr>
          </a:p>
          <a:p>
            <a:pPr marL="0" marR="0" lvl="0" indent="0" algn="l" rtl="0">
              <a:lnSpc>
                <a:spcPct val="90000"/>
              </a:lnSpc>
              <a:spcBef>
                <a:spcPts val="0"/>
              </a:spcBef>
              <a:spcAft>
                <a:spcPts val="0"/>
              </a:spcAft>
              <a:buNone/>
            </a:pPr>
            <a:endParaRPr sz="4800">
              <a:solidFill>
                <a:schemeClr val="lt1"/>
              </a:solidFill>
              <a:latin typeface="Arial" panose="020B0604020202020204"/>
              <a:ea typeface="Arial" panose="020B0604020202020204"/>
              <a:cs typeface="Arial" panose="020B0604020202020204"/>
              <a:sym typeface="Arial" panose="020B0604020202020204"/>
            </a:endParaRPr>
          </a:p>
        </p:txBody>
      </p:sp>
      <p:sp>
        <p:nvSpPr>
          <p:cNvPr id="239" name="Google Shape;239;p13"/>
          <p:cNvSpPr txBox="1">
            <a:spLocks noGrp="1"/>
          </p:cNvSpPr>
          <p:nvPr>
            <p:ph type="title"/>
          </p:nvPr>
        </p:nvSpPr>
        <p:spPr>
          <a:xfrm>
            <a:off x="412042" y="1985490"/>
            <a:ext cx="7911613" cy="3974934"/>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rgbClr val="3A393C"/>
              </a:buClr>
              <a:buSzPts val="2800"/>
              <a:buFont typeface="Arial" panose="020B0604020202020204"/>
              <a:buNone/>
            </a:pPr>
            <a:r>
              <a:rPr lang="ru-RU" sz="28700" dirty="0">
                <a:solidFill>
                  <a:srgbClr val="6F26E2"/>
                </a:solidFill>
              </a:rPr>
              <a:t>ML</a:t>
            </a:r>
            <a:endParaRPr sz="41300" dirty="0">
              <a:solidFill>
                <a:srgbClr val="6F26E2"/>
              </a:solidFill>
            </a:endParaRPr>
          </a:p>
        </p:txBody>
      </p:sp>
      <p:pic>
        <p:nvPicPr>
          <p:cNvPr id="240" name="Google Shape;240;p13"/>
          <p:cNvPicPr preferRelativeResize="0"/>
          <p:nvPr/>
        </p:nvPicPr>
        <p:blipFill rotWithShape="1">
          <a:blip r:embed="rId3"/>
          <a:srcRect/>
          <a:stretch>
            <a:fillRect/>
          </a:stretch>
        </p:blipFill>
        <p:spPr>
          <a:xfrm>
            <a:off x="6754969" y="390367"/>
            <a:ext cx="5527182" cy="6077265"/>
          </a:xfrm>
          <a:prstGeom prst="rect">
            <a:avLst/>
          </a:prstGeom>
          <a:noFill/>
          <a:ln>
            <a:noFill/>
          </a:ln>
        </p:spPr>
      </p:pic>
      <p:sp>
        <p:nvSpPr>
          <p:cNvPr id="7" name="TextBox 6">
            <a:extLst>
              <a:ext uri="{FF2B5EF4-FFF2-40B4-BE49-F238E27FC236}">
                <a16:creationId xmlns:a16="http://schemas.microsoft.com/office/drawing/2014/main" id="{A179D566-5C57-4869-AE28-9FF5441343B9}"/>
              </a:ext>
            </a:extLst>
          </p:cNvPr>
          <p:cNvSpPr txBox="1"/>
          <p:nvPr/>
        </p:nvSpPr>
        <p:spPr>
          <a:xfrm>
            <a:off x="2300020" y="2185131"/>
            <a:ext cx="7129462" cy="341632"/>
          </a:xfrm>
          <a:prstGeom prst="rect">
            <a:avLst/>
          </a:prstGeom>
          <a:noFill/>
        </p:spPr>
        <p:txBody>
          <a:bodyPr wrap="square">
            <a:spAutoFit/>
          </a:bodyPr>
          <a:lstStyle/>
          <a:p>
            <a:pPr>
              <a:lnSpc>
                <a:spcPct val="90000"/>
              </a:lnSpc>
            </a:pPr>
            <a:r>
              <a:rPr lang="en-US" sz="1800" dirty="0">
                <a:solidFill>
                  <a:srgbClr val="6F26E2"/>
                </a:solidFill>
                <a:latin typeface="Croc" panose="020B0502020203020203" pitchFamily="34" charset="0"/>
              </a:rPr>
              <a:t>PART </a:t>
            </a:r>
            <a:r>
              <a:rPr lang="ru-RU" sz="1800" dirty="0">
                <a:solidFill>
                  <a:srgbClr val="6F26E2"/>
                </a:solidFill>
                <a:latin typeface="Croc" panose="020B0502020203020203" pitchFamily="34" charset="0"/>
              </a:rPr>
              <a:t>4</a:t>
            </a:r>
            <a:endParaRPr lang="en-US" sz="1800" dirty="0">
              <a:solidFill>
                <a:srgbClr val="6F26E2"/>
              </a:solidFill>
              <a:latin typeface="Croc" panose="020B0502020203020203"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876" y="180109"/>
            <a:ext cx="11715579" cy="65463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9856" r="20241"/>
          <a:stretch>
            <a:fillRect/>
          </a:stretch>
        </p:blipFill>
        <p:spPr bwMode="auto">
          <a:xfrm>
            <a:off x="6857506" y="1379867"/>
            <a:ext cx="5043056" cy="4460445"/>
          </a:xfrm>
          <a:prstGeom prst="rect">
            <a:avLst/>
          </a:prstGeom>
          <a:noFill/>
          <a:extLst>
            <a:ext uri="{909E8E84-426E-40DD-AFC4-6F175D3DCCD1}">
              <a14:hiddenFill xmlns:a14="http://schemas.microsoft.com/office/drawing/2010/main">
                <a:solidFill>
                  <a:srgbClr val="FFFFFF"/>
                </a:solidFill>
              </a14:hiddenFill>
            </a:ext>
          </a:extLst>
        </p:spPr>
      </p:pic>
      <p:sp>
        <p:nvSpPr>
          <p:cNvPr id="9" name="Овал 8"/>
          <p:cNvSpPr>
            <a:spLocks noChangeAspect="1"/>
          </p:cNvSpPr>
          <p:nvPr/>
        </p:nvSpPr>
        <p:spPr>
          <a:xfrm>
            <a:off x="-2124876" y="1561658"/>
            <a:ext cx="10080000" cy="10080000"/>
          </a:xfrm>
          <a:prstGeom prst="ellipse">
            <a:avLst/>
          </a:prstGeom>
          <a:solidFill>
            <a:srgbClr val="6F26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Заголовок 2"/>
          <p:cNvSpPr>
            <a:spLocks noGrp="1"/>
          </p:cNvSpPr>
          <p:nvPr>
            <p:ph type="title"/>
          </p:nvPr>
        </p:nvSpPr>
        <p:spPr>
          <a:xfrm>
            <a:off x="586001" y="474130"/>
            <a:ext cx="10566837" cy="498598"/>
          </a:xfrm>
        </p:spPr>
        <p:txBody>
          <a:bodyPr/>
          <a:lstStyle/>
          <a:p>
            <a:r>
              <a:rPr lang="ru-RU" dirty="0">
                <a:solidFill>
                  <a:schemeClr val="tx1">
                    <a:lumMod val="50000"/>
                  </a:schemeClr>
                </a:solidFill>
              </a:rPr>
              <a:t>Три кита </a:t>
            </a:r>
            <a:r>
              <a:rPr lang="en-US" dirty="0">
                <a:solidFill>
                  <a:schemeClr val="tx1">
                    <a:lumMod val="50000"/>
                  </a:schemeClr>
                </a:solidFill>
              </a:rPr>
              <a:t>ML</a:t>
            </a:r>
            <a:endParaRPr lang="ru-RU" dirty="0"/>
          </a:p>
        </p:txBody>
      </p:sp>
      <p:sp>
        <p:nvSpPr>
          <p:cNvPr id="21" name="Рисунок 5"/>
          <p:cNvSpPr>
            <a:spLocks noChangeAspect="1"/>
          </p:cNvSpPr>
          <p:nvPr/>
        </p:nvSpPr>
        <p:spPr>
          <a:xfrm>
            <a:off x="10668621" y="202413"/>
            <a:ext cx="1231941" cy="1242122"/>
          </a:xfrm>
          <a:custGeom>
            <a:avLst/>
            <a:gdLst>
              <a:gd name="connsiteX0" fmla="*/ 96202 w 184784"/>
              <a:gd name="connsiteY0" fmla="*/ 0 h 186311"/>
              <a:gd name="connsiteX1" fmla="*/ 0 w 184784"/>
              <a:gd name="connsiteY1" fmla="*/ 89846 h 186311"/>
              <a:gd name="connsiteX2" fmla="*/ 96202 w 184784"/>
              <a:gd name="connsiteY2" fmla="*/ 186312 h 186311"/>
              <a:gd name="connsiteX3" fmla="*/ 184785 w 184784"/>
              <a:gd name="connsiteY3" fmla="*/ 89846 h 186311"/>
              <a:gd name="connsiteX4" fmla="*/ 96202 w 184784"/>
              <a:gd name="connsiteY4" fmla="*/ 0 h 186311"/>
              <a:gd name="connsiteX5" fmla="*/ 91440 w 184784"/>
              <a:gd name="connsiteY5" fmla="*/ 123893 h 186311"/>
              <a:gd name="connsiteX6" fmla="*/ 60007 w 184784"/>
              <a:gd name="connsiteY6" fmla="*/ 92683 h 186311"/>
              <a:gd name="connsiteX7" fmla="*/ 91440 w 184784"/>
              <a:gd name="connsiteY7" fmla="*/ 61473 h 186311"/>
              <a:gd name="connsiteX8" fmla="*/ 122872 w 184784"/>
              <a:gd name="connsiteY8" fmla="*/ 92683 h 186311"/>
              <a:gd name="connsiteX9" fmla="*/ 91440 w 184784"/>
              <a:gd name="connsiteY9" fmla="*/ 123893 h 186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784" h="186311">
                <a:moveTo>
                  <a:pt x="96202" y="0"/>
                </a:moveTo>
                <a:cubicBezTo>
                  <a:pt x="43815" y="0"/>
                  <a:pt x="0" y="34993"/>
                  <a:pt x="0" y="89846"/>
                </a:cubicBezTo>
                <a:cubicBezTo>
                  <a:pt x="0" y="151319"/>
                  <a:pt x="43815" y="186312"/>
                  <a:pt x="96202" y="186312"/>
                </a:cubicBezTo>
                <a:cubicBezTo>
                  <a:pt x="140017" y="186312"/>
                  <a:pt x="184785" y="151319"/>
                  <a:pt x="184785" y="89846"/>
                </a:cubicBezTo>
                <a:cubicBezTo>
                  <a:pt x="184785" y="34047"/>
                  <a:pt x="140017" y="0"/>
                  <a:pt x="96202" y="0"/>
                </a:cubicBezTo>
                <a:close/>
                <a:moveTo>
                  <a:pt x="91440" y="123893"/>
                </a:moveTo>
                <a:cubicBezTo>
                  <a:pt x="74295" y="123893"/>
                  <a:pt x="60007" y="109706"/>
                  <a:pt x="60007" y="92683"/>
                </a:cubicBezTo>
                <a:cubicBezTo>
                  <a:pt x="60007" y="75660"/>
                  <a:pt x="74295" y="61473"/>
                  <a:pt x="91440" y="61473"/>
                </a:cubicBezTo>
                <a:cubicBezTo>
                  <a:pt x="108585" y="61473"/>
                  <a:pt x="122872" y="75660"/>
                  <a:pt x="122872" y="92683"/>
                </a:cubicBezTo>
                <a:cubicBezTo>
                  <a:pt x="123825" y="109706"/>
                  <a:pt x="109538" y="123893"/>
                  <a:pt x="91440" y="123893"/>
                </a:cubicBezTo>
                <a:close/>
              </a:path>
            </a:pathLst>
          </a:custGeom>
          <a:solidFill>
            <a:srgbClr val="6F26E2"/>
          </a:solidFill>
          <a:ln w="9525" cap="flat">
            <a:noFill/>
            <a:prstDash val="solid"/>
            <a:miter/>
          </a:ln>
        </p:spPr>
        <p:txBody>
          <a:bodyPr rtlCol="0" anchor="ctr"/>
          <a:lstStyle/>
          <a:p>
            <a:endParaRPr lang="ru-RU"/>
          </a:p>
        </p:txBody>
      </p:sp>
      <p:sp>
        <p:nvSpPr>
          <p:cNvPr id="4" name="TextBox 3"/>
          <p:cNvSpPr txBox="1"/>
          <p:nvPr/>
        </p:nvSpPr>
        <p:spPr>
          <a:xfrm>
            <a:off x="10751893" y="6409366"/>
            <a:ext cx="868101" cy="246221"/>
          </a:xfrm>
          <a:prstGeom prst="rect">
            <a:avLst/>
          </a:prstGeom>
          <a:noFill/>
        </p:spPr>
        <p:txBody>
          <a:bodyPr wrap="square" rIns="0" rtlCol="0" anchor="b">
            <a:spAutoFit/>
          </a:bodyPr>
          <a:lstStyle/>
          <a:p>
            <a:pPr algn="r"/>
            <a:r>
              <a:rPr lang="en-US" sz="1000" dirty="0">
                <a:solidFill>
                  <a:srgbClr val="242425"/>
                </a:solidFill>
                <a:latin typeface="Croc" panose="020B0502020203020203" pitchFamily="34" charset="0"/>
              </a:rPr>
              <a:t>N</a:t>
            </a:r>
            <a:endParaRPr lang="ru-RU" sz="1000" dirty="0">
              <a:solidFill>
                <a:srgbClr val="242425"/>
              </a:solidFill>
              <a:latin typeface="Croc" panose="020B0502020203020203" pitchFamily="34" charset="0"/>
            </a:endParaRPr>
          </a:p>
        </p:txBody>
      </p:sp>
      <p:sp>
        <p:nvSpPr>
          <p:cNvPr id="10" name="Прямоугольник 9"/>
          <p:cNvSpPr/>
          <p:nvPr/>
        </p:nvSpPr>
        <p:spPr>
          <a:xfrm>
            <a:off x="2663007" y="2190456"/>
            <a:ext cx="3474881" cy="433965"/>
          </a:xfrm>
          <a:prstGeom prst="rect">
            <a:avLst/>
          </a:prstGeom>
        </p:spPr>
        <p:txBody>
          <a:bodyPr wrap="square" anchor="ctr">
            <a:spAutoFit/>
          </a:bodyPr>
          <a:lstStyle/>
          <a:p>
            <a:pPr lvl="0">
              <a:lnSpc>
                <a:spcPct val="90000"/>
              </a:lnSpc>
            </a:pPr>
            <a:r>
              <a:rPr lang="ru-RU" sz="2400" dirty="0">
                <a:solidFill>
                  <a:schemeClr val="bg1"/>
                </a:solidFill>
                <a:latin typeface="Croc" panose="020B0502020203020203" pitchFamily="34" charset="0"/>
              </a:rPr>
              <a:t>Данные</a:t>
            </a:r>
          </a:p>
        </p:txBody>
      </p:sp>
      <p:sp>
        <p:nvSpPr>
          <p:cNvPr id="11" name="Прямоугольник 10"/>
          <p:cNvSpPr/>
          <p:nvPr/>
        </p:nvSpPr>
        <p:spPr>
          <a:xfrm>
            <a:off x="2663007" y="4216660"/>
            <a:ext cx="3232185" cy="433965"/>
          </a:xfrm>
          <a:prstGeom prst="rect">
            <a:avLst/>
          </a:prstGeom>
        </p:spPr>
        <p:txBody>
          <a:bodyPr wrap="square" anchor="ctr">
            <a:spAutoFit/>
          </a:bodyPr>
          <a:lstStyle/>
          <a:p>
            <a:pPr>
              <a:lnSpc>
                <a:spcPct val="90000"/>
              </a:lnSpc>
            </a:pPr>
            <a:r>
              <a:rPr lang="ru-RU" sz="2400" dirty="0">
                <a:solidFill>
                  <a:schemeClr val="bg1"/>
                </a:solidFill>
                <a:latin typeface="Croc" panose="020B0502020203020203" pitchFamily="34" charset="0"/>
              </a:rPr>
              <a:t>Алгоритмы</a:t>
            </a:r>
          </a:p>
        </p:txBody>
      </p:sp>
      <p:sp>
        <p:nvSpPr>
          <p:cNvPr id="12" name="Прямоугольник 11"/>
          <p:cNvSpPr/>
          <p:nvPr/>
        </p:nvSpPr>
        <p:spPr>
          <a:xfrm>
            <a:off x="2663007" y="3203557"/>
            <a:ext cx="3206593" cy="433965"/>
          </a:xfrm>
          <a:prstGeom prst="rect">
            <a:avLst/>
          </a:prstGeom>
        </p:spPr>
        <p:txBody>
          <a:bodyPr wrap="square" anchor="ctr">
            <a:spAutoFit/>
          </a:bodyPr>
          <a:lstStyle/>
          <a:p>
            <a:pPr>
              <a:lnSpc>
                <a:spcPct val="90000"/>
              </a:lnSpc>
            </a:pPr>
            <a:r>
              <a:rPr lang="ru-RU" sz="2400" dirty="0">
                <a:solidFill>
                  <a:schemeClr val="bg1"/>
                </a:solidFill>
                <a:latin typeface="Croc" panose="020B0502020203020203" pitchFamily="34" charset="0"/>
              </a:rPr>
              <a:t>Признаки</a:t>
            </a:r>
          </a:p>
        </p:txBody>
      </p:sp>
      <p:sp>
        <p:nvSpPr>
          <p:cNvPr id="13" name="Прямоугольник 12"/>
          <p:cNvSpPr/>
          <p:nvPr/>
        </p:nvSpPr>
        <p:spPr>
          <a:xfrm>
            <a:off x="1570049" y="3948458"/>
            <a:ext cx="1080000" cy="941796"/>
          </a:xfrm>
          <a:prstGeom prst="rect">
            <a:avLst/>
          </a:prstGeom>
        </p:spPr>
        <p:txBody>
          <a:bodyPr wrap="square">
            <a:spAutoFit/>
          </a:bodyPr>
          <a:lstStyle/>
          <a:p>
            <a:pPr lvl="0" algn="ctr">
              <a:lnSpc>
                <a:spcPct val="115000"/>
              </a:lnSpc>
            </a:pPr>
            <a:r>
              <a:rPr lang="en-US" sz="4800" b="1" dirty="0">
                <a:solidFill>
                  <a:schemeClr val="bg1"/>
                </a:solidFill>
                <a:latin typeface="Croc" panose="020B0502020203020203" pitchFamily="34" charset="0"/>
              </a:rPr>
              <a:t>03</a:t>
            </a:r>
            <a:endParaRPr lang="ru-RU" sz="4800" b="1" dirty="0">
              <a:solidFill>
                <a:schemeClr val="bg1"/>
              </a:solidFill>
              <a:latin typeface="Croc" panose="020B0502020203020203" pitchFamily="34" charset="0"/>
            </a:endParaRPr>
          </a:p>
        </p:txBody>
      </p:sp>
      <p:sp>
        <p:nvSpPr>
          <p:cNvPr id="14" name="Прямоугольник 13"/>
          <p:cNvSpPr/>
          <p:nvPr/>
        </p:nvSpPr>
        <p:spPr>
          <a:xfrm>
            <a:off x="1570049" y="1922252"/>
            <a:ext cx="1080000" cy="941796"/>
          </a:xfrm>
          <a:prstGeom prst="rect">
            <a:avLst/>
          </a:prstGeom>
        </p:spPr>
        <p:txBody>
          <a:bodyPr wrap="square">
            <a:spAutoFit/>
          </a:bodyPr>
          <a:lstStyle/>
          <a:p>
            <a:pPr lvl="0" algn="ctr">
              <a:lnSpc>
                <a:spcPct val="115000"/>
              </a:lnSpc>
            </a:pPr>
            <a:r>
              <a:rPr lang="en-US" sz="4800" b="1" dirty="0">
                <a:solidFill>
                  <a:schemeClr val="bg1"/>
                </a:solidFill>
                <a:latin typeface="Croc" panose="020B0502020203020203" pitchFamily="34" charset="0"/>
              </a:rPr>
              <a:t>01</a:t>
            </a:r>
            <a:endParaRPr lang="ru-RU" sz="4800" b="1" dirty="0">
              <a:solidFill>
                <a:schemeClr val="bg1"/>
              </a:solidFill>
              <a:latin typeface="Croc" panose="020B0502020203020203" pitchFamily="34" charset="0"/>
            </a:endParaRPr>
          </a:p>
        </p:txBody>
      </p:sp>
      <p:sp>
        <p:nvSpPr>
          <p:cNvPr id="16" name="Прямоугольник 15"/>
          <p:cNvSpPr/>
          <p:nvPr/>
        </p:nvSpPr>
        <p:spPr>
          <a:xfrm>
            <a:off x="1570049" y="2935355"/>
            <a:ext cx="1080000" cy="941796"/>
          </a:xfrm>
          <a:prstGeom prst="rect">
            <a:avLst/>
          </a:prstGeom>
        </p:spPr>
        <p:txBody>
          <a:bodyPr wrap="square">
            <a:spAutoFit/>
          </a:bodyPr>
          <a:lstStyle/>
          <a:p>
            <a:pPr lvl="0" algn="ctr">
              <a:lnSpc>
                <a:spcPct val="115000"/>
              </a:lnSpc>
            </a:pPr>
            <a:r>
              <a:rPr lang="en-US" sz="4800" b="1" dirty="0">
                <a:solidFill>
                  <a:schemeClr val="bg1"/>
                </a:solidFill>
                <a:latin typeface="Croc" panose="020B0502020203020203" pitchFamily="34" charset="0"/>
              </a:rPr>
              <a:t>02</a:t>
            </a:r>
            <a:endParaRPr lang="ru-RU" sz="4800" b="1" dirty="0">
              <a:solidFill>
                <a:schemeClr val="bg1"/>
              </a:solidFill>
              <a:latin typeface="Croc" panose="020B0502020203020203"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1734" y="954457"/>
            <a:ext cx="10848532" cy="5701130"/>
          </a:xfrm>
          <a:prstGeom prst="rect">
            <a:avLst/>
          </a:prstGeom>
          <a:noFill/>
          <a:extLst>
            <a:ext uri="{909E8E84-426E-40DD-AFC4-6F175D3DCCD1}">
              <a14:hiddenFill xmlns:a14="http://schemas.microsoft.com/office/drawing/2010/main">
                <a:solidFill>
                  <a:srgbClr val="FFFFFF"/>
                </a:solidFill>
              </a14:hiddenFill>
            </a:ext>
          </a:extLst>
        </p:spPr>
      </p:pic>
      <p:sp>
        <p:nvSpPr>
          <p:cNvPr id="3" name="Заголовок 2"/>
          <p:cNvSpPr>
            <a:spLocks noGrp="1"/>
          </p:cNvSpPr>
          <p:nvPr>
            <p:ph type="title"/>
          </p:nvPr>
        </p:nvSpPr>
        <p:spPr>
          <a:xfrm>
            <a:off x="586181" y="266377"/>
            <a:ext cx="10566837" cy="498598"/>
          </a:xfrm>
        </p:spPr>
        <p:txBody>
          <a:bodyPr/>
          <a:lstStyle/>
          <a:p>
            <a:r>
              <a:rPr lang="ru-RU" dirty="0">
                <a:solidFill>
                  <a:schemeClr val="tx1">
                    <a:lumMod val="50000"/>
                  </a:schemeClr>
                </a:solidFill>
              </a:rPr>
              <a:t>Самое известное заблуждение</a:t>
            </a:r>
            <a:endParaRPr lang="ru-RU" dirty="0"/>
          </a:p>
        </p:txBody>
      </p:sp>
      <p:sp>
        <p:nvSpPr>
          <p:cNvPr id="21" name="Рисунок 5"/>
          <p:cNvSpPr>
            <a:spLocks noChangeAspect="1"/>
          </p:cNvSpPr>
          <p:nvPr/>
        </p:nvSpPr>
        <p:spPr>
          <a:xfrm>
            <a:off x="10668621" y="202413"/>
            <a:ext cx="1231941" cy="1242122"/>
          </a:xfrm>
          <a:custGeom>
            <a:avLst/>
            <a:gdLst>
              <a:gd name="connsiteX0" fmla="*/ 96202 w 184784"/>
              <a:gd name="connsiteY0" fmla="*/ 0 h 186311"/>
              <a:gd name="connsiteX1" fmla="*/ 0 w 184784"/>
              <a:gd name="connsiteY1" fmla="*/ 89846 h 186311"/>
              <a:gd name="connsiteX2" fmla="*/ 96202 w 184784"/>
              <a:gd name="connsiteY2" fmla="*/ 186312 h 186311"/>
              <a:gd name="connsiteX3" fmla="*/ 184785 w 184784"/>
              <a:gd name="connsiteY3" fmla="*/ 89846 h 186311"/>
              <a:gd name="connsiteX4" fmla="*/ 96202 w 184784"/>
              <a:gd name="connsiteY4" fmla="*/ 0 h 186311"/>
              <a:gd name="connsiteX5" fmla="*/ 91440 w 184784"/>
              <a:gd name="connsiteY5" fmla="*/ 123893 h 186311"/>
              <a:gd name="connsiteX6" fmla="*/ 60007 w 184784"/>
              <a:gd name="connsiteY6" fmla="*/ 92683 h 186311"/>
              <a:gd name="connsiteX7" fmla="*/ 91440 w 184784"/>
              <a:gd name="connsiteY7" fmla="*/ 61473 h 186311"/>
              <a:gd name="connsiteX8" fmla="*/ 122872 w 184784"/>
              <a:gd name="connsiteY8" fmla="*/ 92683 h 186311"/>
              <a:gd name="connsiteX9" fmla="*/ 91440 w 184784"/>
              <a:gd name="connsiteY9" fmla="*/ 123893 h 186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784" h="186311">
                <a:moveTo>
                  <a:pt x="96202" y="0"/>
                </a:moveTo>
                <a:cubicBezTo>
                  <a:pt x="43815" y="0"/>
                  <a:pt x="0" y="34993"/>
                  <a:pt x="0" y="89846"/>
                </a:cubicBezTo>
                <a:cubicBezTo>
                  <a:pt x="0" y="151319"/>
                  <a:pt x="43815" y="186312"/>
                  <a:pt x="96202" y="186312"/>
                </a:cubicBezTo>
                <a:cubicBezTo>
                  <a:pt x="140017" y="186312"/>
                  <a:pt x="184785" y="151319"/>
                  <a:pt x="184785" y="89846"/>
                </a:cubicBezTo>
                <a:cubicBezTo>
                  <a:pt x="184785" y="34047"/>
                  <a:pt x="140017" y="0"/>
                  <a:pt x="96202" y="0"/>
                </a:cubicBezTo>
                <a:close/>
                <a:moveTo>
                  <a:pt x="91440" y="123893"/>
                </a:moveTo>
                <a:cubicBezTo>
                  <a:pt x="74295" y="123893"/>
                  <a:pt x="60007" y="109706"/>
                  <a:pt x="60007" y="92683"/>
                </a:cubicBezTo>
                <a:cubicBezTo>
                  <a:pt x="60007" y="75660"/>
                  <a:pt x="74295" y="61473"/>
                  <a:pt x="91440" y="61473"/>
                </a:cubicBezTo>
                <a:cubicBezTo>
                  <a:pt x="108585" y="61473"/>
                  <a:pt x="122872" y="75660"/>
                  <a:pt x="122872" y="92683"/>
                </a:cubicBezTo>
                <a:cubicBezTo>
                  <a:pt x="123825" y="109706"/>
                  <a:pt x="109538" y="123893"/>
                  <a:pt x="91440" y="123893"/>
                </a:cubicBezTo>
                <a:close/>
              </a:path>
            </a:pathLst>
          </a:custGeom>
          <a:solidFill>
            <a:srgbClr val="6F26E2"/>
          </a:solidFill>
          <a:ln w="9525" cap="flat">
            <a:noFill/>
            <a:prstDash val="solid"/>
            <a:miter/>
          </a:ln>
        </p:spPr>
        <p:txBody>
          <a:bodyPr rtlCol="0" anchor="ctr"/>
          <a:lstStyle/>
          <a:p>
            <a:endParaRPr lang="ru-RU"/>
          </a:p>
        </p:txBody>
      </p:sp>
      <p:sp>
        <p:nvSpPr>
          <p:cNvPr id="4" name="TextBox 3"/>
          <p:cNvSpPr txBox="1"/>
          <p:nvPr/>
        </p:nvSpPr>
        <p:spPr>
          <a:xfrm>
            <a:off x="10751893" y="6409366"/>
            <a:ext cx="868101" cy="246221"/>
          </a:xfrm>
          <a:prstGeom prst="rect">
            <a:avLst/>
          </a:prstGeom>
          <a:noFill/>
        </p:spPr>
        <p:txBody>
          <a:bodyPr wrap="square" rIns="0" rtlCol="0" anchor="b">
            <a:spAutoFit/>
          </a:bodyPr>
          <a:lstStyle/>
          <a:p>
            <a:pPr algn="r"/>
            <a:r>
              <a:rPr lang="en-US" sz="1000" dirty="0">
                <a:solidFill>
                  <a:srgbClr val="242425"/>
                </a:solidFill>
                <a:latin typeface="Croc" panose="020B0502020203020203" pitchFamily="34" charset="0"/>
              </a:rPr>
              <a:t>N</a:t>
            </a:r>
            <a:endParaRPr lang="ru-RU" sz="1000" dirty="0">
              <a:solidFill>
                <a:srgbClr val="242425"/>
              </a:solidFill>
              <a:latin typeface="Croc" panose="020B0502020203020203" pitchFamily="34" charset="0"/>
            </a:endParaRPr>
          </a:p>
        </p:txBody>
      </p:sp>
      <p:sp>
        <p:nvSpPr>
          <p:cNvPr id="10" name="Прямоугольник 9"/>
          <p:cNvSpPr/>
          <p:nvPr/>
        </p:nvSpPr>
        <p:spPr>
          <a:xfrm>
            <a:off x="2663007" y="2190456"/>
            <a:ext cx="3474881" cy="433965"/>
          </a:xfrm>
          <a:prstGeom prst="rect">
            <a:avLst/>
          </a:prstGeom>
        </p:spPr>
        <p:txBody>
          <a:bodyPr wrap="square" anchor="ctr">
            <a:spAutoFit/>
          </a:bodyPr>
          <a:lstStyle/>
          <a:p>
            <a:pPr lvl="0">
              <a:lnSpc>
                <a:spcPct val="90000"/>
              </a:lnSpc>
            </a:pPr>
            <a:r>
              <a:rPr lang="ru-RU" sz="2400" dirty="0">
                <a:solidFill>
                  <a:schemeClr val="bg1"/>
                </a:solidFill>
                <a:latin typeface="Croc" panose="020B0502020203020203" pitchFamily="34" charset="0"/>
              </a:rPr>
              <a:t>Данные</a:t>
            </a:r>
          </a:p>
        </p:txBody>
      </p:sp>
      <p:sp>
        <p:nvSpPr>
          <p:cNvPr id="12" name="Прямоугольник 11"/>
          <p:cNvSpPr/>
          <p:nvPr/>
        </p:nvSpPr>
        <p:spPr>
          <a:xfrm>
            <a:off x="2663007" y="3203557"/>
            <a:ext cx="3206593" cy="433965"/>
          </a:xfrm>
          <a:prstGeom prst="rect">
            <a:avLst/>
          </a:prstGeom>
        </p:spPr>
        <p:txBody>
          <a:bodyPr wrap="square" anchor="ctr">
            <a:spAutoFit/>
          </a:bodyPr>
          <a:lstStyle/>
          <a:p>
            <a:pPr>
              <a:lnSpc>
                <a:spcPct val="90000"/>
              </a:lnSpc>
            </a:pPr>
            <a:r>
              <a:rPr lang="ru-RU" sz="2400" dirty="0">
                <a:solidFill>
                  <a:schemeClr val="bg1"/>
                </a:solidFill>
                <a:latin typeface="Croc" panose="020B0502020203020203" pitchFamily="34" charset="0"/>
              </a:rPr>
              <a:t>Признаки</a:t>
            </a:r>
          </a:p>
        </p:txBody>
      </p:sp>
      <p:sp>
        <p:nvSpPr>
          <p:cNvPr id="13" name="Прямоугольник 12"/>
          <p:cNvSpPr/>
          <p:nvPr/>
        </p:nvSpPr>
        <p:spPr>
          <a:xfrm>
            <a:off x="1570049" y="3948458"/>
            <a:ext cx="1080000" cy="941796"/>
          </a:xfrm>
          <a:prstGeom prst="rect">
            <a:avLst/>
          </a:prstGeom>
        </p:spPr>
        <p:txBody>
          <a:bodyPr wrap="square">
            <a:spAutoFit/>
          </a:bodyPr>
          <a:lstStyle/>
          <a:p>
            <a:pPr lvl="0" algn="ctr">
              <a:lnSpc>
                <a:spcPct val="115000"/>
              </a:lnSpc>
            </a:pPr>
            <a:r>
              <a:rPr lang="en-US" sz="4800" b="1" dirty="0">
                <a:solidFill>
                  <a:schemeClr val="bg1"/>
                </a:solidFill>
                <a:latin typeface="Croc" panose="020B0502020203020203" pitchFamily="34" charset="0"/>
              </a:rPr>
              <a:t>03</a:t>
            </a:r>
            <a:endParaRPr lang="ru-RU" sz="4800" b="1" dirty="0">
              <a:solidFill>
                <a:schemeClr val="bg1"/>
              </a:solidFill>
              <a:latin typeface="Croc" panose="020B0502020203020203" pitchFamily="34" charset="0"/>
            </a:endParaRPr>
          </a:p>
        </p:txBody>
      </p:sp>
      <p:sp>
        <p:nvSpPr>
          <p:cNvPr id="16" name="Прямоугольник 15"/>
          <p:cNvSpPr/>
          <p:nvPr/>
        </p:nvSpPr>
        <p:spPr>
          <a:xfrm>
            <a:off x="1570049" y="2935355"/>
            <a:ext cx="1080000" cy="941796"/>
          </a:xfrm>
          <a:prstGeom prst="rect">
            <a:avLst/>
          </a:prstGeom>
        </p:spPr>
        <p:txBody>
          <a:bodyPr wrap="square">
            <a:spAutoFit/>
          </a:bodyPr>
          <a:lstStyle/>
          <a:p>
            <a:pPr lvl="0" algn="ctr">
              <a:lnSpc>
                <a:spcPct val="115000"/>
              </a:lnSpc>
            </a:pPr>
            <a:r>
              <a:rPr lang="en-US" sz="4800" b="1" dirty="0">
                <a:solidFill>
                  <a:schemeClr val="bg1"/>
                </a:solidFill>
                <a:latin typeface="Croc" panose="020B0502020203020203" pitchFamily="34" charset="0"/>
              </a:rPr>
              <a:t>02</a:t>
            </a:r>
            <a:endParaRPr lang="ru-RU" sz="4800" b="1" dirty="0">
              <a:solidFill>
                <a:schemeClr val="bg1"/>
              </a:solidFill>
              <a:latin typeface="Croc" panose="020B0502020203020203" pitchFamily="34" charset="0"/>
            </a:endParaRPr>
          </a:p>
        </p:txBody>
      </p:sp>
      <p:sp>
        <p:nvSpPr>
          <p:cNvPr id="3075" name="Oval 3074"/>
          <p:cNvSpPr/>
          <p:nvPr/>
        </p:nvSpPr>
        <p:spPr>
          <a:xfrm>
            <a:off x="7068312" y="4224528"/>
            <a:ext cx="1609344" cy="124358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6" name="TextBox 3075"/>
          <p:cNvSpPr txBox="1"/>
          <p:nvPr/>
        </p:nvSpPr>
        <p:spPr>
          <a:xfrm>
            <a:off x="7187183" y="4224528"/>
            <a:ext cx="1371600" cy="457200"/>
          </a:xfrm>
          <a:prstGeom prst="rect">
            <a:avLst/>
          </a:prstGeom>
          <a:noFill/>
        </p:spPr>
        <p:txBody>
          <a:bodyPr wrap="square" lIns="0" tIns="0" rIns="0" bIns="0" anchor="t">
            <a:noAutofit/>
          </a:bodyPr>
          <a:lstStyle/>
          <a:p>
            <a:pPr algn="ctr"/>
            <a:r>
              <a:rPr sz="1200" b="0" i="0">
                <a:solidFill>
                  <a:srgbClr val="000000"/>
                </a:solidFill>
                <a:latin typeface="Comic Sans MS"/>
              </a:rPr>
              <a:t>Глубокое</a:t>
            </a:r>
          </a:p>
          <a:p>
            <a:pPr algn="ctr"/>
            <a:r>
              <a:rPr sz="1200" b="0" i="0">
                <a:solidFill>
                  <a:srgbClr val="000000"/>
                </a:solidFill>
                <a:latin typeface="Comic Sans MS"/>
              </a:rPr>
              <a:t>обучение</a:t>
            </a:r>
          </a:p>
        </p:txBody>
      </p:sp>
      <p:sp>
        <p:nvSpPr>
          <p:cNvPr id="3077" name="Oval 3076"/>
          <p:cNvSpPr/>
          <p:nvPr/>
        </p:nvSpPr>
        <p:spPr>
          <a:xfrm>
            <a:off x="7488936" y="4736592"/>
            <a:ext cx="768096" cy="768096"/>
          </a:xfrm>
          <a:prstGeom prst="ellipse">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rgbClr val="000000"/>
                </a:solidFill>
                <a:latin typeface="Comic Sans MS"/>
              </a:rPr>
              <a:t>LLM</a:t>
            </a:r>
          </a:p>
          <a:p>
            <a:pPr algn="ctr"/>
            <a:r>
              <a:rPr sz="800" b="0">
                <a:solidFill>
                  <a:srgbClr val="000000"/>
                </a:solidFill>
                <a:latin typeface="Comic Sans MS"/>
              </a:rPr>
              <a:t>(ChatGPT)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a:xfrm>
            <a:off x="586181" y="266377"/>
            <a:ext cx="10566837" cy="498598"/>
          </a:xfrm>
        </p:spPr>
        <p:txBody>
          <a:bodyPr/>
          <a:lstStyle/>
          <a:p>
            <a:r>
              <a:rPr lang="ru-RU" dirty="0">
                <a:solidFill>
                  <a:schemeClr val="tx1">
                    <a:lumMod val="50000"/>
                  </a:schemeClr>
                </a:solidFill>
              </a:rPr>
              <a:t>Карта </a:t>
            </a:r>
            <a:r>
              <a:rPr lang="en-US" dirty="0">
                <a:solidFill>
                  <a:schemeClr val="tx1">
                    <a:lumMod val="50000"/>
                  </a:schemeClr>
                </a:solidFill>
              </a:rPr>
              <a:t>ML</a:t>
            </a:r>
            <a:endParaRPr lang="ru-RU" dirty="0"/>
          </a:p>
        </p:txBody>
      </p:sp>
      <p:sp>
        <p:nvSpPr>
          <p:cNvPr id="4" name="TextBox 3"/>
          <p:cNvSpPr txBox="1"/>
          <p:nvPr/>
        </p:nvSpPr>
        <p:spPr>
          <a:xfrm>
            <a:off x="10751893" y="6409366"/>
            <a:ext cx="868101" cy="246221"/>
          </a:xfrm>
          <a:prstGeom prst="rect">
            <a:avLst/>
          </a:prstGeom>
          <a:noFill/>
        </p:spPr>
        <p:txBody>
          <a:bodyPr wrap="square" rIns="0" rtlCol="0" anchor="b">
            <a:spAutoFit/>
          </a:bodyPr>
          <a:lstStyle/>
          <a:p>
            <a:pPr algn="r"/>
            <a:r>
              <a:rPr lang="en-US" sz="1000" dirty="0">
                <a:solidFill>
                  <a:srgbClr val="242425"/>
                </a:solidFill>
                <a:latin typeface="Croc" panose="020B0502020203020203" pitchFamily="34" charset="0"/>
              </a:rPr>
              <a:t>N</a:t>
            </a:r>
            <a:endParaRPr lang="ru-RU" sz="1000" dirty="0">
              <a:solidFill>
                <a:srgbClr val="242425"/>
              </a:solidFill>
              <a:latin typeface="Croc" panose="020B0502020203020203" pitchFamily="34" charset="0"/>
            </a:endParaRPr>
          </a:p>
        </p:txBody>
      </p:sp>
      <p:sp>
        <p:nvSpPr>
          <p:cNvPr id="10" name="Прямоугольник 9"/>
          <p:cNvSpPr/>
          <p:nvPr/>
        </p:nvSpPr>
        <p:spPr>
          <a:xfrm>
            <a:off x="2663007" y="2190456"/>
            <a:ext cx="3474881" cy="433965"/>
          </a:xfrm>
          <a:prstGeom prst="rect">
            <a:avLst/>
          </a:prstGeom>
        </p:spPr>
        <p:txBody>
          <a:bodyPr wrap="square" anchor="ctr">
            <a:spAutoFit/>
          </a:bodyPr>
          <a:lstStyle/>
          <a:p>
            <a:pPr lvl="0">
              <a:lnSpc>
                <a:spcPct val="90000"/>
              </a:lnSpc>
            </a:pPr>
            <a:r>
              <a:rPr lang="ru-RU" sz="2400" dirty="0">
                <a:solidFill>
                  <a:schemeClr val="bg1"/>
                </a:solidFill>
                <a:latin typeface="Croc" panose="020B0502020203020203" pitchFamily="34" charset="0"/>
              </a:rPr>
              <a:t>Данные</a:t>
            </a:r>
          </a:p>
        </p:txBody>
      </p:sp>
      <p:sp>
        <p:nvSpPr>
          <p:cNvPr id="12" name="Прямоугольник 11"/>
          <p:cNvSpPr/>
          <p:nvPr/>
        </p:nvSpPr>
        <p:spPr>
          <a:xfrm>
            <a:off x="2663007" y="3203557"/>
            <a:ext cx="3206593" cy="433965"/>
          </a:xfrm>
          <a:prstGeom prst="rect">
            <a:avLst/>
          </a:prstGeom>
        </p:spPr>
        <p:txBody>
          <a:bodyPr wrap="square" anchor="ctr">
            <a:spAutoFit/>
          </a:bodyPr>
          <a:lstStyle/>
          <a:p>
            <a:pPr>
              <a:lnSpc>
                <a:spcPct val="90000"/>
              </a:lnSpc>
            </a:pPr>
            <a:r>
              <a:rPr lang="ru-RU" sz="2400" dirty="0">
                <a:solidFill>
                  <a:schemeClr val="bg1"/>
                </a:solidFill>
                <a:latin typeface="Croc" panose="020B0502020203020203" pitchFamily="34" charset="0"/>
              </a:rPr>
              <a:t>Признаки</a:t>
            </a:r>
          </a:p>
        </p:txBody>
      </p:sp>
      <p:sp>
        <p:nvSpPr>
          <p:cNvPr id="13" name="Прямоугольник 12"/>
          <p:cNvSpPr/>
          <p:nvPr/>
        </p:nvSpPr>
        <p:spPr>
          <a:xfrm>
            <a:off x="1570049" y="3948458"/>
            <a:ext cx="1080000" cy="941796"/>
          </a:xfrm>
          <a:prstGeom prst="rect">
            <a:avLst/>
          </a:prstGeom>
        </p:spPr>
        <p:txBody>
          <a:bodyPr wrap="square">
            <a:spAutoFit/>
          </a:bodyPr>
          <a:lstStyle/>
          <a:p>
            <a:pPr lvl="0" algn="ctr">
              <a:lnSpc>
                <a:spcPct val="115000"/>
              </a:lnSpc>
            </a:pPr>
            <a:r>
              <a:rPr lang="en-US" sz="4800" b="1" dirty="0">
                <a:solidFill>
                  <a:schemeClr val="bg1"/>
                </a:solidFill>
                <a:latin typeface="Croc" panose="020B0502020203020203" pitchFamily="34" charset="0"/>
              </a:rPr>
              <a:t>03</a:t>
            </a:r>
            <a:endParaRPr lang="ru-RU" sz="4800" b="1" dirty="0">
              <a:solidFill>
                <a:schemeClr val="bg1"/>
              </a:solidFill>
              <a:latin typeface="Croc" panose="020B0502020203020203" pitchFamily="34" charset="0"/>
            </a:endParaRPr>
          </a:p>
        </p:txBody>
      </p:sp>
      <p:sp>
        <p:nvSpPr>
          <p:cNvPr id="16" name="Прямоугольник 15"/>
          <p:cNvSpPr/>
          <p:nvPr/>
        </p:nvSpPr>
        <p:spPr>
          <a:xfrm>
            <a:off x="1570049" y="2935355"/>
            <a:ext cx="1080000" cy="941796"/>
          </a:xfrm>
          <a:prstGeom prst="rect">
            <a:avLst/>
          </a:prstGeom>
        </p:spPr>
        <p:txBody>
          <a:bodyPr wrap="square">
            <a:spAutoFit/>
          </a:bodyPr>
          <a:lstStyle/>
          <a:p>
            <a:pPr lvl="0" algn="ctr">
              <a:lnSpc>
                <a:spcPct val="115000"/>
              </a:lnSpc>
            </a:pPr>
            <a:r>
              <a:rPr lang="en-US" sz="4800" b="1" dirty="0">
                <a:solidFill>
                  <a:schemeClr val="bg1"/>
                </a:solidFill>
                <a:latin typeface="Croc" panose="020B0502020203020203" pitchFamily="34" charset="0"/>
              </a:rPr>
              <a:t>02</a:t>
            </a:r>
            <a:endParaRPr lang="ru-RU" sz="4800" b="1" dirty="0">
              <a:solidFill>
                <a:schemeClr val="bg1"/>
              </a:solidFill>
              <a:latin typeface="Croc" panose="020B0502020203020203" pitchFamily="34" charset="0"/>
            </a:endParaRPr>
          </a:p>
        </p:txBody>
      </p:sp>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86562" y="62214"/>
            <a:ext cx="5297592" cy="6593373"/>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410" y="1206170"/>
            <a:ext cx="6469152" cy="4305459"/>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2689075" y="6264016"/>
            <a:ext cx="6094562" cy="369332"/>
          </a:xfrm>
          <a:prstGeom prst="rect">
            <a:avLst/>
          </a:prstGeom>
          <a:noFill/>
        </p:spPr>
        <p:txBody>
          <a:bodyPr wrap="square">
            <a:spAutoFit/>
          </a:bodyPr>
          <a:lstStyle/>
          <a:p>
            <a:r>
              <a:rPr lang="ru-RU" sz="1800" u="sng" dirty="0">
                <a:solidFill>
                  <a:srgbClr val="0070C0"/>
                </a:solidFill>
              </a:rPr>
              <a:t>https://vas3k.ru/blog/machine_learning/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242425"/>
        </a:solidFill>
        <a:effectLst/>
      </p:bgPr>
    </p:bg>
    <p:spTree>
      <p:nvGrpSpPr>
        <p:cNvPr id="1" name=""/>
        <p:cNvGrpSpPr/>
        <p:nvPr/>
      </p:nvGrpSpPr>
      <p:grpSpPr>
        <a:xfrm>
          <a:off x="0" y="0"/>
          <a:ext cx="0" cy="0"/>
          <a:chOff x="0" y="0"/>
          <a:chExt cx="0" cy="0"/>
        </a:xfrm>
      </p:grpSpPr>
      <p:pic>
        <p:nvPicPr>
          <p:cNvPr id="16" name="Рисунок 15"/>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24225" y="-2541908"/>
            <a:ext cx="5483077" cy="5400000"/>
          </a:xfrm>
          <a:prstGeom prst="rect">
            <a:avLst/>
          </a:prstGeom>
        </p:spPr>
      </p:pic>
      <p:sp>
        <p:nvSpPr>
          <p:cNvPr id="19" name="TextBox 18"/>
          <p:cNvSpPr txBox="1"/>
          <p:nvPr/>
        </p:nvSpPr>
        <p:spPr>
          <a:xfrm>
            <a:off x="596019" y="4137849"/>
            <a:ext cx="5375573" cy="2086725"/>
          </a:xfrm>
          <a:prstGeom prst="rect">
            <a:avLst/>
          </a:prstGeom>
          <a:noFill/>
        </p:spPr>
        <p:txBody>
          <a:bodyPr wrap="square" lIns="0"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4800" b="0" i="0" u="none" strike="noStrike" kern="1200" cap="none" spc="0" normalizeH="0" baseline="0" noProof="0" dirty="0">
                <a:ln>
                  <a:noFill/>
                </a:ln>
                <a:solidFill>
                  <a:prstClr val="white"/>
                </a:solidFill>
                <a:effectLst/>
                <a:uLnTx/>
                <a:uFillTx/>
                <a:latin typeface="Croc" panose="020B0502020203020203" pitchFamily="34" charset="0"/>
                <a:ea typeface="+mn-ea"/>
                <a:cs typeface="+mn-cs"/>
              </a:rPr>
              <a:t>PART </a:t>
            </a:r>
            <a:r>
              <a:rPr kumimoji="0" lang="ru-RU" sz="4800" b="0" i="0" u="none" strike="noStrike" kern="1200" cap="none" spc="0" normalizeH="0" baseline="0" noProof="0" dirty="0">
                <a:ln>
                  <a:noFill/>
                </a:ln>
                <a:solidFill>
                  <a:prstClr val="white"/>
                </a:solidFill>
                <a:effectLst/>
                <a:uLnTx/>
                <a:uFillTx/>
                <a:latin typeface="Croc" panose="020B0502020203020203" pitchFamily="34" charset="0"/>
                <a:ea typeface="+mn-ea"/>
                <a:cs typeface="+mn-cs"/>
              </a:rPr>
              <a:t>5</a:t>
            </a:r>
            <a:r>
              <a:rPr kumimoji="0" lang="en-US" sz="4800" b="0" i="0" u="none" strike="noStrike" kern="1200" cap="none" spc="0" normalizeH="0" baseline="0" noProof="0" dirty="0">
                <a:ln>
                  <a:noFill/>
                </a:ln>
                <a:solidFill>
                  <a:prstClr val="white"/>
                </a:solidFill>
                <a:effectLst/>
                <a:uLnTx/>
                <a:uFillTx/>
                <a:latin typeface="Croc" panose="020B0502020203020203" pitchFamily="34" charset="0"/>
                <a:ea typeface="+mn-ea"/>
                <a:cs typeface="+mn-cs"/>
              </a:rPr>
              <a:t>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ru-RU" sz="4800" b="0" i="0" u="none" strike="noStrike" kern="1200" cap="none" spc="0" normalizeH="0" baseline="0" noProof="0" dirty="0">
                <a:ln>
                  <a:noFill/>
                </a:ln>
                <a:solidFill>
                  <a:prstClr val="white"/>
                </a:solidFill>
                <a:effectLst/>
                <a:uLnTx/>
                <a:uFillTx/>
                <a:latin typeface="Croc" panose="020B0502020203020203" pitchFamily="34" charset="0"/>
                <a:ea typeface="+mn-ea"/>
                <a:cs typeface="+mn-cs"/>
                <a:sym typeface="Arial" panose="020B0604020202020204"/>
              </a:rPr>
              <a:t>Немного нудной но важной инфы</a:t>
            </a:r>
            <a:endParaRPr kumimoji="0" lang="ru-RU" sz="4800" b="0" i="0" u="none" strike="noStrike" kern="1200" cap="none" spc="0" normalizeH="0" baseline="0" noProof="0" dirty="0">
              <a:ln>
                <a:noFill/>
              </a:ln>
              <a:solidFill>
                <a:prstClr val="white"/>
              </a:solidFill>
              <a:effectLst/>
              <a:uLnTx/>
              <a:uFillTx/>
              <a:latin typeface="Croc" panose="020B0502020203020203" pitchFamily="34" charset="0"/>
              <a:ea typeface="+mn-ea"/>
              <a:cs typeface="+mn-cs"/>
            </a:endParaRPr>
          </a:p>
        </p:txBody>
      </p:sp>
      <p:pic>
        <p:nvPicPr>
          <p:cNvPr id="20" name="Мем s32_03_5_phases_exam" descr="s32_03_5_phases_exam.jpg"/>
          <p:cNvPicPr>
            <a:picLocks noChangeAspect="1"/>
          </p:cNvPicPr>
          <p:nvPr/>
        </p:nvPicPr>
        <p:blipFill>
          <a:blip r:embed="rId5"/>
          <a:stretch>
            <a:fillRect/>
          </a:stretch>
        </p:blipFill>
        <p:spPr>
          <a:xfrm>
            <a:off x="6325993" y="540794"/>
            <a:ext cx="5483077" cy="5776412"/>
          </a:xfrm>
          <a:prstGeom prst="rect">
            <a:avLst/>
          </a:prstGeom>
        </p:spPr>
      </p:pic>
    </p:spTree>
    <p:extLst>
      <p:ext uri="{BB962C8B-B14F-4D97-AF65-F5344CB8AC3E}">
        <p14:creationId xmlns:p14="http://schemas.microsoft.com/office/powerpoint/2010/main" val="17413199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a:xfrm>
            <a:off x="586001" y="474130"/>
            <a:ext cx="10566837" cy="498598"/>
          </a:xfrm>
        </p:spPr>
        <p:txBody>
          <a:bodyPr/>
          <a:lstStyle/>
          <a:p>
            <a:r>
              <a:rPr lang="ru-RU" dirty="0"/>
              <a:t>ЦЕЛИ И МЕСТО ДИСЦИПЛИНЫ</a:t>
            </a:r>
          </a:p>
        </p:txBody>
      </p:sp>
      <p:sp>
        <p:nvSpPr>
          <p:cNvPr id="21" name="Рисунок 5"/>
          <p:cNvSpPr>
            <a:spLocks noChangeAspect="1"/>
          </p:cNvSpPr>
          <p:nvPr/>
        </p:nvSpPr>
        <p:spPr>
          <a:xfrm>
            <a:off x="6096000" y="4968815"/>
            <a:ext cx="1231941" cy="1242122"/>
          </a:xfrm>
          <a:custGeom>
            <a:avLst/>
            <a:gdLst>
              <a:gd name="connsiteX0" fmla="*/ 96202 w 184784"/>
              <a:gd name="connsiteY0" fmla="*/ 0 h 186311"/>
              <a:gd name="connsiteX1" fmla="*/ 0 w 184784"/>
              <a:gd name="connsiteY1" fmla="*/ 89846 h 186311"/>
              <a:gd name="connsiteX2" fmla="*/ 96202 w 184784"/>
              <a:gd name="connsiteY2" fmla="*/ 186312 h 186311"/>
              <a:gd name="connsiteX3" fmla="*/ 184785 w 184784"/>
              <a:gd name="connsiteY3" fmla="*/ 89846 h 186311"/>
              <a:gd name="connsiteX4" fmla="*/ 96202 w 184784"/>
              <a:gd name="connsiteY4" fmla="*/ 0 h 186311"/>
              <a:gd name="connsiteX5" fmla="*/ 91440 w 184784"/>
              <a:gd name="connsiteY5" fmla="*/ 123893 h 186311"/>
              <a:gd name="connsiteX6" fmla="*/ 60007 w 184784"/>
              <a:gd name="connsiteY6" fmla="*/ 92683 h 186311"/>
              <a:gd name="connsiteX7" fmla="*/ 91440 w 184784"/>
              <a:gd name="connsiteY7" fmla="*/ 61473 h 186311"/>
              <a:gd name="connsiteX8" fmla="*/ 122872 w 184784"/>
              <a:gd name="connsiteY8" fmla="*/ 92683 h 186311"/>
              <a:gd name="connsiteX9" fmla="*/ 91440 w 184784"/>
              <a:gd name="connsiteY9" fmla="*/ 123893 h 186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784" h="186311">
                <a:moveTo>
                  <a:pt x="96202" y="0"/>
                </a:moveTo>
                <a:cubicBezTo>
                  <a:pt x="43815" y="0"/>
                  <a:pt x="0" y="34993"/>
                  <a:pt x="0" y="89846"/>
                </a:cubicBezTo>
                <a:cubicBezTo>
                  <a:pt x="0" y="151319"/>
                  <a:pt x="43815" y="186312"/>
                  <a:pt x="96202" y="186312"/>
                </a:cubicBezTo>
                <a:cubicBezTo>
                  <a:pt x="140017" y="186312"/>
                  <a:pt x="184785" y="151319"/>
                  <a:pt x="184785" y="89846"/>
                </a:cubicBezTo>
                <a:cubicBezTo>
                  <a:pt x="184785" y="34047"/>
                  <a:pt x="140017" y="0"/>
                  <a:pt x="96202" y="0"/>
                </a:cubicBezTo>
                <a:close/>
                <a:moveTo>
                  <a:pt x="91440" y="123893"/>
                </a:moveTo>
                <a:cubicBezTo>
                  <a:pt x="74295" y="123893"/>
                  <a:pt x="60007" y="109706"/>
                  <a:pt x="60007" y="92683"/>
                </a:cubicBezTo>
                <a:cubicBezTo>
                  <a:pt x="60007" y="75660"/>
                  <a:pt x="74295" y="61473"/>
                  <a:pt x="91440" y="61473"/>
                </a:cubicBezTo>
                <a:cubicBezTo>
                  <a:pt x="108585" y="61473"/>
                  <a:pt x="122872" y="75660"/>
                  <a:pt x="122872" y="92683"/>
                </a:cubicBezTo>
                <a:cubicBezTo>
                  <a:pt x="123825" y="109706"/>
                  <a:pt x="109538" y="123893"/>
                  <a:pt x="91440" y="123893"/>
                </a:cubicBezTo>
                <a:close/>
              </a:path>
            </a:pathLst>
          </a:custGeom>
          <a:solidFill>
            <a:srgbClr val="6F26E2"/>
          </a:solidFill>
          <a:ln w="9525" cap="flat">
            <a:noFill/>
            <a:prstDash val="solid"/>
            <a:miter/>
          </a:ln>
        </p:spPr>
        <p:txBody>
          <a:bodyPr rtlCol="0" anchor="ctr"/>
          <a:lstStyle/>
          <a:p>
            <a:endParaRPr lang="ru-RU" dirty="0"/>
          </a:p>
        </p:txBody>
      </p:sp>
      <p:sp>
        <p:nvSpPr>
          <p:cNvPr id="4" name="TextBox 3"/>
          <p:cNvSpPr txBox="1"/>
          <p:nvPr/>
        </p:nvSpPr>
        <p:spPr>
          <a:xfrm>
            <a:off x="10751893" y="6409366"/>
            <a:ext cx="868101" cy="246221"/>
          </a:xfrm>
          <a:prstGeom prst="rect">
            <a:avLst/>
          </a:prstGeom>
          <a:noFill/>
        </p:spPr>
        <p:txBody>
          <a:bodyPr wrap="square" rIns="0" rtlCol="0" anchor="b">
            <a:spAutoFit/>
          </a:bodyPr>
          <a:lstStyle/>
          <a:p>
            <a:pPr algn="r"/>
            <a:r>
              <a:rPr lang="en-US" sz="1000" dirty="0">
                <a:solidFill>
                  <a:srgbClr val="242425"/>
                </a:solidFill>
                <a:latin typeface="Croc" panose="020B0502020203020203" pitchFamily="34" charset="0"/>
              </a:rPr>
              <a:t>N</a:t>
            </a:r>
            <a:endParaRPr lang="ru-RU" sz="1000" dirty="0">
              <a:solidFill>
                <a:srgbClr val="242425"/>
              </a:solidFill>
              <a:latin typeface="Croc" panose="020B0502020203020203" pitchFamily="34" charset="0"/>
            </a:endParaRPr>
          </a:p>
        </p:txBody>
      </p:sp>
      <p:pic>
        <p:nvPicPr>
          <p:cNvPr id="19" name="Рисунок 18"/>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412480" y="511001"/>
            <a:ext cx="4805680" cy="5400000"/>
          </a:xfrm>
          <a:prstGeom prst="rect">
            <a:avLst/>
          </a:prstGeom>
        </p:spPr>
      </p:pic>
      <p:pic>
        <p:nvPicPr>
          <p:cNvPr id="3074"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01969" y="6291563"/>
            <a:ext cx="1231941" cy="481826"/>
          </a:xfrm>
          <a:prstGeom prst="rect">
            <a:avLst/>
          </a:prstGeom>
          <a:noFill/>
          <a:extLst>
            <a:ext uri="{909E8E84-426E-40DD-AFC4-6F175D3DCCD1}">
              <a14:hiddenFill xmlns:a14="http://schemas.microsoft.com/office/drawing/2010/main">
                <a:solidFill>
                  <a:srgbClr val="FFFFFF"/>
                </a:solidFill>
              </a14:hiddenFill>
            </a:ext>
          </a:extLst>
        </p:spPr>
      </p:pic>
      <p:sp>
        <p:nvSpPr>
          <p:cNvPr id="3075" name="TextBox 3074"/>
          <p:cNvSpPr txBox="1"/>
          <p:nvPr/>
        </p:nvSpPr>
        <p:spPr>
          <a:xfrm>
            <a:off x="585216" y="1143000"/>
            <a:ext cx="6675120" cy="5029200"/>
          </a:xfrm>
          <a:prstGeom prst="rect">
            <a:avLst/>
          </a:prstGeom>
          <a:noFill/>
        </p:spPr>
        <p:txBody>
          <a:bodyPr wrap="square" lIns="45720" rIns="45720" anchor="t">
            <a:noAutofit/>
          </a:bodyPr>
          <a:lstStyle/>
          <a:p>
            <a:pPr algn="l">
              <a:spcAft>
                <a:spcPts val="1200"/>
              </a:spcAft>
            </a:pPr>
            <a:r>
              <a:rPr sz="1800" b="1" i="0">
                <a:solidFill>
                  <a:srgbClr val="242425"/>
                </a:solidFill>
                <a:latin typeface="Croc"/>
              </a:rPr>
              <a:t>Цель: </a:t>
            </a:r>
            <a:r>
              <a:rPr sz="1800" b="0" i="0">
                <a:solidFill>
                  <a:srgbClr val="242425"/>
                </a:solidFill>
                <a:latin typeface="Croc"/>
              </a:rPr>
              <a:t>освоить Python как основной инструмент работы с данными — от базового синтаксиса до сбора, обработки и анализа больших данных и машинного обучения.</a:t>
            </a:r>
          </a:p>
          <a:p>
            <a:pPr algn="l">
              <a:spcAft>
                <a:spcPts val="1200"/>
              </a:spcAft>
            </a:pPr>
            <a:r>
              <a:rPr sz="1800" b="1" i="0">
                <a:solidFill>
                  <a:srgbClr val="242425"/>
                </a:solidFill>
                <a:latin typeface="Croc"/>
              </a:rPr>
              <a:t>Место: </a:t>
            </a:r>
            <a:r>
              <a:rPr sz="1800" b="0" i="0">
                <a:solidFill>
                  <a:srgbClr val="242425"/>
                </a:solidFill>
                <a:latin typeface="Croc"/>
              </a:rPr>
              <a:t>часть учебного плана, формируемая участниками образовательных отношений (Б1.В).</a:t>
            </a:r>
          </a:p>
          <a:p>
            <a:pPr algn="l">
              <a:spcAft>
                <a:spcPts val="200"/>
              </a:spcAft>
            </a:pPr>
            <a:r>
              <a:rPr sz="1800" b="1" i="0">
                <a:solidFill>
                  <a:srgbClr val="242425"/>
                </a:solidFill>
                <a:latin typeface="Croc"/>
              </a:rPr>
              <a:t>На входе от вас требуются знания:</a:t>
            </a:r>
          </a:p>
          <a:p>
            <a:pPr algn="l"/>
            <a:r>
              <a:rPr sz="1700" b="0" i="0">
                <a:solidFill>
                  <a:srgbClr val="242425"/>
                </a:solidFill>
                <a:latin typeface="Croc"/>
              </a:rPr>
              <a:t>•  основы информатики и программирования;</a:t>
            </a:r>
          </a:p>
          <a:p>
            <a:pPr algn="l">
              <a:spcAft>
                <a:spcPts val="1200"/>
              </a:spcAft>
            </a:pPr>
            <a:r>
              <a:rPr sz="1700" b="0" i="0">
                <a:solidFill>
                  <a:srgbClr val="242425"/>
                </a:solidFill>
                <a:latin typeface="Croc"/>
              </a:rPr>
              <a:t>•  архитектура ЭВМ и операционные системы.</a:t>
            </a:r>
          </a:p>
          <a:p>
            <a:pPr algn="l">
              <a:spcAft>
                <a:spcPts val="200"/>
              </a:spcAft>
            </a:pPr>
            <a:r>
              <a:rPr sz="1800" b="1" i="0">
                <a:solidFill>
                  <a:srgbClr val="242425"/>
                </a:solidFill>
                <a:latin typeface="Croc"/>
              </a:rPr>
              <a:t>Компетенции (ПК-4: сбор, обработка и анализ больших данных) нужны дальше для:</a:t>
            </a:r>
          </a:p>
          <a:p>
            <a:pPr algn="l"/>
            <a:r>
              <a:rPr sz="1700" b="0" i="0">
                <a:solidFill>
                  <a:srgbClr val="242425"/>
                </a:solidFill>
                <a:latin typeface="Croc"/>
              </a:rPr>
              <a:t>•  практики машинного обучения;</a:t>
            </a:r>
          </a:p>
          <a:p>
            <a:pPr algn="l"/>
            <a:r>
              <a:rPr sz="1700" b="0" i="0">
                <a:solidFill>
                  <a:srgbClr val="242425"/>
                </a:solidFill>
                <a:latin typeface="Croc"/>
              </a:rPr>
              <a:t>•  прикладных областей анализа больших данных;</a:t>
            </a:r>
          </a:p>
          <a:p>
            <a:pPr algn="l"/>
            <a:r>
              <a:rPr sz="1700" b="0" i="0">
                <a:solidFill>
                  <a:srgbClr val="242425"/>
                </a:solidFill>
                <a:latin typeface="Croc"/>
              </a:rPr>
              <a:t>•  проектной и научно-исследовательской практики;</a:t>
            </a:r>
          </a:p>
          <a:p>
            <a:pPr algn="l"/>
            <a:r>
              <a:rPr sz="1700" b="0" i="0">
                <a:solidFill>
                  <a:srgbClr val="242425"/>
                </a:solidFill>
                <a:latin typeface="Croc"/>
              </a:rPr>
              <a:t>•  выпускной квалификационной работы.</a:t>
            </a:r>
          </a:p>
        </p:txBody>
      </p:sp>
      <p:pic>
        <p:nvPicPr>
          <p:cNvPr id="3076" name="Мем s15_01_junior_10let" descr="s15_01_junior_10let.jpg"/>
          <p:cNvPicPr>
            <a:picLocks noChangeAspect="1"/>
          </p:cNvPicPr>
          <p:nvPr/>
        </p:nvPicPr>
        <p:blipFill>
          <a:blip r:embed="rId6"/>
          <a:stretch>
            <a:fillRect/>
          </a:stretch>
        </p:blipFill>
        <p:spPr>
          <a:xfrm>
            <a:off x="7498079" y="1548367"/>
            <a:ext cx="4389120" cy="2938305"/>
          </a:xfrm>
          <a:prstGeom prst="rect">
            <a:avLst/>
          </a:prstGeom>
          <a:ln w="9525">
            <a:solidFill>
              <a:srgbClr val="4E4E4E"/>
            </a:solid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a:xfrm>
            <a:off x="733485" y="484415"/>
            <a:ext cx="10566837" cy="997196"/>
          </a:xfrm>
        </p:spPr>
        <p:txBody>
          <a:bodyPr/>
          <a:lstStyle/>
          <a:p>
            <a:r>
              <a:rPr lang="ru-RU" dirty="0"/>
              <a:t>ТЕМАТИЧЕСКИЙ ПЛАН ДИСЦИПЛИНЫ</a:t>
            </a:r>
            <a:br>
              <a:rPr lang="ru-RU" dirty="0"/>
            </a:br>
            <a:endParaRPr lang="ru-RU" dirty="0"/>
          </a:p>
        </p:txBody>
      </p:sp>
      <p:sp>
        <p:nvSpPr>
          <p:cNvPr id="4" name="TextBox 3"/>
          <p:cNvSpPr txBox="1"/>
          <p:nvPr/>
        </p:nvSpPr>
        <p:spPr>
          <a:xfrm>
            <a:off x="10751893" y="6409366"/>
            <a:ext cx="868101" cy="246221"/>
          </a:xfrm>
          <a:prstGeom prst="rect">
            <a:avLst/>
          </a:prstGeom>
          <a:noFill/>
        </p:spPr>
        <p:txBody>
          <a:bodyPr wrap="square" rIns="0" rtlCol="0" anchor="b">
            <a:spAutoFit/>
          </a:bodyPr>
          <a:lstStyle/>
          <a:p>
            <a:pPr algn="r"/>
            <a:r>
              <a:rPr lang="en-US" sz="1000" dirty="0">
                <a:solidFill>
                  <a:srgbClr val="242425"/>
                </a:solidFill>
                <a:latin typeface="Croc" panose="020B0502020203020203" pitchFamily="34" charset="0"/>
              </a:rPr>
              <a:t>N</a:t>
            </a:r>
            <a:endParaRPr lang="ru-RU" sz="1000" dirty="0">
              <a:solidFill>
                <a:srgbClr val="242425"/>
              </a:solidFill>
              <a:latin typeface="Croc" panose="020B0502020203020203" pitchFamily="34" charset="0"/>
            </a:endParaRPr>
          </a:p>
        </p:txBody>
      </p:sp>
      <p:graphicFrame>
        <p:nvGraphicFramePr>
          <p:cNvPr id="5" name="Table 4"/>
          <p:cNvGraphicFramePr>
            <a:graphicFrameLocks noGrp="1"/>
          </p:cNvGraphicFramePr>
          <p:nvPr/>
        </p:nvGraphicFramePr>
        <p:xfrm>
          <a:off x="731520" y="1600200"/>
          <a:ext cx="10698480" cy="3401568"/>
        </p:xfrm>
        <a:graphic>
          <a:graphicData uri="http://schemas.openxmlformats.org/drawingml/2006/table">
            <a:tbl>
              <a:tblPr>
                <a:tableStyleId>{5C22544A-7EE6-4342-B048-85BDC9FD1C3A}</a:tableStyleId>
              </a:tblPr>
              <a:tblGrid>
                <a:gridCol w="42062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2926080">
                  <a:extLst>
                    <a:ext uri="{9D8B030D-6E8A-4147-A177-3AD203B41FA5}">
                      <a16:colId xmlns:a16="http://schemas.microsoft.com/office/drawing/2014/main" val="20004"/>
                    </a:ext>
                  </a:extLst>
                </a:gridCol>
              </a:tblGrid>
              <a:tr h="566928">
                <a:tc>
                  <a:txBody>
                    <a:bodyPr/>
                    <a:lstStyle/>
                    <a:p>
                      <a:pPr algn="l"/>
                      <a:r>
                        <a:rPr sz="1400" b="1">
                          <a:solidFill>
                            <a:srgbClr val="FFFFFF"/>
                          </a:solidFill>
                          <a:latin typeface="Croc"/>
                        </a:rPr>
                        <a:t>Раздел</a:t>
                      </a:r>
                    </a:p>
                  </a:txBody>
                  <a:tcPr marL="73152" marR="73152" marT="27432" marB="27432" anchor="ctr">
                    <a:solidFill>
                      <a:srgbClr val="6F26E2"/>
                    </a:solidFill>
                  </a:tcPr>
                </a:tc>
                <a:tc>
                  <a:txBody>
                    <a:bodyPr/>
                    <a:lstStyle/>
                    <a:p>
                      <a:pPr algn="ctr"/>
                      <a:r>
                        <a:rPr sz="1400" b="1">
                          <a:solidFill>
                            <a:srgbClr val="FFFFFF"/>
                          </a:solidFill>
                          <a:latin typeface="Croc"/>
                        </a:rPr>
                        <a:t>Лекции</a:t>
                      </a:r>
                    </a:p>
                  </a:txBody>
                  <a:tcPr marL="73152" marR="73152" marT="27432" marB="27432" anchor="ctr">
                    <a:solidFill>
                      <a:srgbClr val="6F26E2"/>
                    </a:solidFill>
                  </a:tcPr>
                </a:tc>
                <a:tc>
                  <a:txBody>
                    <a:bodyPr/>
                    <a:lstStyle/>
                    <a:p>
                      <a:pPr algn="ctr"/>
                      <a:r>
                        <a:rPr sz="1400" b="1">
                          <a:solidFill>
                            <a:srgbClr val="FFFFFF"/>
                          </a:solidFill>
                          <a:latin typeface="Croc"/>
                        </a:rPr>
                        <a:t>Семинары</a:t>
                      </a:r>
                    </a:p>
                  </a:txBody>
                  <a:tcPr marL="73152" marR="73152" marT="27432" marB="27432" anchor="ctr">
                    <a:solidFill>
                      <a:srgbClr val="6F26E2"/>
                    </a:solidFill>
                  </a:tcPr>
                </a:tc>
                <a:tc>
                  <a:txBody>
                    <a:bodyPr/>
                    <a:lstStyle/>
                    <a:p>
                      <a:pPr algn="ctr"/>
                      <a:r>
                        <a:rPr sz="1400" b="1">
                          <a:solidFill>
                            <a:srgbClr val="FFFFFF"/>
                          </a:solidFill>
                          <a:latin typeface="Croc"/>
                        </a:rPr>
                        <a:t>Сам. работа</a:t>
                      </a:r>
                    </a:p>
                  </a:txBody>
                  <a:tcPr marL="73152" marR="73152" marT="27432" marB="27432" anchor="ctr">
                    <a:solidFill>
                      <a:srgbClr val="6F26E2"/>
                    </a:solidFill>
                  </a:tcPr>
                </a:tc>
                <a:tc>
                  <a:txBody>
                    <a:bodyPr/>
                    <a:lstStyle/>
                    <a:p>
                      <a:pPr algn="ctr"/>
                      <a:r>
                        <a:rPr sz="1400" b="1">
                          <a:solidFill>
                            <a:srgbClr val="FFFFFF"/>
                          </a:solidFill>
                          <a:latin typeface="Croc"/>
                        </a:rPr>
                        <a:t>Контроль</a:t>
                      </a:r>
                    </a:p>
                  </a:txBody>
                  <a:tcPr marL="73152" marR="73152" marT="27432" marB="27432" anchor="ctr">
                    <a:solidFill>
                      <a:srgbClr val="6F26E2"/>
                    </a:solidFill>
                  </a:tcPr>
                </a:tc>
                <a:extLst>
                  <a:ext uri="{0D108BD9-81ED-4DB2-BD59-A6C34878D82A}">
                    <a16:rowId xmlns:a16="http://schemas.microsoft.com/office/drawing/2014/main" val="10000"/>
                  </a:ext>
                </a:extLst>
              </a:tr>
              <a:tr h="566928">
                <a:tc>
                  <a:txBody>
                    <a:bodyPr/>
                    <a:lstStyle/>
                    <a:p>
                      <a:pPr algn="l"/>
                      <a:r>
                        <a:rPr sz="1400" b="0">
                          <a:solidFill>
                            <a:srgbClr val="242425"/>
                          </a:solidFill>
                          <a:latin typeface="Croc"/>
                        </a:rPr>
                        <a:t>1 семестр. Углублённое изучение языка Python</a:t>
                      </a:r>
                    </a:p>
                  </a:txBody>
                  <a:tcPr marL="73152" marR="73152" marT="27432" marB="27432" anchor="ctr">
                    <a:solidFill>
                      <a:srgbClr val="FFFFFF"/>
                    </a:solidFill>
                  </a:tcPr>
                </a:tc>
                <a:tc>
                  <a:txBody>
                    <a:bodyPr/>
                    <a:lstStyle/>
                    <a:p>
                      <a:pPr algn="ctr"/>
                      <a:r>
                        <a:rPr sz="1400" b="0">
                          <a:solidFill>
                            <a:srgbClr val="242425"/>
                          </a:solidFill>
                          <a:latin typeface="Croc"/>
                        </a:rPr>
                        <a:t>8</a:t>
                      </a:r>
                    </a:p>
                  </a:txBody>
                  <a:tcPr marL="73152" marR="73152" marT="27432" marB="27432" anchor="ctr">
                    <a:solidFill>
                      <a:srgbClr val="FFFFFF"/>
                    </a:solidFill>
                  </a:tcPr>
                </a:tc>
                <a:tc>
                  <a:txBody>
                    <a:bodyPr/>
                    <a:lstStyle/>
                    <a:p>
                      <a:pPr algn="ctr"/>
                      <a:r>
                        <a:rPr sz="1400" b="0">
                          <a:solidFill>
                            <a:srgbClr val="242425"/>
                          </a:solidFill>
                          <a:latin typeface="Croc"/>
                        </a:rPr>
                        <a:t>28</a:t>
                      </a:r>
                    </a:p>
                  </a:txBody>
                  <a:tcPr marL="73152" marR="73152" marT="27432" marB="27432" anchor="ctr">
                    <a:solidFill>
                      <a:srgbClr val="FFFFFF"/>
                    </a:solidFill>
                  </a:tcPr>
                </a:tc>
                <a:tc>
                  <a:txBody>
                    <a:bodyPr/>
                    <a:lstStyle/>
                    <a:p>
                      <a:pPr algn="ctr"/>
                      <a:r>
                        <a:rPr sz="1400" b="0">
                          <a:solidFill>
                            <a:srgbClr val="242425"/>
                          </a:solidFill>
                          <a:latin typeface="Croc"/>
                        </a:rPr>
                        <a:t>88</a:t>
                      </a:r>
                    </a:p>
                  </a:txBody>
                  <a:tcPr marL="73152" marR="73152" marT="27432" marB="27432" anchor="ctr">
                    <a:solidFill>
                      <a:srgbClr val="FFFFFF"/>
                    </a:solidFill>
                  </a:tcPr>
                </a:tc>
                <a:tc>
                  <a:txBody>
                    <a:bodyPr/>
                    <a:lstStyle/>
                    <a:p>
                      <a:pPr algn="ctr"/>
                      <a:r>
                        <a:rPr sz="1400" b="0">
                          <a:solidFill>
                            <a:srgbClr val="242425"/>
                          </a:solidFill>
                          <a:latin typeface="Croc"/>
                        </a:rPr>
                        <a:t>5 домашних заданий</a:t>
                      </a:r>
                    </a:p>
                  </a:txBody>
                  <a:tcPr marL="73152" marR="73152" marT="27432" marB="27432" anchor="ctr">
                    <a:solidFill>
                      <a:srgbClr val="FFFFFF"/>
                    </a:solidFill>
                  </a:tcPr>
                </a:tc>
                <a:extLst>
                  <a:ext uri="{0D108BD9-81ED-4DB2-BD59-A6C34878D82A}">
                    <a16:rowId xmlns:a16="http://schemas.microsoft.com/office/drawing/2014/main" val="10001"/>
                  </a:ext>
                </a:extLst>
              </a:tr>
              <a:tr h="566928">
                <a:tc>
                  <a:txBody>
                    <a:bodyPr/>
                    <a:lstStyle/>
                    <a:p>
                      <a:pPr algn="l"/>
                      <a:r>
                        <a:rPr sz="1400" b="0">
                          <a:solidFill>
                            <a:srgbClr val="242425"/>
                          </a:solidFill>
                          <a:latin typeface="Croc"/>
                        </a:rPr>
                        <a:t>Подготовка к контрольным мероприятиям</a:t>
                      </a:r>
                    </a:p>
                  </a:txBody>
                  <a:tcPr marL="73152" marR="73152" marT="27432" marB="27432" anchor="ctr">
                    <a:solidFill>
                      <a:srgbClr val="F2F2F2"/>
                    </a:solidFill>
                  </a:tcPr>
                </a:tc>
                <a:tc>
                  <a:txBody>
                    <a:bodyPr/>
                    <a:lstStyle/>
                    <a:p>
                      <a:pPr algn="ctr"/>
                      <a:r>
                        <a:rPr sz="1400" b="0">
                          <a:solidFill>
                            <a:srgbClr val="242425"/>
                          </a:solidFill>
                          <a:latin typeface="Croc"/>
                        </a:rPr>
                        <a:t>–</a:t>
                      </a:r>
                    </a:p>
                  </a:txBody>
                  <a:tcPr marL="73152" marR="73152" marT="27432" marB="27432" anchor="ctr">
                    <a:solidFill>
                      <a:srgbClr val="F2F2F2"/>
                    </a:solidFill>
                  </a:tcPr>
                </a:tc>
                <a:tc>
                  <a:txBody>
                    <a:bodyPr/>
                    <a:lstStyle/>
                    <a:p>
                      <a:pPr algn="ctr"/>
                      <a:r>
                        <a:rPr sz="1400" b="0">
                          <a:solidFill>
                            <a:srgbClr val="242425"/>
                          </a:solidFill>
                          <a:latin typeface="Croc"/>
                        </a:rPr>
                        <a:t>–</a:t>
                      </a:r>
                    </a:p>
                  </a:txBody>
                  <a:tcPr marL="73152" marR="73152" marT="27432" marB="27432" anchor="ctr">
                    <a:solidFill>
                      <a:srgbClr val="F2F2F2"/>
                    </a:solidFill>
                  </a:tcPr>
                </a:tc>
                <a:tc>
                  <a:txBody>
                    <a:bodyPr/>
                    <a:lstStyle/>
                    <a:p>
                      <a:pPr algn="ctr"/>
                      <a:r>
                        <a:rPr sz="1400" b="0">
                          <a:solidFill>
                            <a:srgbClr val="242425"/>
                          </a:solidFill>
                          <a:latin typeface="Croc"/>
                        </a:rPr>
                        <a:t>20</a:t>
                      </a:r>
                    </a:p>
                  </a:txBody>
                  <a:tcPr marL="73152" marR="73152" marT="27432" marB="27432" anchor="ctr">
                    <a:solidFill>
                      <a:srgbClr val="F2F2F2"/>
                    </a:solidFill>
                  </a:tcPr>
                </a:tc>
                <a:tc>
                  <a:txBody>
                    <a:bodyPr/>
                    <a:lstStyle/>
                    <a:p>
                      <a:pPr algn="ctr"/>
                      <a:r>
                        <a:rPr sz="1400" b="0">
                          <a:solidFill>
                            <a:srgbClr val="242425"/>
                          </a:solidFill>
                          <a:latin typeface="Croc"/>
                        </a:rPr>
                        <a:t>Зачёт (защита ДЗ)</a:t>
                      </a:r>
                    </a:p>
                  </a:txBody>
                  <a:tcPr marL="73152" marR="73152" marT="27432" marB="27432" anchor="ctr">
                    <a:solidFill>
                      <a:srgbClr val="F2F2F2"/>
                    </a:solidFill>
                  </a:tcPr>
                </a:tc>
                <a:extLst>
                  <a:ext uri="{0D108BD9-81ED-4DB2-BD59-A6C34878D82A}">
                    <a16:rowId xmlns:a16="http://schemas.microsoft.com/office/drawing/2014/main" val="10002"/>
                  </a:ext>
                </a:extLst>
              </a:tr>
              <a:tr h="566928">
                <a:tc>
                  <a:txBody>
                    <a:bodyPr/>
                    <a:lstStyle/>
                    <a:p>
                      <a:pPr algn="l"/>
                      <a:r>
                        <a:rPr sz="1400" b="0">
                          <a:solidFill>
                            <a:srgbClr val="242425"/>
                          </a:solidFill>
                          <a:latin typeface="Croc"/>
                        </a:rPr>
                        <a:t>2 семестр. Машинное обучение</a:t>
                      </a:r>
                    </a:p>
                  </a:txBody>
                  <a:tcPr marL="73152" marR="73152" marT="27432" marB="27432" anchor="ctr">
                    <a:solidFill>
                      <a:srgbClr val="FFFFFF"/>
                    </a:solidFill>
                  </a:tcPr>
                </a:tc>
                <a:tc>
                  <a:txBody>
                    <a:bodyPr/>
                    <a:lstStyle/>
                    <a:p>
                      <a:pPr algn="ctr"/>
                      <a:r>
                        <a:rPr sz="1400" b="0">
                          <a:solidFill>
                            <a:srgbClr val="242425"/>
                          </a:solidFill>
                          <a:latin typeface="Croc"/>
                        </a:rPr>
                        <a:t>4</a:t>
                      </a:r>
                    </a:p>
                  </a:txBody>
                  <a:tcPr marL="73152" marR="73152" marT="27432" marB="27432" anchor="ctr">
                    <a:solidFill>
                      <a:srgbClr val="FFFFFF"/>
                    </a:solidFill>
                  </a:tcPr>
                </a:tc>
                <a:tc>
                  <a:txBody>
                    <a:bodyPr/>
                    <a:lstStyle/>
                    <a:p>
                      <a:pPr algn="ctr"/>
                      <a:r>
                        <a:rPr sz="1400" b="0">
                          <a:solidFill>
                            <a:srgbClr val="242425"/>
                          </a:solidFill>
                          <a:latin typeface="Croc"/>
                        </a:rPr>
                        <a:t>32</a:t>
                      </a:r>
                    </a:p>
                  </a:txBody>
                  <a:tcPr marL="73152" marR="73152" marT="27432" marB="27432" anchor="ctr">
                    <a:solidFill>
                      <a:srgbClr val="FFFFFF"/>
                    </a:solidFill>
                  </a:tcPr>
                </a:tc>
                <a:tc>
                  <a:txBody>
                    <a:bodyPr/>
                    <a:lstStyle/>
                    <a:p>
                      <a:pPr algn="ctr"/>
                      <a:r>
                        <a:rPr sz="1400" b="0">
                          <a:solidFill>
                            <a:srgbClr val="242425"/>
                          </a:solidFill>
                          <a:latin typeface="Croc"/>
                        </a:rPr>
                        <a:t>52</a:t>
                      </a:r>
                    </a:p>
                  </a:txBody>
                  <a:tcPr marL="73152" marR="73152" marT="27432" marB="27432" anchor="ctr">
                    <a:solidFill>
                      <a:srgbClr val="FFFFFF"/>
                    </a:solidFill>
                  </a:tcPr>
                </a:tc>
                <a:tc>
                  <a:txBody>
                    <a:bodyPr/>
                    <a:lstStyle/>
                    <a:p>
                      <a:pPr algn="ctr"/>
                      <a:r>
                        <a:rPr sz="1400" b="0">
                          <a:solidFill>
                            <a:srgbClr val="242425"/>
                          </a:solidFill>
                          <a:latin typeface="Croc"/>
                        </a:rPr>
                        <a:t>Индивидуальный проект DataPulse</a:t>
                      </a:r>
                    </a:p>
                  </a:txBody>
                  <a:tcPr marL="73152" marR="73152" marT="27432" marB="27432" anchor="ctr">
                    <a:solidFill>
                      <a:srgbClr val="FFFFFF"/>
                    </a:solidFill>
                  </a:tcPr>
                </a:tc>
                <a:extLst>
                  <a:ext uri="{0D108BD9-81ED-4DB2-BD59-A6C34878D82A}">
                    <a16:rowId xmlns:a16="http://schemas.microsoft.com/office/drawing/2014/main" val="10003"/>
                  </a:ext>
                </a:extLst>
              </a:tr>
              <a:tr h="566928">
                <a:tc>
                  <a:txBody>
                    <a:bodyPr/>
                    <a:lstStyle/>
                    <a:p>
                      <a:pPr algn="l"/>
                      <a:r>
                        <a:rPr sz="1400" b="0">
                          <a:solidFill>
                            <a:srgbClr val="242425"/>
                          </a:solidFill>
                          <a:latin typeface="Croc"/>
                        </a:rPr>
                        <a:t>Подготовка к контрольным мероприятиям</a:t>
                      </a:r>
                    </a:p>
                  </a:txBody>
                  <a:tcPr marL="73152" marR="73152" marT="27432" marB="27432" anchor="ctr">
                    <a:solidFill>
                      <a:srgbClr val="F2F2F2"/>
                    </a:solidFill>
                  </a:tcPr>
                </a:tc>
                <a:tc>
                  <a:txBody>
                    <a:bodyPr/>
                    <a:lstStyle/>
                    <a:p>
                      <a:pPr algn="ctr"/>
                      <a:r>
                        <a:rPr sz="1400" b="0">
                          <a:solidFill>
                            <a:srgbClr val="242425"/>
                          </a:solidFill>
                          <a:latin typeface="Croc"/>
                        </a:rPr>
                        <a:t>–</a:t>
                      </a:r>
                    </a:p>
                  </a:txBody>
                  <a:tcPr marL="73152" marR="73152" marT="27432" marB="27432" anchor="ctr">
                    <a:solidFill>
                      <a:srgbClr val="F2F2F2"/>
                    </a:solidFill>
                  </a:tcPr>
                </a:tc>
                <a:tc>
                  <a:txBody>
                    <a:bodyPr/>
                    <a:lstStyle/>
                    <a:p>
                      <a:pPr algn="ctr"/>
                      <a:r>
                        <a:rPr sz="1400" b="0">
                          <a:solidFill>
                            <a:srgbClr val="242425"/>
                          </a:solidFill>
                          <a:latin typeface="Croc"/>
                        </a:rPr>
                        <a:t>–</a:t>
                      </a:r>
                    </a:p>
                  </a:txBody>
                  <a:tcPr marL="73152" marR="73152" marT="27432" marB="27432" anchor="ctr">
                    <a:solidFill>
                      <a:srgbClr val="F2F2F2"/>
                    </a:solidFill>
                  </a:tcPr>
                </a:tc>
                <a:tc>
                  <a:txBody>
                    <a:bodyPr/>
                    <a:lstStyle/>
                    <a:p>
                      <a:pPr algn="ctr"/>
                      <a:r>
                        <a:rPr sz="1400" b="0">
                          <a:solidFill>
                            <a:srgbClr val="242425"/>
                          </a:solidFill>
                          <a:latin typeface="Croc"/>
                        </a:rPr>
                        <a:t>20</a:t>
                      </a:r>
                    </a:p>
                  </a:txBody>
                  <a:tcPr marL="73152" marR="73152" marT="27432" marB="27432" anchor="ctr">
                    <a:solidFill>
                      <a:srgbClr val="F2F2F2"/>
                    </a:solidFill>
                  </a:tcPr>
                </a:tc>
                <a:tc>
                  <a:txBody>
                    <a:bodyPr/>
                    <a:lstStyle/>
                    <a:p>
                      <a:pPr algn="ctr"/>
                      <a:r>
                        <a:rPr sz="1400" b="0">
                          <a:solidFill>
                            <a:srgbClr val="242425"/>
                          </a:solidFill>
                          <a:latin typeface="Croc"/>
                        </a:rPr>
                        <a:t>Экзамен (защита проекта)</a:t>
                      </a:r>
                    </a:p>
                  </a:txBody>
                  <a:tcPr marL="73152" marR="73152" marT="27432" marB="27432" anchor="ctr">
                    <a:solidFill>
                      <a:srgbClr val="F2F2F2"/>
                    </a:solidFill>
                  </a:tcPr>
                </a:tc>
                <a:extLst>
                  <a:ext uri="{0D108BD9-81ED-4DB2-BD59-A6C34878D82A}">
                    <a16:rowId xmlns:a16="http://schemas.microsoft.com/office/drawing/2014/main" val="10004"/>
                  </a:ext>
                </a:extLst>
              </a:tr>
              <a:tr h="566928">
                <a:tc>
                  <a:txBody>
                    <a:bodyPr/>
                    <a:lstStyle/>
                    <a:p>
                      <a:pPr algn="l"/>
                      <a:r>
                        <a:rPr sz="1400" b="1">
                          <a:solidFill>
                            <a:srgbClr val="242425"/>
                          </a:solidFill>
                          <a:latin typeface="Croc"/>
                        </a:rPr>
                        <a:t>ИТОГО</a:t>
                      </a:r>
                    </a:p>
                  </a:txBody>
                  <a:tcPr marL="73152" marR="73152" marT="27432" marB="27432" anchor="ctr">
                    <a:solidFill>
                      <a:srgbClr val="F0E9FC"/>
                    </a:solidFill>
                  </a:tcPr>
                </a:tc>
                <a:tc>
                  <a:txBody>
                    <a:bodyPr/>
                    <a:lstStyle/>
                    <a:p>
                      <a:pPr algn="ctr"/>
                      <a:r>
                        <a:rPr sz="1400" b="1">
                          <a:solidFill>
                            <a:srgbClr val="242425"/>
                          </a:solidFill>
                          <a:latin typeface="Croc"/>
                        </a:rPr>
                        <a:t>12</a:t>
                      </a:r>
                    </a:p>
                  </a:txBody>
                  <a:tcPr marL="73152" marR="73152" marT="27432" marB="27432" anchor="ctr">
                    <a:solidFill>
                      <a:srgbClr val="F0E9FC"/>
                    </a:solidFill>
                  </a:tcPr>
                </a:tc>
                <a:tc>
                  <a:txBody>
                    <a:bodyPr/>
                    <a:lstStyle/>
                    <a:p>
                      <a:pPr algn="ctr"/>
                      <a:r>
                        <a:rPr sz="1400" b="1">
                          <a:solidFill>
                            <a:srgbClr val="242425"/>
                          </a:solidFill>
                          <a:latin typeface="Croc"/>
                        </a:rPr>
                        <a:t>60</a:t>
                      </a:r>
                    </a:p>
                  </a:txBody>
                  <a:tcPr marL="73152" marR="73152" marT="27432" marB="27432" anchor="ctr">
                    <a:solidFill>
                      <a:srgbClr val="F0E9FC"/>
                    </a:solidFill>
                  </a:tcPr>
                </a:tc>
                <a:tc>
                  <a:txBody>
                    <a:bodyPr/>
                    <a:lstStyle/>
                    <a:p>
                      <a:pPr algn="ctr"/>
                      <a:r>
                        <a:rPr sz="1400" b="1">
                          <a:solidFill>
                            <a:srgbClr val="242425"/>
                          </a:solidFill>
                          <a:latin typeface="Croc"/>
                        </a:rPr>
                        <a:t>180</a:t>
                      </a:r>
                    </a:p>
                  </a:txBody>
                  <a:tcPr marL="73152" marR="73152" marT="27432" marB="27432" anchor="ctr">
                    <a:solidFill>
                      <a:srgbClr val="F0E9FC"/>
                    </a:solidFill>
                  </a:tcPr>
                </a:tc>
                <a:tc>
                  <a:txBody>
                    <a:bodyPr/>
                    <a:lstStyle/>
                    <a:p>
                      <a:pPr algn="ctr"/>
                      <a:r>
                        <a:rPr sz="1400" b="1">
                          <a:solidFill>
                            <a:srgbClr val="242425"/>
                          </a:solidFill>
                          <a:latin typeface="Croc"/>
                        </a:rPr>
                        <a:t>Зачёт, экзамен</a:t>
                      </a:r>
                    </a:p>
                  </a:txBody>
                  <a:tcPr marL="73152" marR="73152" marT="27432" marB="27432" anchor="ctr">
                    <a:solidFill>
                      <a:srgbClr val="F0E9FC"/>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731520" y="5257800"/>
            <a:ext cx="10698480" cy="457200"/>
          </a:xfrm>
          <a:prstGeom prst="rect">
            <a:avLst/>
          </a:prstGeom>
          <a:noFill/>
        </p:spPr>
        <p:txBody>
          <a:bodyPr wrap="square" lIns="45720" rIns="45720" anchor="t">
            <a:noAutofit/>
          </a:bodyPr>
          <a:lstStyle/>
          <a:p>
            <a:pPr algn="l"/>
            <a:r>
              <a:rPr sz="1200" b="0" i="0">
                <a:solidFill>
                  <a:srgbClr val="4E4E4E"/>
                </a:solidFill>
                <a:latin typeface="Croc"/>
              </a:rPr>
              <a:t>Часы — в академических часах, по рабочей программе 2026/2027.</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a:xfrm>
            <a:off x="369691" y="243267"/>
            <a:ext cx="10566837" cy="997196"/>
          </a:xfrm>
        </p:spPr>
        <p:txBody>
          <a:bodyPr/>
          <a:lstStyle/>
          <a:p>
            <a:r>
              <a:rPr lang="ru-RU" dirty="0"/>
              <a:t>РОАДМАП КУРСА</a:t>
            </a:r>
          </a:p>
        </p:txBody>
      </p:sp>
      <p:sp>
        <p:nvSpPr>
          <p:cNvPr id="4" name="TextBox 3"/>
          <p:cNvSpPr txBox="1"/>
          <p:nvPr/>
        </p:nvSpPr>
        <p:spPr>
          <a:xfrm>
            <a:off x="10751893" y="6409366"/>
            <a:ext cx="868101" cy="246221"/>
          </a:xfrm>
          <a:prstGeom prst="rect">
            <a:avLst/>
          </a:prstGeom>
          <a:noFill/>
        </p:spPr>
        <p:txBody>
          <a:bodyPr wrap="square" rIns="0" rtlCol="0" anchor="b">
            <a:spAutoFit/>
          </a:bodyPr>
          <a:lstStyle/>
          <a:p>
            <a:pPr algn="r"/>
            <a:r>
              <a:rPr lang="en-US" sz="1000" dirty="0">
                <a:solidFill>
                  <a:srgbClr val="242425"/>
                </a:solidFill>
                <a:latin typeface="Croc" panose="020B0502020203020203" pitchFamily="34" charset="0"/>
              </a:rPr>
              <a:t>N</a:t>
            </a:r>
            <a:endParaRPr lang="ru-RU" sz="1000" dirty="0">
              <a:solidFill>
                <a:srgbClr val="242425"/>
              </a:solidFill>
              <a:latin typeface="Croc" panose="020B0502020203020203" pitchFamily="34" charset="0"/>
            </a:endParaRPr>
          </a:p>
        </p:txBody>
      </p:sp>
      <p:pic>
        <p:nvPicPr>
          <p:cNvPr id="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1969" y="6291563"/>
            <a:ext cx="1231941" cy="48182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585216" y="1325880"/>
            <a:ext cx="10972800" cy="411480"/>
          </a:xfrm>
          <a:prstGeom prst="rect">
            <a:avLst/>
          </a:prstGeom>
          <a:noFill/>
        </p:spPr>
        <p:txBody>
          <a:bodyPr wrap="square" lIns="0" tIns="0" rIns="0" bIns="0" anchor="t">
            <a:noAutofit/>
          </a:bodyPr>
          <a:lstStyle/>
          <a:p>
            <a:pPr algn="l"/>
            <a:r>
              <a:rPr sz="1800" b="1" i="0">
                <a:solidFill>
                  <a:srgbClr val="6F26E2"/>
                </a:solidFill>
                <a:latin typeface="Croc"/>
              </a:rPr>
              <a:t>1 семестр · </a:t>
            </a:r>
            <a:r>
              <a:rPr sz="1800" b="0" i="0">
                <a:solidFill>
                  <a:srgbClr val="242425"/>
                </a:solidFill>
                <a:latin typeface="Croc"/>
              </a:rPr>
              <a:t>Python: от синтаксиса до ботов и веб-сервиса</a:t>
            </a:r>
          </a:p>
        </p:txBody>
      </p:sp>
      <p:sp>
        <p:nvSpPr>
          <p:cNvPr id="10" name="Pentagon 9"/>
          <p:cNvSpPr/>
          <p:nvPr/>
        </p:nvSpPr>
        <p:spPr>
          <a:xfrm>
            <a:off x="585216" y="1828800"/>
            <a:ext cx="1683802" cy="960120"/>
          </a:xfrm>
          <a:prstGeom prst="homePlate">
            <a:avLst>
              <a:gd name="adj" fmla="val 22000"/>
            </a:avLst>
          </a:prstGeom>
          <a:solidFill>
            <a:srgbClr val="242425"/>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bIns="36576" rtlCol="0" anchor="ctr"/>
          <a:lstStyle/>
          <a:p>
            <a:pPr algn="ctr"/>
            <a:r>
              <a:rPr sz="1300" b="1">
                <a:solidFill>
                  <a:srgbClr val="FFFFFF"/>
                </a:solidFill>
                <a:latin typeface="Croc"/>
              </a:rPr>
              <a:t>Л1</a:t>
            </a:r>
          </a:p>
          <a:p>
            <a:pPr algn="ctr"/>
            <a:r>
              <a:rPr sz="1100" b="0">
                <a:solidFill>
                  <a:srgbClr val="FFFFFF"/>
                </a:solidFill>
                <a:latin typeface="Croc"/>
              </a:rPr>
              <a:t>Рабочее место</a:t>
            </a:r>
          </a:p>
        </p:txBody>
      </p:sp>
      <p:sp>
        <p:nvSpPr>
          <p:cNvPr id="11" name="Chevron 10"/>
          <p:cNvSpPr/>
          <p:nvPr/>
        </p:nvSpPr>
        <p:spPr>
          <a:xfrm>
            <a:off x="2159290" y="1828800"/>
            <a:ext cx="1683802" cy="960120"/>
          </a:xfrm>
          <a:prstGeom prst="chevron">
            <a:avLst>
              <a:gd name="adj" fmla="val 22000"/>
            </a:avLst>
          </a:prstGeom>
          <a:solidFill>
            <a:srgbClr val="242425"/>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36576" bIns="36576" rtlCol="0" anchor="ctr"/>
          <a:lstStyle/>
          <a:p>
            <a:pPr algn="ctr"/>
            <a:r>
              <a:rPr sz="1300" b="1">
                <a:solidFill>
                  <a:srgbClr val="FFFFFF"/>
                </a:solidFill>
                <a:latin typeface="Croc"/>
              </a:rPr>
              <a:t>Л2</a:t>
            </a:r>
          </a:p>
          <a:p>
            <a:pPr algn="ctr"/>
            <a:r>
              <a:rPr sz="1100" b="0">
                <a:solidFill>
                  <a:srgbClr val="FFFFFF"/>
                </a:solidFill>
                <a:latin typeface="Croc"/>
              </a:rPr>
              <a:t>Синтаксис, Git</a:t>
            </a:r>
          </a:p>
        </p:txBody>
      </p:sp>
      <p:sp>
        <p:nvSpPr>
          <p:cNvPr id="12" name="Chevron 11"/>
          <p:cNvSpPr/>
          <p:nvPr/>
        </p:nvSpPr>
        <p:spPr>
          <a:xfrm>
            <a:off x="3733364" y="1828800"/>
            <a:ext cx="1683802" cy="960120"/>
          </a:xfrm>
          <a:prstGeom prst="chevron">
            <a:avLst>
              <a:gd name="adj" fmla="val 22000"/>
            </a:avLst>
          </a:prstGeom>
          <a:solidFill>
            <a:srgbClr val="242425"/>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36576" bIns="36576" rtlCol="0" anchor="ctr"/>
          <a:lstStyle/>
          <a:p>
            <a:pPr algn="ctr"/>
            <a:r>
              <a:rPr sz="1300" b="1">
                <a:solidFill>
                  <a:srgbClr val="FFFFFF"/>
                </a:solidFill>
                <a:latin typeface="Croc"/>
              </a:rPr>
              <a:t>Л3</a:t>
            </a:r>
          </a:p>
          <a:p>
            <a:pPr algn="ctr"/>
            <a:r>
              <a:rPr sz="1100" b="0">
                <a:solidFill>
                  <a:srgbClr val="FFFFFF"/>
                </a:solidFill>
                <a:latin typeface="Croc"/>
              </a:rPr>
              <a:t>Коллекции, функции, файлы</a:t>
            </a:r>
          </a:p>
        </p:txBody>
      </p:sp>
      <p:sp>
        <p:nvSpPr>
          <p:cNvPr id="13" name="Chevron 12"/>
          <p:cNvSpPr/>
          <p:nvPr/>
        </p:nvSpPr>
        <p:spPr>
          <a:xfrm>
            <a:off x="5307438" y="1828800"/>
            <a:ext cx="1683802" cy="960120"/>
          </a:xfrm>
          <a:prstGeom prst="chevron">
            <a:avLst>
              <a:gd name="adj" fmla="val 22000"/>
            </a:avLst>
          </a:prstGeom>
          <a:solidFill>
            <a:srgbClr val="242425"/>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36576" bIns="36576" rtlCol="0" anchor="ctr"/>
          <a:lstStyle/>
          <a:p>
            <a:pPr algn="ctr"/>
            <a:r>
              <a:rPr sz="1300" b="1">
                <a:solidFill>
                  <a:srgbClr val="FFFFFF"/>
                </a:solidFill>
                <a:latin typeface="Croc"/>
              </a:rPr>
              <a:t>Л4</a:t>
            </a:r>
          </a:p>
          <a:p>
            <a:pPr algn="ctr"/>
            <a:r>
              <a:rPr sz="1100" b="0">
                <a:solidFill>
                  <a:srgbClr val="FFFFFF"/>
                </a:solidFill>
                <a:latin typeface="Croc"/>
              </a:rPr>
              <a:t>ООП, декораторы</a:t>
            </a:r>
          </a:p>
        </p:txBody>
      </p:sp>
      <p:sp>
        <p:nvSpPr>
          <p:cNvPr id="14" name="Chevron 13"/>
          <p:cNvSpPr/>
          <p:nvPr/>
        </p:nvSpPr>
        <p:spPr>
          <a:xfrm>
            <a:off x="6881513" y="1828800"/>
            <a:ext cx="1683802" cy="960120"/>
          </a:xfrm>
          <a:prstGeom prst="chevron">
            <a:avLst>
              <a:gd name="adj" fmla="val 22000"/>
            </a:avLst>
          </a:prstGeom>
          <a:solidFill>
            <a:srgbClr val="242425"/>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36576" bIns="36576" rtlCol="0" anchor="ctr"/>
          <a:lstStyle/>
          <a:p>
            <a:pPr algn="ctr"/>
            <a:r>
              <a:rPr sz="1300" b="1">
                <a:solidFill>
                  <a:srgbClr val="FFFFFF"/>
                </a:solidFill>
                <a:latin typeface="Croc"/>
              </a:rPr>
              <a:t>Л5–Л6</a:t>
            </a:r>
          </a:p>
          <a:p>
            <a:pPr algn="ctr"/>
            <a:r>
              <a:rPr sz="1100" b="0">
                <a:solidFill>
                  <a:srgbClr val="FFFFFF"/>
                </a:solidFill>
                <a:latin typeface="Croc"/>
              </a:rPr>
              <a:t>Telegram-боты</a:t>
            </a:r>
          </a:p>
        </p:txBody>
      </p:sp>
      <p:sp>
        <p:nvSpPr>
          <p:cNvPr id="15" name="Chevron 14"/>
          <p:cNvSpPr/>
          <p:nvPr/>
        </p:nvSpPr>
        <p:spPr>
          <a:xfrm>
            <a:off x="8455587" y="1828800"/>
            <a:ext cx="1683802" cy="960120"/>
          </a:xfrm>
          <a:prstGeom prst="chevron">
            <a:avLst>
              <a:gd name="adj" fmla="val 22000"/>
            </a:avLst>
          </a:prstGeom>
          <a:solidFill>
            <a:srgbClr val="242425"/>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36576" bIns="36576" rtlCol="0" anchor="ctr"/>
          <a:lstStyle/>
          <a:p>
            <a:pPr algn="ctr"/>
            <a:r>
              <a:rPr sz="1300" b="1">
                <a:solidFill>
                  <a:srgbClr val="FFFFFF"/>
                </a:solidFill>
                <a:latin typeface="Croc"/>
              </a:rPr>
              <a:t>Л7</a:t>
            </a:r>
          </a:p>
          <a:p>
            <a:pPr algn="ctr"/>
            <a:r>
              <a:rPr sz="1100" b="0">
                <a:solidFill>
                  <a:srgbClr val="FFFFFF"/>
                </a:solidFill>
                <a:latin typeface="Croc"/>
              </a:rPr>
              <a:t>Веб: Flask</a:t>
            </a:r>
          </a:p>
        </p:txBody>
      </p:sp>
      <p:sp>
        <p:nvSpPr>
          <p:cNvPr id="16" name="Chevron 15"/>
          <p:cNvSpPr/>
          <p:nvPr/>
        </p:nvSpPr>
        <p:spPr>
          <a:xfrm>
            <a:off x="10029661" y="1828800"/>
            <a:ext cx="1683802" cy="960120"/>
          </a:xfrm>
          <a:prstGeom prst="chevron">
            <a:avLst>
              <a:gd name="adj" fmla="val 22000"/>
            </a:avLst>
          </a:prstGeom>
          <a:solidFill>
            <a:srgbClr val="6F26E2"/>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36576" bIns="36576" rtlCol="0" anchor="ctr"/>
          <a:lstStyle/>
          <a:p>
            <a:pPr algn="ctr"/>
            <a:r>
              <a:rPr sz="1300" b="1">
                <a:solidFill>
                  <a:srgbClr val="FFFFFF"/>
                </a:solidFill>
                <a:latin typeface="Croc"/>
              </a:rPr>
              <a:t>Зачёт</a:t>
            </a:r>
          </a:p>
        </p:txBody>
      </p:sp>
      <p:sp>
        <p:nvSpPr>
          <p:cNvPr id="17" name="TextBox 16"/>
          <p:cNvSpPr txBox="1"/>
          <p:nvPr/>
        </p:nvSpPr>
        <p:spPr>
          <a:xfrm>
            <a:off x="585216" y="3474720"/>
            <a:ext cx="10972800" cy="411480"/>
          </a:xfrm>
          <a:prstGeom prst="rect">
            <a:avLst/>
          </a:prstGeom>
          <a:noFill/>
        </p:spPr>
        <p:txBody>
          <a:bodyPr wrap="square" lIns="0" tIns="0" rIns="0" bIns="0" anchor="t">
            <a:noAutofit/>
          </a:bodyPr>
          <a:lstStyle/>
          <a:p>
            <a:pPr algn="l"/>
            <a:r>
              <a:rPr sz="1800" b="1" i="0">
                <a:solidFill>
                  <a:srgbClr val="6F26E2"/>
                </a:solidFill>
                <a:latin typeface="Croc"/>
              </a:rPr>
              <a:t>2 семестр · </a:t>
            </a:r>
            <a:r>
              <a:rPr sz="1800" b="0" i="0">
                <a:solidFill>
                  <a:srgbClr val="242425"/>
                </a:solidFill>
                <a:latin typeface="Croc"/>
              </a:rPr>
              <a:t>сквозной проект DataPulse: от сырых данных до сервиса с ML</a:t>
            </a:r>
          </a:p>
        </p:txBody>
      </p:sp>
      <p:sp>
        <p:nvSpPr>
          <p:cNvPr id="18" name="Pentagon 17"/>
          <p:cNvSpPr/>
          <p:nvPr/>
        </p:nvSpPr>
        <p:spPr>
          <a:xfrm>
            <a:off x="585216" y="3977639"/>
            <a:ext cx="1946148" cy="960120"/>
          </a:xfrm>
          <a:prstGeom prst="homePlate">
            <a:avLst>
              <a:gd name="adj" fmla="val 22000"/>
            </a:avLst>
          </a:prstGeom>
          <a:solidFill>
            <a:srgbClr val="242425"/>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bIns="36576" rtlCol="0" anchor="ctr"/>
          <a:lstStyle/>
          <a:p>
            <a:pPr algn="ctr"/>
            <a:r>
              <a:rPr sz="1300" b="1">
                <a:solidFill>
                  <a:srgbClr val="FFFFFF"/>
                </a:solidFill>
                <a:latin typeface="Croc"/>
              </a:rPr>
              <a:t>Пр1</a:t>
            </a:r>
          </a:p>
          <a:p>
            <a:pPr algn="ctr"/>
            <a:r>
              <a:rPr sz="1100" b="0">
                <a:solidFill>
                  <a:srgbClr val="FFFFFF"/>
                </a:solidFill>
                <a:latin typeface="Croc"/>
              </a:rPr>
              <a:t>Сбор данных, ETL, БД</a:t>
            </a:r>
          </a:p>
        </p:txBody>
      </p:sp>
      <p:sp>
        <p:nvSpPr>
          <p:cNvPr id="19" name="Chevron 18"/>
          <p:cNvSpPr/>
          <p:nvPr/>
        </p:nvSpPr>
        <p:spPr>
          <a:xfrm>
            <a:off x="2421636" y="3977639"/>
            <a:ext cx="1946148" cy="960120"/>
          </a:xfrm>
          <a:prstGeom prst="chevron">
            <a:avLst>
              <a:gd name="adj" fmla="val 22000"/>
            </a:avLst>
          </a:prstGeom>
          <a:solidFill>
            <a:srgbClr val="242425"/>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36576" bIns="36576" rtlCol="0" anchor="ctr"/>
          <a:lstStyle/>
          <a:p>
            <a:pPr algn="ctr"/>
            <a:r>
              <a:rPr sz="1300" b="1">
                <a:solidFill>
                  <a:srgbClr val="FFFFFF"/>
                </a:solidFill>
                <a:latin typeface="Croc"/>
              </a:rPr>
              <a:t>Пр2</a:t>
            </a:r>
          </a:p>
          <a:p>
            <a:pPr algn="ctr"/>
            <a:r>
              <a:rPr sz="1100" b="0">
                <a:solidFill>
                  <a:srgbClr val="FFFFFF"/>
                </a:solidFill>
                <a:latin typeface="Croc"/>
              </a:rPr>
              <a:t>EDA, графики</a:t>
            </a:r>
          </a:p>
        </p:txBody>
      </p:sp>
      <p:sp>
        <p:nvSpPr>
          <p:cNvPr id="20" name="Chevron 19"/>
          <p:cNvSpPr/>
          <p:nvPr/>
        </p:nvSpPr>
        <p:spPr>
          <a:xfrm>
            <a:off x="4258056" y="3977639"/>
            <a:ext cx="1946148" cy="960120"/>
          </a:xfrm>
          <a:prstGeom prst="chevron">
            <a:avLst>
              <a:gd name="adj" fmla="val 22000"/>
            </a:avLst>
          </a:prstGeom>
          <a:solidFill>
            <a:srgbClr val="242425"/>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36576" bIns="36576" rtlCol="0" anchor="ctr"/>
          <a:lstStyle/>
          <a:p>
            <a:pPr algn="ctr"/>
            <a:r>
              <a:rPr sz="1300" b="1">
                <a:solidFill>
                  <a:srgbClr val="FFFFFF"/>
                </a:solidFill>
                <a:latin typeface="Croc"/>
              </a:rPr>
              <a:t>Пр3</a:t>
            </a:r>
          </a:p>
          <a:p>
            <a:pPr algn="ctr"/>
            <a:r>
              <a:rPr sz="1100" b="0">
                <a:solidFill>
                  <a:srgbClr val="FFFFFF"/>
                </a:solidFill>
                <a:latin typeface="Croc"/>
              </a:rPr>
              <a:t>ML-модели</a:t>
            </a:r>
          </a:p>
        </p:txBody>
      </p:sp>
      <p:sp>
        <p:nvSpPr>
          <p:cNvPr id="21" name="Chevron 20"/>
          <p:cNvSpPr/>
          <p:nvPr/>
        </p:nvSpPr>
        <p:spPr>
          <a:xfrm>
            <a:off x="6094476" y="3977639"/>
            <a:ext cx="1946148" cy="960120"/>
          </a:xfrm>
          <a:prstGeom prst="chevron">
            <a:avLst>
              <a:gd name="adj" fmla="val 22000"/>
            </a:avLst>
          </a:prstGeom>
          <a:solidFill>
            <a:srgbClr val="242425"/>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36576" bIns="36576" rtlCol="0" anchor="ctr"/>
          <a:lstStyle/>
          <a:p>
            <a:pPr algn="ctr"/>
            <a:r>
              <a:rPr sz="1300" b="1">
                <a:solidFill>
                  <a:srgbClr val="FFFFFF"/>
                </a:solidFill>
                <a:latin typeface="Croc"/>
              </a:rPr>
              <a:t>Пр4</a:t>
            </a:r>
          </a:p>
          <a:p>
            <a:pPr algn="ctr"/>
            <a:r>
              <a:rPr sz="1100" b="0">
                <a:solidFill>
                  <a:srgbClr val="FFFFFF"/>
                </a:solidFill>
                <a:latin typeface="Croc"/>
              </a:rPr>
              <a:t>Бустинг, FastAPI</a:t>
            </a:r>
          </a:p>
        </p:txBody>
      </p:sp>
      <p:sp>
        <p:nvSpPr>
          <p:cNvPr id="22" name="Chevron 21"/>
          <p:cNvSpPr/>
          <p:nvPr/>
        </p:nvSpPr>
        <p:spPr>
          <a:xfrm>
            <a:off x="7930896" y="3977639"/>
            <a:ext cx="1946148" cy="960120"/>
          </a:xfrm>
          <a:prstGeom prst="chevron">
            <a:avLst>
              <a:gd name="adj" fmla="val 22000"/>
            </a:avLst>
          </a:prstGeom>
          <a:solidFill>
            <a:srgbClr val="242425"/>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36576" bIns="36576" rtlCol="0" anchor="ctr"/>
          <a:lstStyle/>
          <a:p>
            <a:pPr algn="ctr"/>
            <a:r>
              <a:rPr sz="1300" b="1">
                <a:solidFill>
                  <a:srgbClr val="FFFFFF"/>
                </a:solidFill>
                <a:latin typeface="Croc"/>
              </a:rPr>
              <a:t>Проект</a:t>
            </a:r>
          </a:p>
          <a:p>
            <a:pPr algn="ctr"/>
            <a:r>
              <a:rPr sz="1100" b="0">
                <a:solidFill>
                  <a:srgbClr val="FFFFFF"/>
                </a:solidFill>
                <a:latin typeface="Croc"/>
              </a:rPr>
              <a:t>Дашборд, Docker</a:t>
            </a:r>
          </a:p>
        </p:txBody>
      </p:sp>
      <p:sp>
        <p:nvSpPr>
          <p:cNvPr id="23" name="Chevron 22"/>
          <p:cNvSpPr/>
          <p:nvPr/>
        </p:nvSpPr>
        <p:spPr>
          <a:xfrm>
            <a:off x="9767316" y="3977639"/>
            <a:ext cx="1946148" cy="960120"/>
          </a:xfrm>
          <a:prstGeom prst="chevron">
            <a:avLst>
              <a:gd name="adj" fmla="val 22000"/>
            </a:avLst>
          </a:prstGeom>
          <a:solidFill>
            <a:srgbClr val="6F26E2"/>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36576" bIns="36576" rtlCol="0" anchor="ctr"/>
          <a:lstStyle/>
          <a:p>
            <a:pPr algn="ctr"/>
            <a:r>
              <a:rPr sz="1300" b="1">
                <a:solidFill>
                  <a:srgbClr val="FFFFFF"/>
                </a:solidFill>
                <a:latin typeface="Croc"/>
              </a:rPr>
              <a:t>Экзамен: защита проекта</a:t>
            </a:r>
          </a:p>
        </p:txBody>
      </p:sp>
      <p:sp>
        <p:nvSpPr>
          <p:cNvPr id="24" name="TextBox 23"/>
          <p:cNvSpPr txBox="1"/>
          <p:nvPr/>
        </p:nvSpPr>
        <p:spPr>
          <a:xfrm>
            <a:off x="585216" y="5166360"/>
            <a:ext cx="10972800" cy="822960"/>
          </a:xfrm>
          <a:prstGeom prst="rect">
            <a:avLst/>
          </a:prstGeom>
          <a:noFill/>
        </p:spPr>
        <p:txBody>
          <a:bodyPr wrap="square" lIns="0" tIns="0" rIns="0" bIns="0" anchor="t">
            <a:noAutofit/>
          </a:bodyPr>
          <a:lstStyle/>
          <a:p>
            <a:pPr algn="l"/>
            <a:r>
              <a:rPr sz="1400" b="0" i="0">
                <a:solidFill>
                  <a:srgbClr val="4E4E4E"/>
                </a:solidFill>
                <a:latin typeface="Croc"/>
              </a:rPr>
              <a:t>ДЗ сдаём через свой репозиторий на GitHub. Зачёт — вопросы по коду ваших ДЗ и по лекциям.</a:t>
            </a:r>
          </a:p>
          <a:p>
            <a:pPr algn="l"/>
            <a:r>
              <a:rPr sz="1400" b="0" i="0">
                <a:solidFill>
                  <a:srgbClr val="4E4E4E"/>
                </a:solidFill>
                <a:latin typeface="Croc"/>
              </a:rPr>
              <a:t>Проект — по шагам Пр1–Пр4, каждый шаг становится частью итогового сервиса.</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86001" y="474130"/>
            <a:ext cx="10566837" cy="997196"/>
          </a:xfrm>
        </p:spPr>
        <p:txBody>
          <a:bodyPr/>
          <a:lstStyle/>
          <a:p>
            <a:r>
              <a:rPr lang="ru-RU" dirty="0"/>
              <a:t>ПРИНЦИП ФОРМИРОВАНИЯ ОЦЕНКИ</a:t>
            </a:r>
            <a:br>
              <a:rPr lang="ru-RU" dirty="0"/>
            </a:br>
            <a:endParaRPr lang="ru-RU" dirty="0"/>
          </a:p>
        </p:txBody>
      </p:sp>
      <p:sp>
        <p:nvSpPr>
          <p:cNvPr id="3" name="TextBox 2"/>
          <p:cNvSpPr txBox="1"/>
          <p:nvPr/>
        </p:nvSpPr>
        <p:spPr>
          <a:xfrm>
            <a:off x="731520" y="1463040"/>
            <a:ext cx="5120640" cy="411480"/>
          </a:xfrm>
          <a:prstGeom prst="rect">
            <a:avLst/>
          </a:prstGeom>
          <a:noFill/>
        </p:spPr>
        <p:txBody>
          <a:bodyPr wrap="square" lIns="0" tIns="0" rIns="0" bIns="0" anchor="t">
            <a:noAutofit/>
          </a:bodyPr>
          <a:lstStyle/>
          <a:p>
            <a:pPr algn="l"/>
            <a:r>
              <a:rPr sz="1800" b="1" i="0">
                <a:solidFill>
                  <a:srgbClr val="6F26E2"/>
                </a:solidFill>
                <a:latin typeface="Croc"/>
              </a:rPr>
              <a:t>1 семестр · </a:t>
            </a:r>
            <a:r>
              <a:rPr sz="1800" b="0" i="0">
                <a:solidFill>
                  <a:srgbClr val="242425"/>
                </a:solidFill>
                <a:latin typeface="Croc"/>
              </a:rPr>
              <a:t>зачёт</a:t>
            </a:r>
          </a:p>
        </p:txBody>
      </p:sp>
      <p:graphicFrame>
        <p:nvGraphicFramePr>
          <p:cNvPr id="4" name="Table 3"/>
          <p:cNvGraphicFramePr>
            <a:graphicFrameLocks noGrp="1"/>
          </p:cNvGraphicFramePr>
          <p:nvPr/>
        </p:nvGraphicFramePr>
        <p:xfrm>
          <a:off x="731520" y="1920240"/>
          <a:ext cx="5120640" cy="2926080"/>
        </p:xfrm>
        <a:graphic>
          <a:graphicData uri="http://schemas.openxmlformats.org/drawingml/2006/table">
            <a:tbl>
              <a:tblPr>
                <a:tableStyleId>{5C22544A-7EE6-4342-B048-85BDC9FD1C3A}</a:tableStyleId>
              </a:tblPr>
              <a:tblGrid>
                <a:gridCol w="35661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365760">
                <a:tc>
                  <a:txBody>
                    <a:bodyPr/>
                    <a:lstStyle/>
                    <a:p>
                      <a:pPr algn="l"/>
                      <a:r>
                        <a:rPr sz="1300" b="1">
                          <a:solidFill>
                            <a:srgbClr val="FFFFFF"/>
                          </a:solidFill>
                          <a:latin typeface="Croc"/>
                        </a:rPr>
                        <a:t>Критерий</a:t>
                      </a:r>
                    </a:p>
                  </a:txBody>
                  <a:tcPr marL="73152" marR="73152" marT="27432" marB="27432" anchor="ctr">
                    <a:solidFill>
                      <a:srgbClr val="6F26E2"/>
                    </a:solidFill>
                  </a:tcPr>
                </a:tc>
                <a:tc>
                  <a:txBody>
                    <a:bodyPr/>
                    <a:lstStyle/>
                    <a:p>
                      <a:pPr algn="ctr"/>
                      <a:r>
                        <a:rPr sz="1300" b="1">
                          <a:solidFill>
                            <a:srgbClr val="FFFFFF"/>
                          </a:solidFill>
                          <a:latin typeface="Croc"/>
                        </a:rPr>
                        <a:t>Баллы</a:t>
                      </a:r>
                    </a:p>
                  </a:txBody>
                  <a:tcPr marL="73152" marR="73152" marT="27432" marB="27432" anchor="ctr">
                    <a:solidFill>
                      <a:srgbClr val="6F26E2"/>
                    </a:solidFill>
                  </a:tcPr>
                </a:tc>
                <a:extLst>
                  <a:ext uri="{0D108BD9-81ED-4DB2-BD59-A6C34878D82A}">
                    <a16:rowId xmlns:a16="http://schemas.microsoft.com/office/drawing/2014/main" val="10000"/>
                  </a:ext>
                </a:extLst>
              </a:tr>
              <a:tr h="365760">
                <a:tc>
                  <a:txBody>
                    <a:bodyPr/>
                    <a:lstStyle/>
                    <a:p>
                      <a:pPr algn="l"/>
                      <a:r>
                        <a:rPr sz="1300" b="0">
                          <a:solidFill>
                            <a:srgbClr val="242425"/>
                          </a:solidFill>
                          <a:latin typeface="Croc"/>
                        </a:rPr>
                        <a:t>ДЗ1 · рабочее место</a:t>
                      </a:r>
                    </a:p>
                  </a:txBody>
                  <a:tcPr marL="73152" marR="73152" marT="27432" marB="27432" anchor="ctr">
                    <a:solidFill>
                      <a:srgbClr val="FFFFFF"/>
                    </a:solidFill>
                  </a:tcPr>
                </a:tc>
                <a:tc>
                  <a:txBody>
                    <a:bodyPr/>
                    <a:lstStyle/>
                    <a:p>
                      <a:pPr algn="ctr"/>
                      <a:r>
                        <a:rPr sz="1300" b="0">
                          <a:solidFill>
                            <a:srgbClr val="242425"/>
                          </a:solidFill>
                          <a:latin typeface="Croc"/>
                        </a:rPr>
                        <a:t>вып. / не вып.</a:t>
                      </a:r>
                    </a:p>
                  </a:txBody>
                  <a:tcPr marL="73152" marR="73152" marT="27432" marB="27432" anchor="ctr">
                    <a:solidFill>
                      <a:srgbClr val="FFFFFF"/>
                    </a:solidFill>
                  </a:tcPr>
                </a:tc>
                <a:extLst>
                  <a:ext uri="{0D108BD9-81ED-4DB2-BD59-A6C34878D82A}">
                    <a16:rowId xmlns:a16="http://schemas.microsoft.com/office/drawing/2014/main" val="10001"/>
                  </a:ext>
                </a:extLst>
              </a:tr>
              <a:tr h="365760">
                <a:tc>
                  <a:txBody>
                    <a:bodyPr/>
                    <a:lstStyle/>
                    <a:p>
                      <a:pPr algn="l"/>
                      <a:r>
                        <a:rPr sz="1300" b="0">
                          <a:solidFill>
                            <a:srgbClr val="242425"/>
                          </a:solidFill>
                          <a:latin typeface="Croc"/>
                        </a:rPr>
                        <a:t>ДЗ2 · синтаксис</a:t>
                      </a:r>
                    </a:p>
                  </a:txBody>
                  <a:tcPr marL="73152" marR="73152" marT="27432" marB="27432" anchor="ctr">
                    <a:solidFill>
                      <a:srgbClr val="F2F2F2"/>
                    </a:solidFill>
                  </a:tcPr>
                </a:tc>
                <a:tc>
                  <a:txBody>
                    <a:bodyPr/>
                    <a:lstStyle/>
                    <a:p>
                      <a:pPr algn="ctr"/>
                      <a:r>
                        <a:rPr sz="1300" b="0">
                          <a:solidFill>
                            <a:srgbClr val="242425"/>
                          </a:solidFill>
                          <a:latin typeface="Croc"/>
                        </a:rPr>
                        <a:t>10</a:t>
                      </a:r>
                    </a:p>
                  </a:txBody>
                  <a:tcPr marL="73152" marR="73152" marT="27432" marB="27432" anchor="ctr">
                    <a:solidFill>
                      <a:srgbClr val="F2F2F2"/>
                    </a:solidFill>
                  </a:tcPr>
                </a:tc>
                <a:extLst>
                  <a:ext uri="{0D108BD9-81ED-4DB2-BD59-A6C34878D82A}">
                    <a16:rowId xmlns:a16="http://schemas.microsoft.com/office/drawing/2014/main" val="10002"/>
                  </a:ext>
                </a:extLst>
              </a:tr>
              <a:tr h="365760">
                <a:tc>
                  <a:txBody>
                    <a:bodyPr/>
                    <a:lstStyle/>
                    <a:p>
                      <a:pPr algn="l"/>
                      <a:r>
                        <a:rPr sz="1300" b="0">
                          <a:solidFill>
                            <a:srgbClr val="242425"/>
                          </a:solidFill>
                          <a:latin typeface="Croc"/>
                        </a:rPr>
                        <a:t>ДЗ3 · коллекции, файлы</a:t>
                      </a:r>
                    </a:p>
                  </a:txBody>
                  <a:tcPr marL="73152" marR="73152" marT="27432" marB="27432" anchor="ctr">
                    <a:solidFill>
                      <a:srgbClr val="FFFFFF"/>
                    </a:solidFill>
                  </a:tcPr>
                </a:tc>
                <a:tc>
                  <a:txBody>
                    <a:bodyPr/>
                    <a:lstStyle/>
                    <a:p>
                      <a:pPr algn="ctr"/>
                      <a:r>
                        <a:rPr sz="1300" b="0">
                          <a:solidFill>
                            <a:srgbClr val="242425"/>
                          </a:solidFill>
                          <a:latin typeface="Croc"/>
                        </a:rPr>
                        <a:t>10</a:t>
                      </a:r>
                    </a:p>
                  </a:txBody>
                  <a:tcPr marL="73152" marR="73152" marT="27432" marB="27432" anchor="ctr">
                    <a:solidFill>
                      <a:srgbClr val="FFFFFF"/>
                    </a:solidFill>
                  </a:tcPr>
                </a:tc>
                <a:extLst>
                  <a:ext uri="{0D108BD9-81ED-4DB2-BD59-A6C34878D82A}">
                    <a16:rowId xmlns:a16="http://schemas.microsoft.com/office/drawing/2014/main" val="10003"/>
                  </a:ext>
                </a:extLst>
              </a:tr>
              <a:tr h="365760">
                <a:tc>
                  <a:txBody>
                    <a:bodyPr/>
                    <a:lstStyle/>
                    <a:p>
                      <a:pPr algn="l"/>
                      <a:r>
                        <a:rPr sz="1300" b="0">
                          <a:solidFill>
                            <a:srgbClr val="242425"/>
                          </a:solidFill>
                          <a:latin typeface="Croc"/>
                        </a:rPr>
                        <a:t>ДЗ4 · Telegram-боты</a:t>
                      </a:r>
                    </a:p>
                  </a:txBody>
                  <a:tcPr marL="73152" marR="73152" marT="27432" marB="27432" anchor="ctr">
                    <a:solidFill>
                      <a:srgbClr val="F2F2F2"/>
                    </a:solidFill>
                  </a:tcPr>
                </a:tc>
                <a:tc>
                  <a:txBody>
                    <a:bodyPr/>
                    <a:lstStyle/>
                    <a:p>
                      <a:pPr algn="ctr"/>
                      <a:r>
                        <a:rPr sz="1300" b="0">
                          <a:solidFill>
                            <a:srgbClr val="242425"/>
                          </a:solidFill>
                          <a:latin typeface="Croc"/>
                        </a:rPr>
                        <a:t>10</a:t>
                      </a:r>
                    </a:p>
                  </a:txBody>
                  <a:tcPr marL="73152" marR="73152" marT="27432" marB="27432" anchor="ctr">
                    <a:solidFill>
                      <a:srgbClr val="F2F2F2"/>
                    </a:solidFill>
                  </a:tcPr>
                </a:tc>
                <a:extLst>
                  <a:ext uri="{0D108BD9-81ED-4DB2-BD59-A6C34878D82A}">
                    <a16:rowId xmlns:a16="http://schemas.microsoft.com/office/drawing/2014/main" val="10004"/>
                  </a:ext>
                </a:extLst>
              </a:tr>
              <a:tr h="365760">
                <a:tc>
                  <a:txBody>
                    <a:bodyPr/>
                    <a:lstStyle/>
                    <a:p>
                      <a:pPr algn="l"/>
                      <a:r>
                        <a:rPr sz="1300" b="0">
                          <a:solidFill>
                            <a:srgbClr val="242425"/>
                          </a:solidFill>
                          <a:latin typeface="Croc"/>
                        </a:rPr>
                        <a:t>ДЗ5 · веб-сервис</a:t>
                      </a:r>
                    </a:p>
                  </a:txBody>
                  <a:tcPr marL="73152" marR="73152" marT="27432" marB="27432" anchor="ctr">
                    <a:solidFill>
                      <a:srgbClr val="FFFFFF"/>
                    </a:solidFill>
                  </a:tcPr>
                </a:tc>
                <a:tc>
                  <a:txBody>
                    <a:bodyPr/>
                    <a:lstStyle/>
                    <a:p>
                      <a:pPr algn="ctr"/>
                      <a:r>
                        <a:rPr sz="1300" b="0">
                          <a:solidFill>
                            <a:srgbClr val="242425"/>
                          </a:solidFill>
                          <a:latin typeface="Croc"/>
                        </a:rPr>
                        <a:t>20</a:t>
                      </a:r>
                    </a:p>
                  </a:txBody>
                  <a:tcPr marL="73152" marR="73152" marT="27432" marB="27432" anchor="ctr">
                    <a:solidFill>
                      <a:srgbClr val="FFFFFF"/>
                    </a:solidFill>
                  </a:tcPr>
                </a:tc>
                <a:extLst>
                  <a:ext uri="{0D108BD9-81ED-4DB2-BD59-A6C34878D82A}">
                    <a16:rowId xmlns:a16="http://schemas.microsoft.com/office/drawing/2014/main" val="10005"/>
                  </a:ext>
                </a:extLst>
              </a:tr>
              <a:tr h="365760">
                <a:tc>
                  <a:txBody>
                    <a:bodyPr/>
                    <a:lstStyle/>
                    <a:p>
                      <a:pPr algn="l"/>
                      <a:r>
                        <a:rPr sz="1300" b="0">
                          <a:solidFill>
                            <a:srgbClr val="242425"/>
                          </a:solidFill>
                          <a:latin typeface="Croc"/>
                        </a:rPr>
                        <a:t>Зачёт</a:t>
                      </a:r>
                    </a:p>
                  </a:txBody>
                  <a:tcPr marL="73152" marR="73152" marT="27432" marB="27432" anchor="ctr">
                    <a:solidFill>
                      <a:srgbClr val="F2F2F2"/>
                    </a:solidFill>
                  </a:tcPr>
                </a:tc>
                <a:tc>
                  <a:txBody>
                    <a:bodyPr/>
                    <a:lstStyle/>
                    <a:p>
                      <a:pPr algn="ctr"/>
                      <a:r>
                        <a:rPr sz="1300" b="0">
                          <a:solidFill>
                            <a:srgbClr val="242425"/>
                          </a:solidFill>
                          <a:latin typeface="Croc"/>
                        </a:rPr>
                        <a:t>50</a:t>
                      </a:r>
                    </a:p>
                  </a:txBody>
                  <a:tcPr marL="73152" marR="73152" marT="27432" marB="27432" anchor="ctr">
                    <a:solidFill>
                      <a:srgbClr val="F2F2F2"/>
                    </a:solidFill>
                  </a:tcPr>
                </a:tc>
                <a:extLst>
                  <a:ext uri="{0D108BD9-81ED-4DB2-BD59-A6C34878D82A}">
                    <a16:rowId xmlns:a16="http://schemas.microsoft.com/office/drawing/2014/main" val="10006"/>
                  </a:ext>
                </a:extLst>
              </a:tr>
              <a:tr h="365760">
                <a:tc>
                  <a:txBody>
                    <a:bodyPr/>
                    <a:lstStyle/>
                    <a:p>
                      <a:pPr algn="l"/>
                      <a:r>
                        <a:rPr sz="1300" b="1">
                          <a:solidFill>
                            <a:srgbClr val="242425"/>
                          </a:solidFill>
                          <a:latin typeface="Croc"/>
                        </a:rPr>
                        <a:t>Итого</a:t>
                      </a:r>
                    </a:p>
                  </a:txBody>
                  <a:tcPr marL="73152" marR="73152" marT="27432" marB="27432" anchor="ctr">
                    <a:solidFill>
                      <a:srgbClr val="F0E9FC"/>
                    </a:solidFill>
                  </a:tcPr>
                </a:tc>
                <a:tc>
                  <a:txBody>
                    <a:bodyPr/>
                    <a:lstStyle/>
                    <a:p>
                      <a:pPr algn="ctr"/>
                      <a:r>
                        <a:rPr sz="1300" b="1">
                          <a:solidFill>
                            <a:srgbClr val="242425"/>
                          </a:solidFill>
                          <a:latin typeface="Croc"/>
                        </a:rPr>
                        <a:t>100</a:t>
                      </a:r>
                    </a:p>
                  </a:txBody>
                  <a:tcPr marL="73152" marR="73152" marT="27432" marB="27432" anchor="ctr">
                    <a:solidFill>
                      <a:srgbClr val="F0E9FC"/>
                    </a:solidFill>
                  </a:tcPr>
                </a:tc>
                <a:extLst>
                  <a:ext uri="{0D108BD9-81ED-4DB2-BD59-A6C34878D82A}">
                    <a16:rowId xmlns:a16="http://schemas.microsoft.com/office/drawing/2014/main" val="10007"/>
                  </a:ext>
                </a:extLst>
              </a:tr>
            </a:tbl>
          </a:graphicData>
        </a:graphic>
      </p:graphicFrame>
      <p:sp>
        <p:nvSpPr>
          <p:cNvPr id="5" name="Rounded Rectangle 4"/>
          <p:cNvSpPr/>
          <p:nvPr/>
        </p:nvSpPr>
        <p:spPr>
          <a:xfrm>
            <a:off x="731520" y="5029200"/>
            <a:ext cx="5120640" cy="685800"/>
          </a:xfrm>
          <a:prstGeom prst="roundRect">
            <a:avLst/>
          </a:prstGeom>
          <a:solidFill>
            <a:srgbClr val="6F26E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800" b="1">
                <a:solidFill>
                  <a:srgbClr val="FFFFFF"/>
                </a:solidFill>
                <a:latin typeface="Croc"/>
              </a:rPr>
              <a:t>Зачёт — от 61 балла</a:t>
            </a:r>
          </a:p>
        </p:txBody>
      </p:sp>
      <p:sp>
        <p:nvSpPr>
          <p:cNvPr id="6" name="TextBox 5"/>
          <p:cNvSpPr txBox="1"/>
          <p:nvPr/>
        </p:nvSpPr>
        <p:spPr>
          <a:xfrm>
            <a:off x="6309360" y="1463040"/>
            <a:ext cx="5120640" cy="411480"/>
          </a:xfrm>
          <a:prstGeom prst="rect">
            <a:avLst/>
          </a:prstGeom>
          <a:noFill/>
        </p:spPr>
        <p:txBody>
          <a:bodyPr wrap="square" lIns="0" tIns="0" rIns="0" bIns="0" anchor="t">
            <a:noAutofit/>
          </a:bodyPr>
          <a:lstStyle/>
          <a:p>
            <a:pPr algn="l"/>
            <a:r>
              <a:rPr sz="1800" b="1" i="0">
                <a:solidFill>
                  <a:srgbClr val="6F26E2"/>
                </a:solidFill>
                <a:latin typeface="Croc"/>
              </a:rPr>
              <a:t>2 семестр · </a:t>
            </a:r>
            <a:r>
              <a:rPr sz="1800" b="0" i="0">
                <a:solidFill>
                  <a:srgbClr val="242425"/>
                </a:solidFill>
                <a:latin typeface="Croc"/>
              </a:rPr>
              <a:t>экзамен</a:t>
            </a:r>
          </a:p>
        </p:txBody>
      </p:sp>
      <p:graphicFrame>
        <p:nvGraphicFramePr>
          <p:cNvPr id="7" name="Table 6"/>
          <p:cNvGraphicFramePr>
            <a:graphicFrameLocks noGrp="1"/>
          </p:cNvGraphicFramePr>
          <p:nvPr/>
        </p:nvGraphicFramePr>
        <p:xfrm>
          <a:off x="6309360" y="1920240"/>
          <a:ext cx="5120640" cy="2560320"/>
        </p:xfrm>
        <a:graphic>
          <a:graphicData uri="http://schemas.openxmlformats.org/drawingml/2006/table">
            <a:tbl>
              <a:tblPr>
                <a:tableStyleId>{5C22544A-7EE6-4342-B048-85BDC9FD1C3A}</a:tableStyleId>
              </a:tblPr>
              <a:tblGrid>
                <a:gridCol w="35661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365760">
                <a:tc>
                  <a:txBody>
                    <a:bodyPr/>
                    <a:lstStyle/>
                    <a:p>
                      <a:pPr algn="l"/>
                      <a:r>
                        <a:rPr sz="1300" b="1">
                          <a:solidFill>
                            <a:srgbClr val="FFFFFF"/>
                          </a:solidFill>
                          <a:latin typeface="Croc"/>
                        </a:rPr>
                        <a:t>Критерий</a:t>
                      </a:r>
                    </a:p>
                  </a:txBody>
                  <a:tcPr marL="73152" marR="73152" marT="27432" marB="27432" anchor="ctr">
                    <a:solidFill>
                      <a:srgbClr val="6F26E2"/>
                    </a:solidFill>
                  </a:tcPr>
                </a:tc>
                <a:tc>
                  <a:txBody>
                    <a:bodyPr/>
                    <a:lstStyle/>
                    <a:p>
                      <a:pPr algn="ctr"/>
                      <a:r>
                        <a:rPr sz="1300" b="1">
                          <a:solidFill>
                            <a:srgbClr val="FFFFFF"/>
                          </a:solidFill>
                          <a:latin typeface="Croc"/>
                        </a:rPr>
                        <a:t>Баллы</a:t>
                      </a:r>
                    </a:p>
                  </a:txBody>
                  <a:tcPr marL="73152" marR="73152" marT="27432" marB="27432" anchor="ctr">
                    <a:solidFill>
                      <a:srgbClr val="6F26E2"/>
                    </a:solidFill>
                  </a:tcPr>
                </a:tc>
                <a:extLst>
                  <a:ext uri="{0D108BD9-81ED-4DB2-BD59-A6C34878D82A}">
                    <a16:rowId xmlns:a16="http://schemas.microsoft.com/office/drawing/2014/main" val="10000"/>
                  </a:ext>
                </a:extLst>
              </a:tr>
              <a:tr h="365760">
                <a:tc>
                  <a:txBody>
                    <a:bodyPr/>
                    <a:lstStyle/>
                    <a:p>
                      <a:pPr algn="l"/>
                      <a:r>
                        <a:rPr sz="1300" b="0">
                          <a:solidFill>
                            <a:srgbClr val="242425"/>
                          </a:solidFill>
                          <a:latin typeface="Croc"/>
                        </a:rPr>
                        <a:t>Пр1 · сбор данных, ETL</a:t>
                      </a:r>
                    </a:p>
                  </a:txBody>
                  <a:tcPr marL="73152" marR="73152" marT="27432" marB="27432" anchor="ctr">
                    <a:solidFill>
                      <a:srgbClr val="FFFFFF"/>
                    </a:solidFill>
                  </a:tcPr>
                </a:tc>
                <a:tc>
                  <a:txBody>
                    <a:bodyPr/>
                    <a:lstStyle/>
                    <a:p>
                      <a:pPr algn="ctr"/>
                      <a:r>
                        <a:rPr sz="1300" b="0">
                          <a:solidFill>
                            <a:srgbClr val="242425"/>
                          </a:solidFill>
                          <a:latin typeface="Croc"/>
                        </a:rPr>
                        <a:t>10</a:t>
                      </a:r>
                    </a:p>
                  </a:txBody>
                  <a:tcPr marL="73152" marR="73152" marT="27432" marB="27432" anchor="ctr">
                    <a:solidFill>
                      <a:srgbClr val="FFFFFF"/>
                    </a:solidFill>
                  </a:tcPr>
                </a:tc>
                <a:extLst>
                  <a:ext uri="{0D108BD9-81ED-4DB2-BD59-A6C34878D82A}">
                    <a16:rowId xmlns:a16="http://schemas.microsoft.com/office/drawing/2014/main" val="10001"/>
                  </a:ext>
                </a:extLst>
              </a:tr>
              <a:tr h="365760">
                <a:tc>
                  <a:txBody>
                    <a:bodyPr/>
                    <a:lstStyle/>
                    <a:p>
                      <a:pPr algn="l"/>
                      <a:r>
                        <a:rPr sz="1300" b="0">
                          <a:solidFill>
                            <a:srgbClr val="242425"/>
                          </a:solidFill>
                          <a:latin typeface="Croc"/>
                        </a:rPr>
                        <a:t>Пр2 · EDA и визуализация</a:t>
                      </a:r>
                    </a:p>
                  </a:txBody>
                  <a:tcPr marL="73152" marR="73152" marT="27432" marB="27432" anchor="ctr">
                    <a:solidFill>
                      <a:srgbClr val="F2F2F2"/>
                    </a:solidFill>
                  </a:tcPr>
                </a:tc>
                <a:tc>
                  <a:txBody>
                    <a:bodyPr/>
                    <a:lstStyle/>
                    <a:p>
                      <a:pPr algn="ctr"/>
                      <a:r>
                        <a:rPr sz="1300" b="0">
                          <a:solidFill>
                            <a:srgbClr val="242425"/>
                          </a:solidFill>
                          <a:latin typeface="Croc"/>
                        </a:rPr>
                        <a:t>25</a:t>
                      </a:r>
                    </a:p>
                  </a:txBody>
                  <a:tcPr marL="73152" marR="73152" marT="27432" marB="27432" anchor="ctr">
                    <a:solidFill>
                      <a:srgbClr val="F2F2F2"/>
                    </a:solidFill>
                  </a:tcPr>
                </a:tc>
                <a:extLst>
                  <a:ext uri="{0D108BD9-81ED-4DB2-BD59-A6C34878D82A}">
                    <a16:rowId xmlns:a16="http://schemas.microsoft.com/office/drawing/2014/main" val="10002"/>
                  </a:ext>
                </a:extLst>
              </a:tr>
              <a:tr h="365760">
                <a:tc>
                  <a:txBody>
                    <a:bodyPr/>
                    <a:lstStyle/>
                    <a:p>
                      <a:pPr algn="l"/>
                      <a:r>
                        <a:rPr sz="1300" b="0">
                          <a:solidFill>
                            <a:srgbClr val="242425"/>
                          </a:solidFill>
                          <a:latin typeface="Croc"/>
                        </a:rPr>
                        <a:t>Пр3 · ML</a:t>
                      </a:r>
                    </a:p>
                  </a:txBody>
                  <a:tcPr marL="73152" marR="73152" marT="27432" marB="27432" anchor="ctr">
                    <a:solidFill>
                      <a:srgbClr val="FFFFFF"/>
                    </a:solidFill>
                  </a:tcPr>
                </a:tc>
                <a:tc>
                  <a:txBody>
                    <a:bodyPr/>
                    <a:lstStyle/>
                    <a:p>
                      <a:pPr algn="ctr"/>
                      <a:r>
                        <a:rPr sz="1300" b="0">
                          <a:solidFill>
                            <a:srgbClr val="242425"/>
                          </a:solidFill>
                          <a:latin typeface="Croc"/>
                        </a:rPr>
                        <a:t>10</a:t>
                      </a:r>
                    </a:p>
                  </a:txBody>
                  <a:tcPr marL="73152" marR="73152" marT="27432" marB="27432" anchor="ctr">
                    <a:solidFill>
                      <a:srgbClr val="FFFFFF"/>
                    </a:solidFill>
                  </a:tcPr>
                </a:tc>
                <a:extLst>
                  <a:ext uri="{0D108BD9-81ED-4DB2-BD59-A6C34878D82A}">
                    <a16:rowId xmlns:a16="http://schemas.microsoft.com/office/drawing/2014/main" val="10003"/>
                  </a:ext>
                </a:extLst>
              </a:tr>
              <a:tr h="365760">
                <a:tc>
                  <a:txBody>
                    <a:bodyPr/>
                    <a:lstStyle/>
                    <a:p>
                      <a:pPr algn="l"/>
                      <a:r>
                        <a:rPr sz="1300" b="0">
                          <a:solidFill>
                            <a:srgbClr val="242425"/>
                          </a:solidFill>
                          <a:latin typeface="Croc"/>
                        </a:rPr>
                        <a:t>Пр4 · бустинг + API</a:t>
                      </a:r>
                    </a:p>
                  </a:txBody>
                  <a:tcPr marL="73152" marR="73152" marT="27432" marB="27432" anchor="ctr">
                    <a:solidFill>
                      <a:srgbClr val="F2F2F2"/>
                    </a:solidFill>
                  </a:tcPr>
                </a:tc>
                <a:tc>
                  <a:txBody>
                    <a:bodyPr/>
                    <a:lstStyle/>
                    <a:p>
                      <a:pPr algn="ctr"/>
                      <a:r>
                        <a:rPr sz="1300" b="0">
                          <a:solidFill>
                            <a:srgbClr val="242425"/>
                          </a:solidFill>
                          <a:latin typeface="Croc"/>
                        </a:rPr>
                        <a:t>5</a:t>
                      </a:r>
                    </a:p>
                  </a:txBody>
                  <a:tcPr marL="73152" marR="73152" marT="27432" marB="27432" anchor="ctr">
                    <a:solidFill>
                      <a:srgbClr val="F2F2F2"/>
                    </a:solidFill>
                  </a:tcPr>
                </a:tc>
                <a:extLst>
                  <a:ext uri="{0D108BD9-81ED-4DB2-BD59-A6C34878D82A}">
                    <a16:rowId xmlns:a16="http://schemas.microsoft.com/office/drawing/2014/main" val="10004"/>
                  </a:ext>
                </a:extLst>
              </a:tr>
              <a:tr h="365760">
                <a:tc>
                  <a:txBody>
                    <a:bodyPr/>
                    <a:lstStyle/>
                    <a:p>
                      <a:pPr algn="l"/>
                      <a:r>
                        <a:rPr sz="1300" b="0">
                          <a:solidFill>
                            <a:srgbClr val="242425"/>
                          </a:solidFill>
                          <a:latin typeface="Croc"/>
                        </a:rPr>
                        <a:t>Проект DataPulse</a:t>
                      </a:r>
                    </a:p>
                  </a:txBody>
                  <a:tcPr marL="73152" marR="73152" marT="27432" marB="27432" anchor="ctr">
                    <a:solidFill>
                      <a:srgbClr val="FFFFFF"/>
                    </a:solidFill>
                  </a:tcPr>
                </a:tc>
                <a:tc>
                  <a:txBody>
                    <a:bodyPr/>
                    <a:lstStyle/>
                    <a:p>
                      <a:pPr algn="ctr"/>
                      <a:r>
                        <a:rPr sz="1300" b="0">
                          <a:solidFill>
                            <a:srgbClr val="242425"/>
                          </a:solidFill>
                          <a:latin typeface="Croc"/>
                        </a:rPr>
                        <a:t>50</a:t>
                      </a:r>
                    </a:p>
                  </a:txBody>
                  <a:tcPr marL="73152" marR="73152" marT="27432" marB="27432" anchor="ctr">
                    <a:solidFill>
                      <a:srgbClr val="FFFFFF"/>
                    </a:solidFill>
                  </a:tcPr>
                </a:tc>
                <a:extLst>
                  <a:ext uri="{0D108BD9-81ED-4DB2-BD59-A6C34878D82A}">
                    <a16:rowId xmlns:a16="http://schemas.microsoft.com/office/drawing/2014/main" val="10005"/>
                  </a:ext>
                </a:extLst>
              </a:tr>
              <a:tr h="365760">
                <a:tc>
                  <a:txBody>
                    <a:bodyPr/>
                    <a:lstStyle/>
                    <a:p>
                      <a:pPr algn="l"/>
                      <a:r>
                        <a:rPr sz="1300" b="1">
                          <a:solidFill>
                            <a:srgbClr val="242425"/>
                          </a:solidFill>
                          <a:latin typeface="Croc"/>
                        </a:rPr>
                        <a:t>Итого</a:t>
                      </a:r>
                    </a:p>
                  </a:txBody>
                  <a:tcPr marL="73152" marR="73152" marT="27432" marB="27432" anchor="ctr">
                    <a:solidFill>
                      <a:srgbClr val="F0E9FC"/>
                    </a:solidFill>
                  </a:tcPr>
                </a:tc>
                <a:tc>
                  <a:txBody>
                    <a:bodyPr/>
                    <a:lstStyle/>
                    <a:p>
                      <a:pPr algn="ctr"/>
                      <a:r>
                        <a:rPr sz="1300" b="1">
                          <a:solidFill>
                            <a:srgbClr val="242425"/>
                          </a:solidFill>
                          <a:latin typeface="Croc"/>
                        </a:rPr>
                        <a:t>100</a:t>
                      </a:r>
                    </a:p>
                  </a:txBody>
                  <a:tcPr marL="73152" marR="73152" marT="27432" marB="27432" anchor="ctr">
                    <a:solidFill>
                      <a:srgbClr val="F0E9FC"/>
                    </a:solidFill>
                  </a:tcPr>
                </a:tc>
                <a:extLst>
                  <a:ext uri="{0D108BD9-81ED-4DB2-BD59-A6C34878D82A}">
                    <a16:rowId xmlns:a16="http://schemas.microsoft.com/office/drawing/2014/main" val="10006"/>
                  </a:ext>
                </a:extLst>
              </a:tr>
            </a:tbl>
          </a:graphicData>
        </a:graphic>
      </p:graphicFrame>
      <p:graphicFrame>
        <p:nvGraphicFramePr>
          <p:cNvPr id="8" name="Table 7"/>
          <p:cNvGraphicFramePr>
            <a:graphicFrameLocks noGrp="1"/>
          </p:cNvGraphicFramePr>
          <p:nvPr/>
        </p:nvGraphicFramePr>
        <p:xfrm>
          <a:off x="6309360" y="4572000"/>
          <a:ext cx="5120640" cy="1508760"/>
        </p:xfrm>
        <a:graphic>
          <a:graphicData uri="http://schemas.openxmlformats.org/drawingml/2006/table">
            <a:tbl>
              <a:tblPr>
                <a:tableStyleId>{5C22544A-7EE6-4342-B048-85BDC9FD1C3A}</a:tableStyleId>
              </a:tblPr>
              <a:tblGrid>
                <a:gridCol w="192024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301752">
                <a:tc>
                  <a:txBody>
                    <a:bodyPr/>
                    <a:lstStyle/>
                    <a:p>
                      <a:pPr algn="ctr"/>
                      <a:r>
                        <a:rPr sz="1200" b="1">
                          <a:solidFill>
                            <a:srgbClr val="FFFFFF"/>
                          </a:solidFill>
                          <a:latin typeface="Croc"/>
                        </a:rPr>
                        <a:t>Баллы</a:t>
                      </a:r>
                    </a:p>
                  </a:txBody>
                  <a:tcPr marL="73152" marR="73152" marT="27432" marB="27432" anchor="ctr">
                    <a:solidFill>
                      <a:srgbClr val="242425"/>
                    </a:solidFill>
                  </a:tcPr>
                </a:tc>
                <a:tc>
                  <a:txBody>
                    <a:bodyPr/>
                    <a:lstStyle/>
                    <a:p>
                      <a:pPr algn="ctr"/>
                      <a:r>
                        <a:rPr sz="1200" b="1">
                          <a:solidFill>
                            <a:srgbClr val="FFFFFF"/>
                          </a:solidFill>
                          <a:latin typeface="Croc"/>
                        </a:rPr>
                        <a:t>Оценка за экзамен</a:t>
                      </a:r>
                    </a:p>
                  </a:txBody>
                  <a:tcPr marL="73152" marR="73152" marT="27432" marB="27432" anchor="ctr">
                    <a:solidFill>
                      <a:srgbClr val="242425"/>
                    </a:solidFill>
                  </a:tcPr>
                </a:tc>
                <a:extLst>
                  <a:ext uri="{0D108BD9-81ED-4DB2-BD59-A6C34878D82A}">
                    <a16:rowId xmlns:a16="http://schemas.microsoft.com/office/drawing/2014/main" val="10000"/>
                  </a:ext>
                </a:extLst>
              </a:tr>
              <a:tr h="301752">
                <a:tc>
                  <a:txBody>
                    <a:bodyPr/>
                    <a:lstStyle/>
                    <a:p>
                      <a:pPr algn="ctr"/>
                      <a:r>
                        <a:rPr sz="1200" b="0">
                          <a:solidFill>
                            <a:srgbClr val="242425"/>
                          </a:solidFill>
                          <a:latin typeface="Croc"/>
                        </a:rPr>
                        <a:t>85–100</a:t>
                      </a:r>
                    </a:p>
                  </a:txBody>
                  <a:tcPr marL="73152" marR="73152" marT="27432" marB="27432" anchor="ctr">
                    <a:solidFill>
                      <a:srgbClr val="FFFFFF"/>
                    </a:solidFill>
                  </a:tcPr>
                </a:tc>
                <a:tc>
                  <a:txBody>
                    <a:bodyPr/>
                    <a:lstStyle/>
                    <a:p>
                      <a:pPr algn="ctr"/>
                      <a:r>
                        <a:rPr sz="1200" b="0">
                          <a:solidFill>
                            <a:srgbClr val="242425"/>
                          </a:solidFill>
                          <a:latin typeface="Croc"/>
                        </a:rPr>
                        <a:t>5 (отлично)</a:t>
                      </a:r>
                    </a:p>
                  </a:txBody>
                  <a:tcPr marL="73152" marR="73152" marT="27432" marB="27432" anchor="ctr">
                    <a:solidFill>
                      <a:srgbClr val="FFFFFF"/>
                    </a:solidFill>
                  </a:tcPr>
                </a:tc>
                <a:extLst>
                  <a:ext uri="{0D108BD9-81ED-4DB2-BD59-A6C34878D82A}">
                    <a16:rowId xmlns:a16="http://schemas.microsoft.com/office/drawing/2014/main" val="10001"/>
                  </a:ext>
                </a:extLst>
              </a:tr>
              <a:tr h="301752">
                <a:tc>
                  <a:txBody>
                    <a:bodyPr/>
                    <a:lstStyle/>
                    <a:p>
                      <a:pPr algn="ctr"/>
                      <a:r>
                        <a:rPr sz="1200" b="0">
                          <a:solidFill>
                            <a:srgbClr val="242425"/>
                          </a:solidFill>
                          <a:latin typeface="Croc"/>
                        </a:rPr>
                        <a:t>70–84</a:t>
                      </a:r>
                    </a:p>
                  </a:txBody>
                  <a:tcPr marL="73152" marR="73152" marT="27432" marB="27432" anchor="ctr">
                    <a:solidFill>
                      <a:srgbClr val="F2F2F2"/>
                    </a:solidFill>
                  </a:tcPr>
                </a:tc>
                <a:tc>
                  <a:txBody>
                    <a:bodyPr/>
                    <a:lstStyle/>
                    <a:p>
                      <a:pPr algn="ctr"/>
                      <a:r>
                        <a:rPr sz="1200" b="0">
                          <a:solidFill>
                            <a:srgbClr val="242425"/>
                          </a:solidFill>
                          <a:latin typeface="Croc"/>
                        </a:rPr>
                        <a:t>4 (хорошо)</a:t>
                      </a:r>
                    </a:p>
                  </a:txBody>
                  <a:tcPr marL="73152" marR="73152" marT="27432" marB="27432" anchor="ctr">
                    <a:solidFill>
                      <a:srgbClr val="F2F2F2"/>
                    </a:solidFill>
                  </a:tcPr>
                </a:tc>
                <a:extLst>
                  <a:ext uri="{0D108BD9-81ED-4DB2-BD59-A6C34878D82A}">
                    <a16:rowId xmlns:a16="http://schemas.microsoft.com/office/drawing/2014/main" val="10002"/>
                  </a:ext>
                </a:extLst>
              </a:tr>
              <a:tr h="301752">
                <a:tc>
                  <a:txBody>
                    <a:bodyPr/>
                    <a:lstStyle/>
                    <a:p>
                      <a:pPr algn="ctr"/>
                      <a:r>
                        <a:rPr sz="1200" b="0">
                          <a:solidFill>
                            <a:srgbClr val="242425"/>
                          </a:solidFill>
                          <a:latin typeface="Croc"/>
                        </a:rPr>
                        <a:t>61–69</a:t>
                      </a:r>
                    </a:p>
                  </a:txBody>
                  <a:tcPr marL="73152" marR="73152" marT="27432" marB="27432" anchor="ctr">
                    <a:solidFill>
                      <a:srgbClr val="FFFFFF"/>
                    </a:solidFill>
                  </a:tcPr>
                </a:tc>
                <a:tc>
                  <a:txBody>
                    <a:bodyPr/>
                    <a:lstStyle/>
                    <a:p>
                      <a:pPr algn="ctr"/>
                      <a:r>
                        <a:rPr sz="1200" b="0">
                          <a:solidFill>
                            <a:srgbClr val="242425"/>
                          </a:solidFill>
                          <a:latin typeface="Croc"/>
                        </a:rPr>
                        <a:t>3 (удовлетворительно)</a:t>
                      </a:r>
                    </a:p>
                  </a:txBody>
                  <a:tcPr marL="73152" marR="73152" marT="27432" marB="27432" anchor="ctr">
                    <a:solidFill>
                      <a:srgbClr val="FFFFFF"/>
                    </a:solidFill>
                  </a:tcPr>
                </a:tc>
                <a:extLst>
                  <a:ext uri="{0D108BD9-81ED-4DB2-BD59-A6C34878D82A}">
                    <a16:rowId xmlns:a16="http://schemas.microsoft.com/office/drawing/2014/main" val="10003"/>
                  </a:ext>
                </a:extLst>
              </a:tr>
              <a:tr h="301752">
                <a:tc>
                  <a:txBody>
                    <a:bodyPr/>
                    <a:lstStyle/>
                    <a:p>
                      <a:pPr algn="ctr"/>
                      <a:r>
                        <a:rPr sz="1200" b="0">
                          <a:solidFill>
                            <a:srgbClr val="242425"/>
                          </a:solidFill>
                          <a:latin typeface="Croc"/>
                        </a:rPr>
                        <a:t>0–60</a:t>
                      </a:r>
                    </a:p>
                  </a:txBody>
                  <a:tcPr marL="73152" marR="73152" marT="27432" marB="27432" anchor="ctr">
                    <a:solidFill>
                      <a:srgbClr val="F2F2F2"/>
                    </a:solidFill>
                  </a:tcPr>
                </a:tc>
                <a:tc>
                  <a:txBody>
                    <a:bodyPr/>
                    <a:lstStyle/>
                    <a:p>
                      <a:pPr algn="ctr"/>
                      <a:r>
                        <a:rPr sz="1200" b="0">
                          <a:solidFill>
                            <a:srgbClr val="242425"/>
                          </a:solidFill>
                          <a:latin typeface="Croc"/>
                        </a:rPr>
                        <a:t>2 (неудовлетворительно)</a:t>
                      </a:r>
                    </a:p>
                  </a:txBody>
                  <a:tcPr marL="73152" marR="73152" marT="27432" marB="27432" anchor="ctr">
                    <a:solidFill>
                      <a:srgbClr val="F2F2F2"/>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a:xfrm>
            <a:off x="586001" y="474130"/>
            <a:ext cx="10566837" cy="498598"/>
          </a:xfrm>
        </p:spPr>
        <p:txBody>
          <a:bodyPr/>
          <a:lstStyle/>
          <a:p>
            <a:r>
              <a:rPr lang="ru-RU" b="0" dirty="0">
                <a:solidFill>
                  <a:schemeClr val="bg1"/>
                </a:solidFill>
              </a:rPr>
              <a:t>Политика по ИИ</a:t>
            </a:r>
          </a:p>
        </p:txBody>
      </p:sp>
      <p:sp>
        <p:nvSpPr>
          <p:cNvPr id="4" name="TextBox 3"/>
          <p:cNvSpPr txBox="1"/>
          <p:nvPr/>
        </p:nvSpPr>
        <p:spPr>
          <a:xfrm>
            <a:off x="10751893" y="6409366"/>
            <a:ext cx="868101" cy="246221"/>
          </a:xfrm>
          <a:prstGeom prst="rect">
            <a:avLst/>
          </a:prstGeom>
          <a:noFill/>
        </p:spPr>
        <p:txBody>
          <a:bodyPr wrap="square" r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roc" panose="020B0502020203020203" pitchFamily="34" charset="0"/>
                <a:ea typeface="+mn-ea"/>
                <a:cs typeface="+mn-cs"/>
              </a:rPr>
              <a:t>N</a:t>
            </a:r>
            <a:endParaRPr kumimoji="0" lang="ru-RU" sz="1000" b="0" i="0" u="none" strike="noStrike" kern="1200" cap="none" spc="0" normalizeH="0" baseline="0" noProof="0" dirty="0">
              <a:ln>
                <a:noFill/>
              </a:ln>
              <a:solidFill>
                <a:prstClr val="white"/>
              </a:solidFill>
              <a:effectLst/>
              <a:uLnTx/>
              <a:uFillTx/>
              <a:latin typeface="Croc" panose="020B0502020203020203" pitchFamily="34" charset="0"/>
              <a:ea typeface="+mn-ea"/>
              <a:cs typeface="+mn-cs"/>
            </a:endParaRPr>
          </a:p>
        </p:txBody>
      </p:sp>
      <p:sp>
        <p:nvSpPr>
          <p:cNvPr id="14" name="TextBox 13">
            <a:extLst>
              <a:ext uri="{FF2B5EF4-FFF2-40B4-BE49-F238E27FC236}">
                <a16:creationId xmlns:a16="http://schemas.microsoft.com/office/drawing/2014/main" id="{215C0989-6311-4F15-A5C6-B2767D9B79FC}"/>
              </a:ext>
            </a:extLst>
          </p:cNvPr>
          <p:cNvSpPr txBox="1"/>
          <p:nvPr/>
        </p:nvSpPr>
        <p:spPr>
          <a:xfrm>
            <a:off x="0" y="221993"/>
            <a:ext cx="5734050" cy="1015663"/>
          </a:xfrm>
          <a:prstGeom prst="rect">
            <a:avLst/>
          </a:prstGeom>
          <a:noFill/>
        </p:spPr>
        <p:txBody>
          <a:bodyPr wrap="square">
            <a:spAutoFit/>
          </a:bodyPr>
          <a:lstStyle/>
          <a:p>
            <a:r>
              <a:rPr lang="ru-RU" sz="4400" b="1" i="0" dirty="0">
                <a:effectLst/>
                <a:latin typeface="-apple-system"/>
              </a:rPr>
              <a:t>Политика по ИИ</a:t>
            </a:r>
            <a:endParaRPr lang="ru-RU" sz="4400" dirty="0"/>
          </a:p>
        </p:txBody>
      </p:sp>
      <p:pic>
        <p:nvPicPr>
          <p:cNvPr id="8195" name="Picture 3" descr="r/meme - ChatGPT i skolorna">
            <a:extLst>
              <a:ext uri="{FF2B5EF4-FFF2-40B4-BE49-F238E27FC236}">
                <a16:creationId xmlns:a16="http://schemas.microsoft.com/office/drawing/2014/main" id="{9AD66876-65D7-4D12-AA04-CDF245919F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9419" y="0"/>
            <a:ext cx="6096000" cy="6496050"/>
          </a:xfrm>
          <a:prstGeom prst="rect">
            <a:avLst/>
          </a:prstGeom>
          <a:noFill/>
          <a:extLst>
            <a:ext uri="{909E8E84-426E-40DD-AFC4-6F175D3DCCD1}">
              <a14:hiddenFill xmlns:a14="http://schemas.microsoft.com/office/drawing/2010/main">
                <a:solidFill>
                  <a:srgbClr val="FFFFFF"/>
                </a:solidFill>
              </a14:hiddenFill>
            </a:ext>
          </a:extLst>
        </p:spPr>
      </p:pic>
      <p:sp>
        <p:nvSpPr>
          <p:cNvPr id="8196" name="TextBox 8195"/>
          <p:cNvSpPr txBox="1"/>
          <p:nvPr/>
        </p:nvSpPr>
        <p:spPr>
          <a:xfrm>
            <a:off x="182880" y="1188720"/>
            <a:ext cx="5577840" cy="3931920"/>
          </a:xfrm>
          <a:prstGeom prst="rect">
            <a:avLst/>
          </a:prstGeom>
          <a:noFill/>
        </p:spPr>
        <p:txBody>
          <a:bodyPr wrap="square" lIns="45720" rIns="45720" anchor="t">
            <a:noAutofit/>
          </a:bodyPr>
          <a:lstStyle/>
          <a:p>
            <a:pPr algn="l">
              <a:spcAft>
                <a:spcPts val="200"/>
              </a:spcAft>
            </a:pPr>
            <a:r>
              <a:rPr sz="1800" b="1" i="0">
                <a:solidFill>
                  <a:srgbClr val="242425"/>
                </a:solidFill>
                <a:latin typeface="Croc"/>
              </a:rPr>
              <a:t>МОЖНО ✅</a:t>
            </a:r>
          </a:p>
          <a:p>
            <a:pPr algn="l"/>
            <a:r>
              <a:rPr sz="1500" b="0" i="0">
                <a:solidFill>
                  <a:srgbClr val="4E4E4E"/>
                </a:solidFill>
                <a:latin typeface="Croc"/>
              </a:rPr>
              <a:t>•  «Объясни, что такое f-строка»</a:t>
            </a:r>
          </a:p>
          <a:p>
            <a:pPr algn="l"/>
            <a:r>
              <a:rPr sz="1500" b="0" i="0">
                <a:solidFill>
                  <a:srgbClr val="4E4E4E"/>
                </a:solidFill>
                <a:latin typeface="Croc"/>
              </a:rPr>
              <a:t>•  «Найди ошибку в моём коде»</a:t>
            </a:r>
          </a:p>
          <a:p>
            <a:pPr algn="l"/>
            <a:r>
              <a:rPr sz="1500" b="0" i="0">
                <a:solidFill>
                  <a:srgbClr val="4E4E4E"/>
                </a:solidFill>
                <a:latin typeface="Croc"/>
              </a:rPr>
              <a:t>•  ИИ-ассистент в редакторе для подсказок</a:t>
            </a:r>
          </a:p>
          <a:p>
            <a:pPr algn="l">
              <a:spcAft>
                <a:spcPts val="1000"/>
              </a:spcAft>
            </a:pPr>
            <a:r>
              <a:rPr sz="1500" b="0" i="0">
                <a:solidFill>
                  <a:srgbClr val="4E4E4E"/>
                </a:solidFill>
                <a:latin typeface="Croc"/>
              </a:rPr>
              <a:t>•  «Что в моём коде можно улучшить?»</a:t>
            </a:r>
          </a:p>
          <a:p>
            <a:pPr algn="l">
              <a:spcAft>
                <a:spcPts val="200"/>
              </a:spcAft>
            </a:pPr>
            <a:r>
              <a:rPr sz="1800" b="1" i="0">
                <a:solidFill>
                  <a:srgbClr val="242425"/>
                </a:solidFill>
                <a:latin typeface="Croc"/>
              </a:rPr>
              <a:t>НЕЛЬЗЯ ❌</a:t>
            </a:r>
          </a:p>
          <a:p>
            <a:pPr algn="l"/>
            <a:r>
              <a:rPr sz="1500" b="0" i="0">
                <a:solidFill>
                  <a:srgbClr val="4E4E4E"/>
                </a:solidFill>
                <a:latin typeface="Croc"/>
              </a:rPr>
              <a:t>•  отдать ДЗ агенту целиком (Copilot / Cursor / Claude Code) и сдать не читая</a:t>
            </a:r>
          </a:p>
          <a:p>
            <a:pPr algn="l">
              <a:spcAft>
                <a:spcPts val="1000"/>
              </a:spcAft>
            </a:pPr>
            <a:r>
              <a:rPr sz="1500" b="0" i="0">
                <a:solidFill>
                  <a:srgbClr val="4E4E4E"/>
                </a:solidFill>
                <a:latin typeface="Croc"/>
              </a:rPr>
              <a:t>•  сдавать код, который не можете объяснить</a:t>
            </a:r>
          </a:p>
          <a:p>
            <a:pPr algn="l">
              <a:spcAft>
                <a:spcPts val="200"/>
              </a:spcAft>
            </a:pPr>
            <a:r>
              <a:rPr sz="1800" b="1" i="0">
                <a:solidFill>
                  <a:srgbClr val="242425"/>
                </a:solidFill>
                <a:latin typeface="Croc"/>
              </a:rPr>
              <a:t>ОБЯЗАТЕЛЬНО ✍️</a:t>
            </a:r>
          </a:p>
          <a:p>
            <a:pPr algn="l"/>
            <a:r>
              <a:rPr sz="1500" b="0" i="0">
                <a:solidFill>
                  <a:srgbClr val="4E4E4E"/>
                </a:solidFill>
                <a:latin typeface="Croc"/>
              </a:rPr>
              <a:t>•  в начале ДЗ одной строкой написать, где помогал ИИ</a:t>
            </a:r>
          </a:p>
        </p:txBody>
      </p:sp>
      <p:sp>
        <p:nvSpPr>
          <p:cNvPr id="8197" name="Rounded Rectangle 8196"/>
          <p:cNvSpPr/>
          <p:nvPr/>
        </p:nvSpPr>
        <p:spPr>
          <a:xfrm>
            <a:off x="228600" y="5257800"/>
            <a:ext cx="5440680" cy="1234440"/>
          </a:xfrm>
          <a:prstGeom prst="roundRect">
            <a:avLst>
              <a:gd name="adj" fmla="val 12000"/>
            </a:avLst>
          </a:prstGeom>
          <a:solidFill>
            <a:srgbClr val="F0E9FC"/>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l"/>
            <a:r>
              <a:rPr sz="1600" b="1">
                <a:solidFill>
                  <a:srgbClr val="242425"/>
                </a:solidFill>
                <a:latin typeface="Croc"/>
              </a:rPr>
              <a:t>Золотое правило: вы должны уметь объяснить любую строчку своего кода.</a:t>
            </a:r>
          </a:p>
          <a:p>
            <a:pPr algn="l"/>
            <a:r>
              <a:rPr sz="1400" b="0">
                <a:solidFill>
                  <a:srgbClr val="4E4E4E"/>
                </a:solidFill>
                <a:latin typeface="Croc"/>
              </a:rPr>
              <a:t>На зачёте я спрашиваю именно по вашему коду.</a:t>
            </a:r>
          </a:p>
        </p:txBody>
      </p:sp>
    </p:spTree>
    <p:extLst>
      <p:ext uri="{BB962C8B-B14F-4D97-AF65-F5344CB8AC3E}">
        <p14:creationId xmlns:p14="http://schemas.microsoft.com/office/powerpoint/2010/main" val="7263665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2"/>
          <p:cNvSpPr>
            <a:spLocks noGrp="1"/>
          </p:cNvSpPr>
          <p:nvPr>
            <p:ph type="title"/>
          </p:nvPr>
        </p:nvSpPr>
        <p:spPr>
          <a:xfrm>
            <a:off x="586001" y="474130"/>
            <a:ext cx="10566837" cy="498598"/>
          </a:xfrm>
        </p:spPr>
        <p:txBody>
          <a:bodyPr/>
          <a:lstStyle/>
          <a:p>
            <a:r>
              <a:rPr lang="ru-RU" b="0" dirty="0">
                <a:solidFill>
                  <a:schemeClr val="bg1"/>
                </a:solidFill>
              </a:rPr>
              <a:t>Сайд-квест: Собеседование на джуна</a:t>
            </a:r>
          </a:p>
        </p:txBody>
      </p:sp>
      <p:sp>
        <p:nvSpPr>
          <p:cNvPr id="4" name="TextBox 3"/>
          <p:cNvSpPr txBox="1"/>
          <p:nvPr/>
        </p:nvSpPr>
        <p:spPr>
          <a:xfrm>
            <a:off x="10751893" y="6409366"/>
            <a:ext cx="868101" cy="246221"/>
          </a:xfrm>
          <a:prstGeom prst="rect">
            <a:avLst/>
          </a:prstGeom>
          <a:noFill/>
        </p:spPr>
        <p:txBody>
          <a:bodyPr wrap="square" r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roc" panose="020B0502020203020203" pitchFamily="34" charset="0"/>
                <a:ea typeface="+mn-ea"/>
                <a:cs typeface="+mn-cs"/>
              </a:rPr>
              <a:t>N</a:t>
            </a:r>
            <a:endParaRPr kumimoji="0" lang="ru-RU" sz="1000" b="0" i="0" u="none" strike="noStrike" kern="1200" cap="none" spc="0" normalizeH="0" baseline="0" noProof="0" dirty="0">
              <a:ln>
                <a:noFill/>
              </a:ln>
              <a:solidFill>
                <a:prstClr val="white"/>
              </a:solidFill>
              <a:effectLst/>
              <a:uLnTx/>
              <a:uFillTx/>
              <a:latin typeface="Croc" panose="020B0502020203020203" pitchFamily="34" charset="0"/>
              <a:ea typeface="+mn-ea"/>
              <a:cs typeface="+mn-cs"/>
            </a:endParaRPr>
          </a:p>
        </p:txBody>
      </p:sp>
      <p:sp>
        <p:nvSpPr>
          <p:cNvPr id="9" name="TextBox 8">
            <a:extLst>
              <a:ext uri="{FF2B5EF4-FFF2-40B4-BE49-F238E27FC236}">
                <a16:creationId xmlns:a16="http://schemas.microsoft.com/office/drawing/2014/main" id="{D7163EE8-29C8-4994-8630-7AD79C6F9B33}"/>
              </a:ext>
            </a:extLst>
          </p:cNvPr>
          <p:cNvSpPr txBox="1"/>
          <p:nvPr/>
        </p:nvSpPr>
        <p:spPr>
          <a:xfrm>
            <a:off x="142875" y="1325880"/>
            <a:ext cx="5595452" cy="5170646"/>
          </a:xfrm>
          <a:prstGeom prst="rect">
            <a:avLst/>
          </a:prstGeom>
          <a:noFill/>
        </p:spPr>
        <p:txBody>
          <a:bodyPr wrap="square">
            <a:spAutoFit/>
          </a:bodyPr>
          <a:lstStyle/>
          <a:p>
            <a:pPr algn="l"/>
            <a:r>
              <a:rPr lang="ru-RU" sz="2000" b="0" i="0" dirty="0">
                <a:solidFill>
                  <a:srgbClr val="4E4E4E"/>
                </a:solidFill>
                <a:effectLst/>
                <a:latin typeface="-apple-system"/>
              </a:rPr>
              <a:t>В конце занятия у вас будет выбор: ходить на занятия ИЛИ..."</a:t>
            </a:r>
          </a:p>
          <a:p>
            <a:pPr algn="l"/>
            <a:r>
              <a:rPr lang="ru-RU" sz="2000" b="0" i="0" dirty="0">
                <a:solidFill>
                  <a:srgbClr val="4E4E4E"/>
                </a:solidFill>
                <a:effectLst/>
                <a:latin typeface="-apple-system"/>
              </a:rPr>
              <a:t>"...пройти со мной </a:t>
            </a:r>
            <a:r>
              <a:rPr lang="ru-RU" sz="2000" b="1" i="0" dirty="0">
                <a:solidFill>
                  <a:srgbClr val="4E4E4E"/>
                </a:solidFill>
                <a:effectLst/>
                <a:latin typeface="-apple-system"/>
              </a:rPr>
              <a:t>техническое интервью</a:t>
            </a:r>
            <a:r>
              <a:rPr lang="ru-RU" sz="2000" b="0" i="0" dirty="0">
                <a:solidFill>
                  <a:srgbClr val="4E4E4E"/>
                </a:solidFill>
                <a:effectLst/>
                <a:latin typeface="-apple-system"/>
              </a:rPr>
              <a:t> на позицию Junior Data </a:t>
            </a:r>
            <a:r>
              <a:rPr lang="ru-RU" sz="2000" b="0" i="0" dirty="0" err="1">
                <a:solidFill>
                  <a:srgbClr val="4E4E4E"/>
                </a:solidFill>
                <a:effectLst/>
                <a:latin typeface="-apple-system"/>
              </a:rPr>
              <a:t>Analyst</a:t>
            </a:r>
            <a:r>
              <a:rPr lang="ru-RU" sz="2000" b="0" i="0" dirty="0">
                <a:solidFill>
                  <a:srgbClr val="4E4E4E"/>
                </a:solidFill>
                <a:effectLst/>
                <a:latin typeface="-apple-system"/>
              </a:rPr>
              <a:t>."</a:t>
            </a:r>
          </a:p>
          <a:p>
            <a:pPr algn="l">
              <a:buFont typeface="Arial" panose="020B0604020202020204" pitchFamily="34" charset="0"/>
              <a:buChar char="•"/>
            </a:pPr>
            <a:endParaRPr lang="ru-RU" sz="2000" b="0" i="0" dirty="0">
              <a:solidFill>
                <a:srgbClr val="4E4E4E"/>
              </a:solidFill>
              <a:effectLst/>
              <a:latin typeface="-apple-system"/>
            </a:endParaRPr>
          </a:p>
          <a:p>
            <a:pPr algn="l">
              <a:buFont typeface="Arial" panose="020B0604020202020204" pitchFamily="34" charset="0"/>
              <a:buChar char="•"/>
            </a:pPr>
            <a:r>
              <a:rPr lang="ru-RU" sz="2000" b="0" i="0" dirty="0">
                <a:solidFill>
                  <a:srgbClr val="4E4E4E"/>
                </a:solidFill>
                <a:effectLst/>
                <a:latin typeface="-apple-system"/>
              </a:rPr>
              <a:t>"Что будет? Вопросы по Python</a:t>
            </a:r>
          </a:p>
          <a:p>
            <a:pPr algn="l">
              <a:buFont typeface="Arial" panose="020B0604020202020204" pitchFamily="34" charset="0"/>
              <a:buChar char="•"/>
            </a:pPr>
            <a:endParaRPr lang="ru-RU" sz="2000" b="0" i="0" dirty="0">
              <a:solidFill>
                <a:srgbClr val="4E4E4E"/>
              </a:solidFill>
              <a:effectLst/>
              <a:latin typeface="-apple-system"/>
            </a:endParaRPr>
          </a:p>
          <a:p>
            <a:pPr algn="l"/>
            <a:r>
              <a:rPr lang="ru-RU" sz="2000" b="0" i="0" dirty="0">
                <a:solidFill>
                  <a:srgbClr val="4E4E4E"/>
                </a:solidFill>
                <a:effectLst/>
                <a:latin typeface="-apple-system"/>
              </a:rPr>
              <a:t>"Прошли? Получаете 'автомат’ и приходите только для того чтобы удостовериться что я не забыл про ваш автомат. Не прошли? Спокойно идёте на зачёт."</a:t>
            </a:r>
          </a:p>
          <a:p>
            <a:pPr algn="l"/>
            <a:r>
              <a:rPr lang="ru-RU" sz="2000" b="1" i="0" dirty="0">
                <a:solidFill>
                  <a:srgbClr val="4E4E4E"/>
                </a:solidFill>
                <a:effectLst/>
                <a:latin typeface="-apple-system"/>
              </a:rPr>
              <a:t>Во 2 семестре автомата нет.</a:t>
            </a:r>
          </a:p>
          <a:p>
            <a:pPr algn="l">
              <a:buFont typeface="Arial" panose="020B0604020202020204" pitchFamily="34" charset="0"/>
              <a:buChar char="•"/>
            </a:pPr>
            <a:endParaRPr lang="ru-RU" sz="2000" b="0" i="0" dirty="0">
              <a:solidFill>
                <a:srgbClr val="4E4E4E"/>
              </a:solidFill>
              <a:effectLst/>
              <a:latin typeface="-apple-system"/>
            </a:endParaRPr>
          </a:p>
        </p:txBody>
      </p:sp>
      <p:sp>
        <p:nvSpPr>
          <p:cNvPr id="14" name="TextBox 13">
            <a:extLst>
              <a:ext uri="{FF2B5EF4-FFF2-40B4-BE49-F238E27FC236}">
                <a16:creationId xmlns:a16="http://schemas.microsoft.com/office/drawing/2014/main" id="{215C0989-6311-4F15-A5C6-B2767D9B79FC}"/>
              </a:ext>
            </a:extLst>
          </p:cNvPr>
          <p:cNvSpPr txBox="1"/>
          <p:nvPr/>
        </p:nvSpPr>
        <p:spPr>
          <a:xfrm>
            <a:off x="-1" y="221993"/>
            <a:ext cx="11812555" cy="830997"/>
          </a:xfrm>
          <a:prstGeom prst="rect">
            <a:avLst/>
          </a:prstGeom>
          <a:noFill/>
        </p:spPr>
        <p:txBody>
          <a:bodyPr wrap="square">
            <a:spAutoFit/>
          </a:bodyPr>
          <a:lstStyle/>
          <a:p>
            <a:r>
              <a:rPr lang="ru-RU" sz="4000" b="1" i="0" dirty="0">
                <a:effectLst/>
                <a:latin typeface="-apple-system"/>
              </a:rPr>
              <a:t>Сайд-квест: Собеседование на </a:t>
            </a:r>
            <a:r>
              <a:rPr lang="ru-RU" sz="4000" b="1" i="0" dirty="0" err="1">
                <a:effectLst/>
                <a:latin typeface="-apple-system"/>
              </a:rPr>
              <a:t>джуна</a:t>
            </a:r>
            <a:endParaRPr lang="ru-RU" sz="4000" dirty="0"/>
          </a:p>
        </p:txBody>
      </p:sp>
      <p:pic>
        <p:nvPicPr>
          <p:cNvPr id="9218" name="Picture 2" descr="﻿Собеседование по С++&#10;Ты забыл что создание итрие_р1г&#10;через таке_ип1дие&#10;не имеет смысла после С++14&#10;Но так сохраняется однородность с $Иагес1_р!г&#10;Собеседование по&#10;Хуйнем ОрепС\/ И обмажем нейронками,it-юмор,geek,Прикольные гаджеты. Научный, инженерный и  айтишный юмор,Nordic Gamer,Yes Chad">
            <a:extLst>
              <a:ext uri="{FF2B5EF4-FFF2-40B4-BE49-F238E27FC236}">
                <a16:creationId xmlns:a16="http://schemas.microsoft.com/office/drawing/2014/main" id="{B69D45EE-5750-454C-8B8B-B9655AA7011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876"/>
          <a:stretch/>
        </p:blipFill>
        <p:spPr bwMode="auto">
          <a:xfrm>
            <a:off x="6096000" y="1375676"/>
            <a:ext cx="5429250" cy="5008194"/>
          </a:xfrm>
          <a:prstGeom prst="rect">
            <a:avLst/>
          </a:prstGeom>
          <a:noFill/>
          <a:extLst>
            <a:ext uri="{909E8E84-426E-40DD-AFC4-6F175D3DCCD1}">
              <a14:hiddenFill xmlns:a14="http://schemas.microsoft.com/office/drawing/2010/main">
                <a:solidFill>
                  <a:srgbClr val="FFFFFF"/>
                </a:solidFill>
              </a14:hiddenFill>
            </a:ext>
          </a:extLst>
        </p:spPr>
      </p:pic>
      <p:sp>
        <p:nvSpPr>
          <p:cNvPr id="2" name="Прямоугольник 1">
            <a:extLst>
              <a:ext uri="{FF2B5EF4-FFF2-40B4-BE49-F238E27FC236}">
                <a16:creationId xmlns:a16="http://schemas.microsoft.com/office/drawing/2014/main" id="{F9240E47-F440-4AF1-9E77-F78870893A86}"/>
              </a:ext>
            </a:extLst>
          </p:cNvPr>
          <p:cNvSpPr/>
          <p:nvPr/>
        </p:nvSpPr>
        <p:spPr>
          <a:xfrm>
            <a:off x="6263233" y="6126695"/>
            <a:ext cx="258865" cy="2699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27904315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Изображение 1"/>
          <p:cNvPicPr>
            <a:picLocks noChangeAspect="1"/>
          </p:cNvPicPr>
          <p:nvPr/>
        </p:nvPicPr>
        <p:blipFill>
          <a:blip r:embed="rId3"/>
          <a:stretch>
            <a:fillRect/>
          </a:stretch>
        </p:blipFill>
        <p:spPr>
          <a:xfrm>
            <a:off x="8997807" y="3528923"/>
            <a:ext cx="3017520" cy="3126664"/>
          </a:xfrm>
          <a:prstGeom prst="rect">
            <a:avLst/>
          </a:prstGeom>
        </p:spPr>
      </p:pic>
      <p:sp>
        <p:nvSpPr>
          <p:cNvPr id="3" name="Заголовок 2"/>
          <p:cNvSpPr>
            <a:spLocks noGrp="1"/>
          </p:cNvSpPr>
          <p:nvPr>
            <p:ph type="title"/>
          </p:nvPr>
        </p:nvSpPr>
        <p:spPr>
          <a:xfrm>
            <a:off x="733485" y="484415"/>
            <a:ext cx="10566837" cy="498598"/>
          </a:xfrm>
        </p:spPr>
        <p:txBody>
          <a:bodyPr/>
          <a:lstStyle/>
          <a:p>
            <a:r>
              <a:rPr lang="ru-RU" dirty="0"/>
              <a:t>ВЗАИМОДЕЙСТВИЕ В РАМКАХ КУРСА</a:t>
            </a:r>
          </a:p>
        </p:txBody>
      </p:sp>
      <p:sp>
        <p:nvSpPr>
          <p:cNvPr id="4" name="TextBox 3"/>
          <p:cNvSpPr txBox="1"/>
          <p:nvPr/>
        </p:nvSpPr>
        <p:spPr>
          <a:xfrm>
            <a:off x="10751893" y="6409366"/>
            <a:ext cx="868101" cy="246221"/>
          </a:xfrm>
          <a:prstGeom prst="rect">
            <a:avLst/>
          </a:prstGeom>
          <a:noFill/>
        </p:spPr>
        <p:txBody>
          <a:bodyPr wrap="square" rIns="0" rtlCol="0" anchor="b">
            <a:spAutoFit/>
          </a:bodyPr>
          <a:lstStyle/>
          <a:p>
            <a:pPr algn="r"/>
            <a:r>
              <a:rPr lang="en-US" sz="1000" dirty="0">
                <a:solidFill>
                  <a:srgbClr val="242425"/>
                </a:solidFill>
                <a:latin typeface="Croc" panose="020B0502020203020203" pitchFamily="34" charset="0"/>
              </a:rPr>
              <a:t>N</a:t>
            </a:r>
            <a:endParaRPr lang="ru-RU" sz="1000" dirty="0">
              <a:solidFill>
                <a:srgbClr val="242425"/>
              </a:solidFill>
              <a:latin typeface="Croc" panose="020B0502020203020203" pitchFamily="34" charset="0"/>
            </a:endParaRPr>
          </a:p>
        </p:txBody>
      </p:sp>
      <p:sp>
        <p:nvSpPr>
          <p:cNvPr id="7" name="TextBox 6"/>
          <p:cNvSpPr txBox="1"/>
          <p:nvPr/>
        </p:nvSpPr>
        <p:spPr>
          <a:xfrm>
            <a:off x="358655" y="1145509"/>
            <a:ext cx="7441737" cy="3323987"/>
          </a:xfrm>
          <a:prstGeom prst="rect">
            <a:avLst/>
          </a:prstGeom>
          <a:noFill/>
        </p:spPr>
        <p:txBody>
          <a:bodyPr wrap="square">
            <a:spAutoFit/>
          </a:bodyPr>
          <a:lstStyle/>
          <a:p>
            <a:r>
              <a:rPr lang="ru-RU" sz="2800" b="1" dirty="0"/>
              <a:t>Курс в </a:t>
            </a:r>
            <a:r>
              <a:rPr lang="en-US" sz="2800" b="1" dirty="0"/>
              <a:t> GIT</a:t>
            </a:r>
            <a:r>
              <a:rPr lang="ru-RU" sz="2800" b="1" dirty="0"/>
              <a:t> </a:t>
            </a:r>
            <a:r>
              <a:rPr lang="en-US" sz="2800" b="1" dirty="0">
                <a:hlinkClick r:id="rId4"/>
              </a:rPr>
              <a:t>github.com/HerrEnot/MISIS_2026</a:t>
            </a:r>
            <a:endParaRPr lang="ru-RU" sz="2800" b="1" dirty="0"/>
          </a:p>
          <a:p>
            <a:endParaRPr lang="en-US" b="1" dirty="0">
              <a:solidFill>
                <a:srgbClr val="442C41"/>
              </a:solidFill>
            </a:endParaRPr>
          </a:p>
          <a:p>
            <a:r>
              <a:rPr lang="ru-RU" sz="2800" b="1" dirty="0">
                <a:solidFill>
                  <a:srgbClr val="442C41"/>
                </a:solidFill>
              </a:rPr>
              <a:t>Курс Дополнительный  </a:t>
            </a:r>
            <a:r>
              <a:rPr lang="en-US" sz="2800" b="1" dirty="0">
                <a:solidFill>
                  <a:srgbClr val="475DEC"/>
                </a:solidFill>
                <a:hlinkClick r:id="rId5"/>
              </a:rPr>
              <a:t>stepik.org/course/3356</a:t>
            </a:r>
            <a:endParaRPr lang="ru-RU" sz="2800" b="1" dirty="0">
              <a:solidFill>
                <a:srgbClr val="475DEC"/>
              </a:solidFill>
            </a:endParaRPr>
          </a:p>
          <a:p>
            <a:endParaRPr lang="en-US" sz="2000" b="1" dirty="0"/>
          </a:p>
          <a:p>
            <a:r>
              <a:rPr lang="ru-RU" sz="3200" b="1" dirty="0"/>
              <a:t>Контакты:</a:t>
            </a:r>
            <a:endParaRPr lang="ru-RU" sz="2800" b="1" i="0" dirty="0">
              <a:effectLst/>
            </a:endParaRPr>
          </a:p>
          <a:p>
            <a:r>
              <a:rPr lang="ru-RU" sz="2800" b="1" dirty="0"/>
              <a:t>Воробьев Даниил</a:t>
            </a:r>
            <a:endParaRPr lang="en-US" sz="2800" b="1" i="0" dirty="0">
              <a:effectLst/>
            </a:endParaRPr>
          </a:p>
          <a:p>
            <a:r>
              <a:rPr lang="en-US" sz="2800" b="1" i="0" dirty="0">
                <a:effectLst/>
                <a:hlinkClick r:id="rId6"/>
              </a:rPr>
              <a:t>vorobyevdaniel@gmail.com</a:t>
            </a:r>
            <a:endParaRPr lang="ru-RU" sz="2800" b="1" i="0" dirty="0">
              <a:effectLst/>
            </a:endParaRPr>
          </a:p>
          <a:p>
            <a:r>
              <a:rPr lang="en-US" sz="2800" b="1" dirty="0"/>
              <a:t>Telegram: t.me/DanielVorobyev</a:t>
            </a:r>
            <a:endParaRPr lang="ru-RU" sz="2800" b="1" dirty="0"/>
          </a:p>
        </p:txBody>
      </p:sp>
      <p:pic>
        <p:nvPicPr>
          <p:cNvPr id="6"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01969" y="6291563"/>
            <a:ext cx="1231941" cy="481826"/>
          </a:xfrm>
          <a:prstGeom prst="rect">
            <a:avLst/>
          </a:prstGeom>
          <a:noFill/>
          <a:extLst>
            <a:ext uri="{909E8E84-426E-40DD-AFC4-6F175D3DCCD1}">
              <a14:hiddenFill xmlns:a14="http://schemas.microsoft.com/office/drawing/2010/main">
                <a:solidFill>
                  <a:srgbClr val="FFFFFF"/>
                </a:solidFill>
              </a14:hiddenFill>
            </a:ext>
          </a:extLst>
        </p:spPr>
      </p:pic>
      <p:pic>
        <p:nvPicPr>
          <p:cNvPr id="8" name="Мем s33_02_so_chatgpt_docs" descr="s33_02_so_chatgpt_docs.jpg"/>
          <p:cNvPicPr>
            <a:picLocks noChangeAspect="1"/>
          </p:cNvPicPr>
          <p:nvPr/>
        </p:nvPicPr>
        <p:blipFill>
          <a:blip r:embed="rId8"/>
          <a:stretch>
            <a:fillRect/>
          </a:stretch>
        </p:blipFill>
        <p:spPr>
          <a:xfrm>
            <a:off x="8587545" y="576401"/>
            <a:ext cx="3427782" cy="2651991"/>
          </a:xfrm>
          <a:prstGeom prst="rect">
            <a:avLst/>
          </a:prstGeom>
          <a:ln w="9525">
            <a:solidFill>
              <a:srgbClr val="4E4E4E"/>
            </a:solid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28"/>
          <p:cNvSpPr/>
          <p:nvPr/>
        </p:nvSpPr>
        <p:spPr>
          <a:xfrm>
            <a:off x="0" y="1217053"/>
            <a:ext cx="12192000" cy="3947375"/>
          </a:xfrm>
          <a:prstGeom prst="rect">
            <a:avLst/>
          </a:prstGeom>
          <a:solidFill>
            <a:srgbClr val="6F26E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443" name="Google Shape;443;p28"/>
          <p:cNvSpPr txBox="1">
            <a:spLocks noGrp="1"/>
          </p:cNvSpPr>
          <p:nvPr>
            <p:ph type="title"/>
          </p:nvPr>
        </p:nvSpPr>
        <p:spPr>
          <a:xfrm>
            <a:off x="361649" y="508230"/>
            <a:ext cx="10566837" cy="498598"/>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rgbClr val="3A393C"/>
              </a:buClr>
              <a:buSzPts val="2800"/>
              <a:buFont typeface="Arial" panose="020B0604020202020204"/>
              <a:buNone/>
            </a:pPr>
            <a:r>
              <a:rPr lang="ru-RU" dirty="0"/>
              <a:t>Хорошие книги</a:t>
            </a:r>
            <a:endParaRPr dirty="0"/>
          </a:p>
        </p:txBody>
      </p:sp>
      <p:pic>
        <p:nvPicPr>
          <p:cNvPr id="444" name="Google Shape;444;p28" descr="cdn1.ozone.ru/multimedia/1002207318.jpg"/>
          <p:cNvPicPr preferRelativeResize="0"/>
          <p:nvPr/>
        </p:nvPicPr>
        <p:blipFill rotWithShape="1">
          <a:blip r:embed="rId3"/>
          <a:srcRect/>
          <a:stretch>
            <a:fillRect/>
          </a:stretch>
        </p:blipFill>
        <p:spPr>
          <a:xfrm>
            <a:off x="303635" y="1819656"/>
            <a:ext cx="1885360" cy="2743200"/>
          </a:xfrm>
          <a:prstGeom prst="rect">
            <a:avLst/>
          </a:prstGeom>
          <a:noFill/>
          <a:ln>
            <a:noFill/>
          </a:ln>
        </p:spPr>
      </p:pic>
      <p:sp>
        <p:nvSpPr>
          <p:cNvPr id="445" name="Google Shape;445;p28"/>
          <p:cNvSpPr/>
          <p:nvPr/>
        </p:nvSpPr>
        <p:spPr>
          <a:xfrm>
            <a:off x="257915" y="5303520"/>
            <a:ext cx="2103120"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ru-RU" sz="2000" b="1">
                <a:solidFill>
                  <a:schemeClr val="dk1"/>
                </a:solidFill>
                <a:latin typeface="Arial" panose="020B0604020202020204"/>
                <a:ea typeface="Arial" panose="020B0604020202020204"/>
                <a:cs typeface="Arial" panose="020B0604020202020204"/>
                <a:sym typeface="Arial" panose="020B0604020202020204"/>
              </a:rPr>
              <a:t>Изучаем Python</a:t>
            </a:r>
          </a:p>
          <a:p>
            <a:pPr marL="0" marR="0" lvl="0" indent="0" algn="l" rtl="0">
              <a:spcBef>
                <a:spcPts val="0"/>
              </a:spcBef>
              <a:spcAft>
                <a:spcPts val="0"/>
              </a:spcAft>
              <a:buNone/>
            </a:pPr>
            <a:r>
              <a:rPr lang="ru-RU" sz="2000" b="1">
                <a:solidFill>
                  <a:schemeClr val="dk1"/>
                </a:solidFill>
                <a:latin typeface="Arial" panose="020B0604020202020204"/>
                <a:ea typeface="Arial" panose="020B0604020202020204"/>
                <a:cs typeface="Arial" panose="020B0604020202020204"/>
                <a:sym typeface="Arial" panose="020B0604020202020204"/>
              </a:rPr>
              <a:t>Марк Лутц</a:t>
            </a:r>
          </a:p>
          <a:p>
            <a:pPr marL="0" marR="0" lvl="0" indent="0" algn="l" rtl="0">
              <a:spcBef>
                <a:spcPts val="0"/>
              </a:spcBef>
              <a:spcAft>
                <a:spcPts val="0"/>
              </a:spcAft>
              <a:buNone/>
            </a:pPr>
            <a:r>
              <a:rPr lang="ru-RU" sz="1100" b="0">
                <a:solidFill>
                  <a:schemeClr val="dk1"/>
                </a:solidFill>
                <a:latin typeface="Arial" panose="020B0604020202020204"/>
                <a:ea typeface="Arial" panose="020B0604020202020204"/>
                <a:cs typeface="Arial" panose="020B0604020202020204"/>
                <a:sym typeface="Arial" panose="020B0604020202020204"/>
              </a:rPr>
              <a:t>(6-е изд. 2025 — англ.; на рус. — 5-е)</a:t>
            </a:r>
          </a:p>
        </p:txBody>
      </p:sp>
      <p:pic>
        <p:nvPicPr>
          <p:cNvPr id="446" name="Google Shape;446;p28" descr="Высоконагруженные приложения. Программирование, масштабирование, поддержка  ПИТЕР 5667242 купить за 2364 ₽ в интернет-магазине Wildberries"/>
          <p:cNvPicPr preferRelativeResize="0"/>
          <p:nvPr/>
        </p:nvPicPr>
        <p:blipFill rotWithShape="1">
          <a:blip r:embed="rId4"/>
          <a:srcRect/>
          <a:stretch>
            <a:fillRect/>
          </a:stretch>
        </p:blipFill>
        <p:spPr>
          <a:xfrm>
            <a:off x="2492631" y="1819656"/>
            <a:ext cx="2337008" cy="2743200"/>
          </a:xfrm>
          <a:prstGeom prst="rect">
            <a:avLst/>
          </a:prstGeom>
          <a:noFill/>
          <a:ln>
            <a:noFill/>
          </a:ln>
        </p:spPr>
      </p:pic>
      <p:sp>
        <p:nvSpPr>
          <p:cNvPr id="447" name="Google Shape;447;p28"/>
          <p:cNvSpPr/>
          <p:nvPr/>
        </p:nvSpPr>
        <p:spPr>
          <a:xfrm>
            <a:off x="2446911" y="5303520"/>
            <a:ext cx="2428448"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ru-RU" sz="2000" b="1">
                <a:solidFill>
                  <a:schemeClr val="dk1"/>
                </a:solidFill>
                <a:latin typeface="Arial" panose="020B0604020202020204"/>
                <a:ea typeface="Arial" panose="020B0604020202020204"/>
                <a:cs typeface="Arial" panose="020B0604020202020204"/>
                <a:sym typeface="Arial" panose="020B0604020202020204"/>
              </a:rPr>
              <a:t>Высоконагруженные приложения</a:t>
            </a:r>
          </a:p>
          <a:p>
            <a:pPr marL="0" marR="0" lvl="0" indent="0" algn="l" rtl="0">
              <a:spcBef>
                <a:spcPts val="0"/>
              </a:spcBef>
              <a:spcAft>
                <a:spcPts val="0"/>
              </a:spcAft>
              <a:buNone/>
            </a:pPr>
            <a:r>
              <a:rPr lang="ru-RU" sz="2000" b="1">
                <a:solidFill>
                  <a:schemeClr val="dk1"/>
                </a:solidFill>
                <a:latin typeface="Arial" panose="020B0604020202020204"/>
                <a:ea typeface="Arial" panose="020B0604020202020204"/>
                <a:cs typeface="Arial" panose="020B0604020202020204"/>
                <a:sym typeface="Arial" panose="020B0604020202020204"/>
              </a:rPr>
              <a:t>Мартин Клеппман</a:t>
            </a:r>
          </a:p>
          <a:p>
            <a:pPr marL="0" marR="0" lvl="0" indent="0" algn="l" rtl="0">
              <a:spcBef>
                <a:spcPts val="0"/>
              </a:spcBef>
              <a:spcAft>
                <a:spcPts val="0"/>
              </a:spcAft>
              <a:buNone/>
            </a:pPr>
            <a:r>
              <a:rPr lang="ru-RU" sz="1100" b="0">
                <a:solidFill>
                  <a:schemeClr val="dk1"/>
                </a:solidFill>
                <a:latin typeface="Arial" panose="020B0604020202020204"/>
                <a:ea typeface="Arial" panose="020B0604020202020204"/>
                <a:cs typeface="Arial" panose="020B0604020202020204"/>
                <a:sym typeface="Arial" panose="020B0604020202020204"/>
              </a:rPr>
              <a:t>(2-е изд., Питер)</a:t>
            </a:r>
          </a:p>
        </p:txBody>
      </p:sp>
      <p:pic>
        <p:nvPicPr>
          <p:cNvPr id="448" name="Google Shape;448;p28" descr="Отчаянные аккаунт-менеджеры. Как работать с клиентами без стресса и  проблем. Настольная книга аккаунт-менеджера, менеджера проектов и  фрилансера (Шпирт Б.) - купить книгу с доставкой в интернет-магазине  «Читай-город». ISBN: 978-5-9614-6875-5"/>
          <p:cNvPicPr preferRelativeResize="0"/>
          <p:nvPr/>
        </p:nvPicPr>
        <p:blipFill rotWithShape="1">
          <a:blip r:embed="rId5"/>
          <a:srcRect/>
          <a:stretch>
            <a:fillRect/>
          </a:stretch>
        </p:blipFill>
        <p:spPr>
          <a:xfrm>
            <a:off x="5133276" y="1819656"/>
            <a:ext cx="1909857" cy="2743200"/>
          </a:xfrm>
          <a:prstGeom prst="rect">
            <a:avLst/>
          </a:prstGeom>
          <a:noFill/>
          <a:ln>
            <a:noFill/>
          </a:ln>
        </p:spPr>
      </p:pic>
      <p:sp>
        <p:nvSpPr>
          <p:cNvPr id="449" name="Google Shape;449;p28"/>
          <p:cNvSpPr/>
          <p:nvPr/>
        </p:nvSpPr>
        <p:spPr>
          <a:xfrm>
            <a:off x="5087556" y="5303520"/>
            <a:ext cx="2103120"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ru-RU" sz="2000" b="1">
                <a:solidFill>
                  <a:schemeClr val="dk1"/>
                </a:solidFill>
                <a:latin typeface="Arial" panose="020B0604020202020204"/>
                <a:ea typeface="Arial" panose="020B0604020202020204"/>
                <a:cs typeface="Arial" panose="020B0604020202020204"/>
                <a:sym typeface="Arial" panose="020B0604020202020204"/>
              </a:rPr>
              <a:t>Отчаянные аккаунт-менеджеры</a:t>
            </a:r>
          </a:p>
          <a:p>
            <a:pPr marL="0" marR="0" lvl="0" indent="0" algn="l" rtl="0">
              <a:spcBef>
                <a:spcPts val="0"/>
              </a:spcBef>
              <a:spcAft>
                <a:spcPts val="0"/>
              </a:spcAft>
              <a:buNone/>
            </a:pPr>
            <a:r>
              <a:rPr lang="ru-RU" sz="2000" b="1">
                <a:solidFill>
                  <a:schemeClr val="dk1"/>
                </a:solidFill>
                <a:latin typeface="Arial" panose="020B0604020202020204"/>
                <a:ea typeface="Arial" panose="020B0604020202020204"/>
                <a:cs typeface="Arial" panose="020B0604020202020204"/>
                <a:sym typeface="Arial" panose="020B0604020202020204"/>
              </a:rPr>
              <a:t>Борис Шпирт</a:t>
            </a:r>
            <a:endParaRPr sz="2000" b="1">
              <a:solidFill>
                <a:schemeClr val="dk1"/>
              </a:solidFill>
              <a:latin typeface="Arial" panose="020B0604020202020204"/>
              <a:ea typeface="Arial" panose="020B0604020202020204"/>
              <a:cs typeface="Arial" panose="020B0604020202020204"/>
              <a:sym typeface="Arial" panose="020B0604020202020204"/>
            </a:endParaRPr>
          </a:p>
        </p:txBody>
      </p:sp>
      <p:pic>
        <p:nvPicPr>
          <p:cNvPr id="450" name="Google Shape;450;p28" descr="Книга Data Science. Инсайдерская информация для новичков"/>
          <p:cNvPicPr preferRelativeResize="0"/>
          <p:nvPr/>
        </p:nvPicPr>
        <p:blipFill rotWithShape="1">
          <a:blip r:embed="rId6"/>
          <a:srcRect/>
          <a:stretch>
            <a:fillRect/>
          </a:stretch>
        </p:blipFill>
        <p:spPr>
          <a:xfrm>
            <a:off x="7346769" y="1819656"/>
            <a:ext cx="2180253" cy="2743200"/>
          </a:xfrm>
          <a:prstGeom prst="rect">
            <a:avLst/>
          </a:prstGeom>
          <a:noFill/>
          <a:ln>
            <a:noFill/>
          </a:ln>
        </p:spPr>
      </p:pic>
      <p:sp>
        <p:nvSpPr>
          <p:cNvPr id="451" name="Google Shape;451;p28"/>
          <p:cNvSpPr/>
          <p:nvPr/>
        </p:nvSpPr>
        <p:spPr>
          <a:xfrm>
            <a:off x="7301049" y="5303520"/>
            <a:ext cx="2271693" cy="16312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ru-RU" sz="2000" b="1">
                <a:solidFill>
                  <a:schemeClr val="dk1"/>
                </a:solidFill>
                <a:latin typeface="Arial" panose="020B0604020202020204"/>
                <a:ea typeface="Arial" panose="020B0604020202020204"/>
                <a:cs typeface="Arial" panose="020B0604020202020204"/>
                <a:sym typeface="Arial" panose="020B0604020202020204"/>
              </a:rPr>
              <a:t>Data Science. </a:t>
            </a:r>
            <a:endParaRPr sz="20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ru-RU" sz="2000" b="1">
                <a:solidFill>
                  <a:schemeClr val="dk1"/>
                </a:solidFill>
                <a:latin typeface="Arial" panose="020B0604020202020204"/>
                <a:ea typeface="Arial" panose="020B0604020202020204"/>
                <a:cs typeface="Arial" panose="020B0604020202020204"/>
                <a:sym typeface="Arial" panose="020B0604020202020204"/>
              </a:rPr>
              <a:t>Кэти О’Нил, Рэйчел Шатт</a:t>
            </a:r>
            <a:endParaRPr sz="2000" b="1">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br>
              <a:rPr lang="ru-RU" sz="2000" b="1">
                <a:solidFill>
                  <a:schemeClr val="dk1"/>
                </a:solidFill>
                <a:latin typeface="Arial" panose="020B0604020202020204"/>
                <a:ea typeface="Arial" panose="020B0604020202020204"/>
                <a:cs typeface="Arial" panose="020B0604020202020204"/>
                <a:sym typeface="Arial" panose="020B0604020202020204"/>
              </a:rPr>
            </a:br>
            <a:endParaRPr sz="2000" b="1">
              <a:solidFill>
                <a:schemeClr val="dk1"/>
              </a:solidFill>
              <a:latin typeface="Arial" panose="020B0604020202020204"/>
              <a:ea typeface="Arial" panose="020B0604020202020204"/>
              <a:cs typeface="Arial" panose="020B0604020202020204"/>
              <a:sym typeface="Arial" panose="020B0604020202020204"/>
            </a:endParaRPr>
          </a:p>
        </p:txBody>
      </p:sp>
      <p:pic>
        <p:nvPicPr>
          <p:cNvPr id="452" name="Picture 451" descr="mckinney_cover.jpg"/>
          <p:cNvPicPr>
            <a:picLocks noChangeAspect="1"/>
          </p:cNvPicPr>
          <p:nvPr/>
        </p:nvPicPr>
        <p:blipFill>
          <a:blip r:embed="rId7"/>
          <a:stretch>
            <a:fillRect/>
          </a:stretch>
        </p:blipFill>
        <p:spPr>
          <a:xfrm>
            <a:off x="9830659" y="1819656"/>
            <a:ext cx="2057400" cy="2743200"/>
          </a:xfrm>
          <a:prstGeom prst="rect">
            <a:avLst/>
          </a:prstGeom>
        </p:spPr>
      </p:pic>
      <p:sp>
        <p:nvSpPr>
          <p:cNvPr id="453" name="Google Shape;445;p28"/>
          <p:cNvSpPr/>
          <p:nvPr/>
        </p:nvSpPr>
        <p:spPr>
          <a:xfrm>
            <a:off x="9784939" y="5303520"/>
            <a:ext cx="2148840"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ru-RU" sz="2000" b="1">
                <a:solidFill>
                  <a:schemeClr val="dk1"/>
                </a:solidFill>
                <a:latin typeface="Arial" panose="020B0604020202020204"/>
                <a:ea typeface="Arial" panose="020B0604020202020204"/>
                <a:cs typeface="Arial" panose="020B0604020202020204"/>
                <a:sym typeface="Arial" panose="020B0604020202020204"/>
              </a:rPr>
              <a:t>Python и анализ данных</a:t>
            </a:r>
          </a:p>
          <a:p>
            <a:pPr marL="0" marR="0" lvl="0" indent="0" algn="l" rtl="0">
              <a:spcBef>
                <a:spcPts val="0"/>
              </a:spcBef>
              <a:spcAft>
                <a:spcPts val="0"/>
              </a:spcAft>
              <a:buNone/>
            </a:pPr>
            <a:r>
              <a:rPr lang="ru-RU" sz="2000" b="1">
                <a:solidFill>
                  <a:schemeClr val="dk1"/>
                </a:solidFill>
                <a:latin typeface="Arial" panose="020B0604020202020204"/>
                <a:ea typeface="Arial" panose="020B0604020202020204"/>
                <a:cs typeface="Arial" panose="020B0604020202020204"/>
                <a:sym typeface="Arial" panose="020B0604020202020204"/>
              </a:rPr>
              <a:t>Уэс Маккинни</a:t>
            </a:r>
          </a:p>
          <a:p>
            <a:pPr marL="0" marR="0" lvl="0" indent="0" algn="l" rtl="0">
              <a:spcBef>
                <a:spcPts val="0"/>
              </a:spcBef>
              <a:spcAft>
                <a:spcPts val="0"/>
              </a:spcAft>
              <a:buNone/>
            </a:pPr>
            <a:r>
              <a:rPr lang="ru-RU" sz="1100" b="0">
                <a:solidFill>
                  <a:schemeClr val="dk1"/>
                </a:solidFill>
                <a:latin typeface="Arial" panose="020B0604020202020204"/>
                <a:ea typeface="Arial" panose="020B0604020202020204"/>
                <a:cs typeface="Arial" panose="020B0604020202020204"/>
                <a:sym typeface="Arial" panose="020B0604020202020204"/>
              </a:rPr>
              <a:t>(3-е изд., ДМК Пресс, 2023)</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242425"/>
        </a:solidFill>
        <a:effectLst/>
      </p:bgPr>
    </p:bg>
    <p:spTree>
      <p:nvGrpSpPr>
        <p:cNvPr id="1" name=""/>
        <p:cNvGrpSpPr/>
        <p:nvPr/>
      </p:nvGrpSpPr>
      <p:grpSpPr>
        <a:xfrm>
          <a:off x="0" y="0"/>
          <a:ext cx="0" cy="0"/>
          <a:chOff x="0" y="0"/>
          <a:chExt cx="0" cy="0"/>
        </a:xfrm>
      </p:grpSpPr>
      <p:sp>
        <p:nvSpPr>
          <p:cNvPr id="19" name="TextBox 18"/>
          <p:cNvSpPr txBox="1"/>
          <p:nvPr/>
        </p:nvSpPr>
        <p:spPr>
          <a:xfrm>
            <a:off x="521069" y="3935482"/>
            <a:ext cx="8499475" cy="2086725"/>
          </a:xfrm>
          <a:prstGeom prst="rect">
            <a:avLst/>
          </a:prstGeom>
          <a:noFill/>
        </p:spPr>
        <p:txBody>
          <a:bodyPr wrap="square" lIns="0" rtlCol="0">
            <a:spAutoFit/>
          </a:bodyPr>
          <a:lstStyle/>
          <a:p>
            <a:pPr>
              <a:lnSpc>
                <a:spcPct val="90000"/>
              </a:lnSpc>
            </a:pPr>
            <a:r>
              <a:rPr lang="en-US" sz="4800" dirty="0">
                <a:solidFill>
                  <a:schemeClr val="bg1"/>
                </a:solidFill>
                <a:latin typeface="Croc" panose="020B0502020203020203" pitchFamily="34" charset="0"/>
              </a:rPr>
              <a:t>PART </a:t>
            </a:r>
            <a:r>
              <a:rPr lang="ru-RU" sz="4800" dirty="0">
                <a:solidFill>
                  <a:schemeClr val="bg1"/>
                </a:solidFill>
                <a:latin typeface="Croc" panose="020B0502020203020203" pitchFamily="34" charset="0"/>
              </a:rPr>
              <a:t>6 </a:t>
            </a:r>
          </a:p>
          <a:p>
            <a:pPr>
              <a:lnSpc>
                <a:spcPct val="90000"/>
              </a:lnSpc>
            </a:pPr>
            <a:r>
              <a:rPr lang="ru-RU" sz="4800" dirty="0">
                <a:solidFill>
                  <a:schemeClr val="bg1"/>
                </a:solidFill>
                <a:latin typeface="Croc" panose="020B0502020203020203" pitchFamily="34" charset="0"/>
              </a:rPr>
              <a:t>Инструменты</a:t>
            </a:r>
            <a:r>
              <a:rPr lang="en-US" sz="4800" dirty="0">
                <a:solidFill>
                  <a:schemeClr val="bg1"/>
                </a:solidFill>
                <a:latin typeface="Croc" panose="020B0502020203020203" pitchFamily="34" charset="0"/>
              </a:rPr>
              <a:t> </a:t>
            </a:r>
          </a:p>
          <a:p>
            <a:pPr>
              <a:lnSpc>
                <a:spcPct val="90000"/>
              </a:lnSpc>
            </a:pPr>
            <a:endParaRPr lang="ru-RU" sz="4800" dirty="0">
              <a:solidFill>
                <a:schemeClr val="bg1"/>
              </a:solidFill>
              <a:latin typeface="Croc" panose="020B0502020203020203" pitchFamily="34" charset="0"/>
            </a:endParaRPr>
          </a:p>
        </p:txBody>
      </p:sp>
      <p:pic>
        <p:nvPicPr>
          <p:cNvPr id="20" name="Мем nb_env_01_xkcd1987_python_env" descr="nb_env_01_xkcd1987_python_env.png"/>
          <p:cNvPicPr>
            <a:picLocks noChangeAspect="1"/>
          </p:cNvPicPr>
          <p:nvPr/>
        </p:nvPicPr>
        <p:blipFill>
          <a:blip r:embed="rId3"/>
          <a:stretch>
            <a:fillRect/>
          </a:stretch>
        </p:blipFill>
        <p:spPr>
          <a:xfrm>
            <a:off x="5484646" y="525142"/>
            <a:ext cx="5861378" cy="580771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242425"/>
        </a:solidFill>
        <a:effectLst/>
      </p:bgPr>
    </p:bg>
    <p:spTree>
      <p:nvGrpSpPr>
        <p:cNvPr id="1" name=""/>
        <p:cNvGrpSpPr/>
        <p:nvPr/>
      </p:nvGrpSpPr>
      <p:grpSpPr>
        <a:xfrm>
          <a:off x="0" y="0"/>
          <a:ext cx="0" cy="0"/>
          <a:chOff x="0" y="0"/>
          <a:chExt cx="0" cy="0"/>
        </a:xfrm>
      </p:grpSpPr>
      <p:pic>
        <p:nvPicPr>
          <p:cNvPr id="97" name="Рисунок 9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48893" y="854274"/>
            <a:ext cx="3943107" cy="3883363"/>
          </a:xfrm>
          <a:prstGeom prst="rect">
            <a:avLst/>
          </a:prstGeom>
        </p:spPr>
      </p:pic>
      <p:sp>
        <p:nvSpPr>
          <p:cNvPr id="82" name="Рисунок 5"/>
          <p:cNvSpPr>
            <a:spLocks noChangeAspect="1"/>
          </p:cNvSpPr>
          <p:nvPr/>
        </p:nvSpPr>
        <p:spPr>
          <a:xfrm>
            <a:off x="4422296" y="4583870"/>
            <a:ext cx="1785247" cy="1800000"/>
          </a:xfrm>
          <a:custGeom>
            <a:avLst/>
            <a:gdLst>
              <a:gd name="connsiteX0" fmla="*/ 96202 w 184784"/>
              <a:gd name="connsiteY0" fmla="*/ 0 h 186311"/>
              <a:gd name="connsiteX1" fmla="*/ 0 w 184784"/>
              <a:gd name="connsiteY1" fmla="*/ 89846 h 186311"/>
              <a:gd name="connsiteX2" fmla="*/ 96202 w 184784"/>
              <a:gd name="connsiteY2" fmla="*/ 186312 h 186311"/>
              <a:gd name="connsiteX3" fmla="*/ 184785 w 184784"/>
              <a:gd name="connsiteY3" fmla="*/ 89846 h 186311"/>
              <a:gd name="connsiteX4" fmla="*/ 96202 w 184784"/>
              <a:gd name="connsiteY4" fmla="*/ 0 h 186311"/>
              <a:gd name="connsiteX5" fmla="*/ 91440 w 184784"/>
              <a:gd name="connsiteY5" fmla="*/ 123893 h 186311"/>
              <a:gd name="connsiteX6" fmla="*/ 60007 w 184784"/>
              <a:gd name="connsiteY6" fmla="*/ 92683 h 186311"/>
              <a:gd name="connsiteX7" fmla="*/ 91440 w 184784"/>
              <a:gd name="connsiteY7" fmla="*/ 61473 h 186311"/>
              <a:gd name="connsiteX8" fmla="*/ 122872 w 184784"/>
              <a:gd name="connsiteY8" fmla="*/ 92683 h 186311"/>
              <a:gd name="connsiteX9" fmla="*/ 91440 w 184784"/>
              <a:gd name="connsiteY9" fmla="*/ 123893 h 186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4784" h="186311">
                <a:moveTo>
                  <a:pt x="96202" y="0"/>
                </a:moveTo>
                <a:cubicBezTo>
                  <a:pt x="43815" y="0"/>
                  <a:pt x="0" y="34993"/>
                  <a:pt x="0" y="89846"/>
                </a:cubicBezTo>
                <a:cubicBezTo>
                  <a:pt x="0" y="151319"/>
                  <a:pt x="43815" y="186312"/>
                  <a:pt x="96202" y="186312"/>
                </a:cubicBezTo>
                <a:cubicBezTo>
                  <a:pt x="140017" y="186312"/>
                  <a:pt x="184785" y="151319"/>
                  <a:pt x="184785" y="89846"/>
                </a:cubicBezTo>
                <a:cubicBezTo>
                  <a:pt x="184785" y="34047"/>
                  <a:pt x="140017" y="0"/>
                  <a:pt x="96202" y="0"/>
                </a:cubicBezTo>
                <a:close/>
                <a:moveTo>
                  <a:pt x="91440" y="123893"/>
                </a:moveTo>
                <a:cubicBezTo>
                  <a:pt x="74295" y="123893"/>
                  <a:pt x="60007" y="109706"/>
                  <a:pt x="60007" y="92683"/>
                </a:cubicBezTo>
                <a:cubicBezTo>
                  <a:pt x="60007" y="75660"/>
                  <a:pt x="74295" y="61473"/>
                  <a:pt x="91440" y="61473"/>
                </a:cubicBezTo>
                <a:cubicBezTo>
                  <a:pt x="108585" y="61473"/>
                  <a:pt x="122872" y="75660"/>
                  <a:pt x="122872" y="92683"/>
                </a:cubicBezTo>
                <a:cubicBezTo>
                  <a:pt x="123825" y="109706"/>
                  <a:pt x="109538" y="123893"/>
                  <a:pt x="91440" y="123893"/>
                </a:cubicBezTo>
                <a:close/>
              </a:path>
            </a:pathLst>
          </a:custGeom>
          <a:solidFill>
            <a:srgbClr val="6F26E2"/>
          </a:solidFill>
          <a:ln w="9525" cap="flat">
            <a:noFill/>
            <a:prstDash val="solid"/>
            <a:miter/>
          </a:ln>
        </p:spPr>
        <p:txBody>
          <a:bodyPr rtlCol="0" anchor="ctr"/>
          <a:lstStyle/>
          <a:p>
            <a:endParaRPr lang="ru-RU"/>
          </a:p>
        </p:txBody>
      </p:sp>
      <p:sp>
        <p:nvSpPr>
          <p:cNvPr id="6" name="Заголовок 5"/>
          <p:cNvSpPr>
            <a:spLocks noGrp="1"/>
          </p:cNvSpPr>
          <p:nvPr>
            <p:ph type="title"/>
          </p:nvPr>
        </p:nvSpPr>
        <p:spPr>
          <a:xfrm>
            <a:off x="2183154" y="854274"/>
            <a:ext cx="10566837" cy="609398"/>
          </a:xfrm>
        </p:spPr>
        <p:txBody>
          <a:bodyPr/>
          <a:lstStyle/>
          <a:p>
            <a:r>
              <a:rPr lang="en-US" sz="4400" dirty="0">
                <a:solidFill>
                  <a:schemeClr val="bg1"/>
                </a:solidFill>
              </a:rPr>
              <a:t>CALL TO ACTION</a:t>
            </a:r>
            <a:endParaRPr lang="ru-RU" sz="4400" dirty="0">
              <a:solidFill>
                <a:schemeClr val="bg1"/>
              </a:solidFill>
            </a:endParaRPr>
          </a:p>
        </p:txBody>
      </p:sp>
      <p:sp>
        <p:nvSpPr>
          <p:cNvPr id="11" name="TextBox 10"/>
          <p:cNvSpPr txBox="1"/>
          <p:nvPr/>
        </p:nvSpPr>
        <p:spPr>
          <a:xfrm>
            <a:off x="1143248" y="1804914"/>
            <a:ext cx="7105645" cy="4524315"/>
          </a:xfrm>
          <a:prstGeom prst="rect">
            <a:avLst/>
          </a:prstGeom>
          <a:noFill/>
        </p:spPr>
        <p:txBody>
          <a:bodyPr wrap="square" lIns="0" rtlCol="0">
            <a:spAutoFit/>
          </a:bodyPr>
          <a:lstStyle/>
          <a:p>
            <a:pPr>
              <a:lnSpc>
                <a:spcPct val="90000"/>
              </a:lnSpc>
            </a:pPr>
            <a:r>
              <a:rPr lang="ru-RU" sz="3200" dirty="0">
                <a:solidFill>
                  <a:schemeClr val="bg1"/>
                </a:solidFill>
                <a:latin typeface="Croc" panose="020B0502020203020203" pitchFamily="34" charset="0"/>
              </a:rPr>
              <a:t>Давайте посмотрим на работу с </a:t>
            </a:r>
            <a:r>
              <a:rPr lang="en-US" sz="3200" dirty="0">
                <a:solidFill>
                  <a:schemeClr val="bg1"/>
                </a:solidFill>
                <a:latin typeface="Croc" panose="020B0502020203020203" pitchFamily="34" charset="0"/>
              </a:rPr>
              <a:t>Python </a:t>
            </a:r>
            <a:r>
              <a:rPr lang="ru-RU" sz="3200" dirty="0">
                <a:solidFill>
                  <a:schemeClr val="bg1"/>
                </a:solidFill>
                <a:latin typeface="Croc" panose="020B0502020203020203" pitchFamily="34" charset="0"/>
              </a:rPr>
              <a:t>и различные инструменты</a:t>
            </a:r>
          </a:p>
          <a:p>
            <a:pPr>
              <a:lnSpc>
                <a:spcPct val="90000"/>
              </a:lnSpc>
            </a:pPr>
            <a:endParaRPr lang="ru-RU" sz="3200" dirty="0">
              <a:solidFill>
                <a:schemeClr val="bg1"/>
              </a:solidFill>
              <a:latin typeface="Croc" panose="020B0502020203020203" pitchFamily="34" charset="0"/>
            </a:endParaRPr>
          </a:p>
          <a:p>
            <a:pPr marL="457200" indent="-457200">
              <a:lnSpc>
                <a:spcPct val="90000"/>
              </a:lnSpc>
              <a:buFont typeface="Arial" panose="020B0604020202020204" pitchFamily="34" charset="0"/>
              <a:buChar char="•"/>
            </a:pPr>
            <a:r>
              <a:rPr lang="en-US" sz="3200" dirty="0">
                <a:solidFill>
                  <a:schemeClr val="bg1"/>
                </a:solidFill>
                <a:latin typeface="Croc" panose="020B0502020203020203" pitchFamily="34" charset="0"/>
              </a:rPr>
              <a:t>Terminal</a:t>
            </a:r>
            <a:endParaRPr lang="ru-RU" sz="3200" dirty="0">
              <a:solidFill>
                <a:schemeClr val="bg1"/>
              </a:solidFill>
              <a:latin typeface="Croc" panose="020B0502020203020203" pitchFamily="34" charset="0"/>
            </a:endParaRPr>
          </a:p>
          <a:p>
            <a:pPr marL="457200" indent="-457200">
              <a:lnSpc>
                <a:spcPct val="90000"/>
              </a:lnSpc>
              <a:buFont typeface="Arial" panose="020B0604020202020204" pitchFamily="34" charset="0"/>
              <a:buChar char="•"/>
            </a:pPr>
            <a:r>
              <a:rPr lang="en-US" sz="3200" dirty="0">
                <a:solidFill>
                  <a:schemeClr val="bg1"/>
                </a:solidFill>
                <a:latin typeface="Croc" panose="020B0502020203020203" pitchFamily="34" charset="0"/>
              </a:rPr>
              <a:t>Anaconda</a:t>
            </a:r>
            <a:endParaRPr lang="ru-RU" sz="3200" dirty="0">
              <a:solidFill>
                <a:schemeClr val="bg1"/>
              </a:solidFill>
              <a:latin typeface="Croc" panose="020B0502020203020203" pitchFamily="34" charset="0"/>
            </a:endParaRPr>
          </a:p>
          <a:p>
            <a:pPr marL="457200" indent="-457200">
              <a:lnSpc>
                <a:spcPct val="90000"/>
              </a:lnSpc>
              <a:buFont typeface="Arial" panose="020B0604020202020204" pitchFamily="34" charset="0"/>
              <a:buChar char="•"/>
            </a:pPr>
            <a:r>
              <a:rPr lang="en-US" sz="3200" dirty="0">
                <a:solidFill>
                  <a:schemeClr val="bg1"/>
                </a:solidFill>
                <a:latin typeface="Croc" panose="020B0502020203020203" pitchFamily="34" charset="0"/>
              </a:rPr>
              <a:t>WSL</a:t>
            </a:r>
          </a:p>
          <a:p>
            <a:pPr marL="457200" indent="-457200">
              <a:lnSpc>
                <a:spcPct val="90000"/>
              </a:lnSpc>
              <a:buFont typeface="Arial" panose="020B0604020202020204" pitchFamily="34" charset="0"/>
              <a:buChar char="•"/>
            </a:pPr>
            <a:r>
              <a:rPr lang="en-US" sz="3200" dirty="0">
                <a:solidFill>
                  <a:schemeClr val="bg1"/>
                </a:solidFill>
                <a:latin typeface="Croc" panose="020B0502020203020203" pitchFamily="34" charset="0"/>
              </a:rPr>
              <a:t>bash</a:t>
            </a:r>
          </a:p>
          <a:p>
            <a:pPr marL="457200" indent="-457200">
              <a:lnSpc>
                <a:spcPct val="90000"/>
              </a:lnSpc>
              <a:buFont typeface="Arial" panose="020B0604020202020204" pitchFamily="34" charset="0"/>
              <a:buChar char="•"/>
            </a:pPr>
            <a:r>
              <a:rPr lang="en-US" sz="3200" dirty="0">
                <a:solidFill>
                  <a:schemeClr val="bg1"/>
                </a:solidFill>
                <a:latin typeface="Croc" panose="020B0502020203020203" pitchFamily="34" charset="0"/>
              </a:rPr>
              <a:t>Sublime</a:t>
            </a:r>
          </a:p>
          <a:p>
            <a:pPr marL="457200" indent="-457200">
              <a:lnSpc>
                <a:spcPct val="90000"/>
              </a:lnSpc>
              <a:buFont typeface="Arial" panose="020B0604020202020204" pitchFamily="34" charset="0"/>
              <a:buChar char="•"/>
            </a:pPr>
            <a:r>
              <a:rPr lang="en-US" sz="3200" dirty="0" err="1">
                <a:solidFill>
                  <a:schemeClr val="bg1"/>
                </a:solidFill>
                <a:latin typeface="Croc" panose="020B0502020203020203" pitchFamily="34" charset="0"/>
              </a:rPr>
              <a:t>Jupyter</a:t>
            </a:r>
            <a:endParaRPr lang="ru-RU" sz="3200" dirty="0">
              <a:solidFill>
                <a:schemeClr val="bg1"/>
              </a:solidFill>
              <a:latin typeface="Croc" panose="020B0502020203020203" pitchFamily="34" charset="0"/>
            </a:endParaRPr>
          </a:p>
          <a:p>
            <a:pPr>
              <a:lnSpc>
                <a:spcPct val="90000"/>
              </a:lnSpc>
            </a:pPr>
            <a:endParaRPr lang="ru-RU" sz="3200" dirty="0">
              <a:solidFill>
                <a:schemeClr val="bg1"/>
              </a:solidFill>
              <a:latin typeface="Croc" panose="020B0502020203020203" pitchFamily="34" charset="0"/>
            </a:endParaRPr>
          </a:p>
        </p:txBody>
      </p:sp>
      <p:pic>
        <p:nvPicPr>
          <p:cNvPr id="98" name="Рисунок 14">
            <a:extLst>
              <a:ext uri="{FF2B5EF4-FFF2-40B4-BE49-F238E27FC236}">
                <a16:creationId xmlns:a16="http://schemas.microsoft.com/office/drawing/2014/main" id="{1E3B10B8-4628-40D7-A280-164F73D8F8FF}"/>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566160" y="3200400"/>
            <a:ext cx="4267746" cy="160117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242425"/>
        </a:solidFill>
        <a:effectLst/>
      </p:bgPr>
    </p:bg>
    <p:spTree>
      <p:nvGrpSpPr>
        <p:cNvPr id="1" name=""/>
        <p:cNvGrpSpPr/>
        <p:nvPr/>
      </p:nvGrpSpPr>
      <p:grpSpPr>
        <a:xfrm>
          <a:off x="0" y="0"/>
          <a:ext cx="0" cy="0"/>
          <a:chOff x="0" y="0"/>
          <a:chExt cx="0" cy="0"/>
        </a:xfrm>
      </p:grpSpPr>
      <p:sp>
        <p:nvSpPr>
          <p:cNvPr id="6" name="Заголовок 5"/>
          <p:cNvSpPr>
            <a:spLocks noGrp="1"/>
          </p:cNvSpPr>
          <p:nvPr>
            <p:ph type="title"/>
          </p:nvPr>
        </p:nvSpPr>
        <p:spPr>
          <a:xfrm>
            <a:off x="2183154" y="854274"/>
            <a:ext cx="10566837" cy="609398"/>
          </a:xfrm>
        </p:spPr>
        <p:txBody>
          <a:bodyPr/>
          <a:lstStyle/>
          <a:p>
            <a:r>
              <a:rPr lang="en-US" sz="4400" dirty="0">
                <a:solidFill>
                  <a:schemeClr val="bg1"/>
                </a:solidFill>
              </a:rPr>
              <a:t>CALL TO ACTION</a:t>
            </a:r>
            <a:endParaRPr lang="ru-RU" sz="4400" dirty="0">
              <a:solidFill>
                <a:schemeClr val="bg1"/>
              </a:solidFill>
            </a:endParaRPr>
          </a:p>
        </p:txBody>
      </p:sp>
      <p:sp>
        <p:nvSpPr>
          <p:cNvPr id="11" name="TextBox 10"/>
          <p:cNvSpPr txBox="1"/>
          <p:nvPr/>
        </p:nvSpPr>
        <p:spPr>
          <a:xfrm>
            <a:off x="1143248" y="1804914"/>
            <a:ext cx="7105645" cy="4524315"/>
          </a:xfrm>
          <a:prstGeom prst="rect">
            <a:avLst/>
          </a:prstGeom>
          <a:noFill/>
        </p:spPr>
        <p:txBody>
          <a:bodyPr wrap="square" lIns="0" rtlCol="0">
            <a:spAutoFit/>
          </a:bodyPr>
          <a:lstStyle/>
          <a:p>
            <a:pPr>
              <a:lnSpc>
                <a:spcPct val="90000"/>
              </a:lnSpc>
            </a:pPr>
            <a:r>
              <a:rPr lang="ru-RU" sz="3200" dirty="0">
                <a:solidFill>
                  <a:schemeClr val="bg1"/>
                </a:solidFill>
                <a:latin typeface="Croc" panose="020B0502020203020203" pitchFamily="34" charset="0"/>
              </a:rPr>
              <a:t>Давайте посмотрим на работу с </a:t>
            </a:r>
            <a:r>
              <a:rPr lang="en-US" sz="3200" dirty="0">
                <a:solidFill>
                  <a:schemeClr val="bg1"/>
                </a:solidFill>
                <a:latin typeface="Croc" panose="020B0502020203020203" pitchFamily="34" charset="0"/>
              </a:rPr>
              <a:t>Python </a:t>
            </a:r>
            <a:r>
              <a:rPr lang="ru-RU" sz="3200" dirty="0">
                <a:solidFill>
                  <a:schemeClr val="bg1"/>
                </a:solidFill>
                <a:latin typeface="Croc" panose="020B0502020203020203" pitchFamily="34" charset="0"/>
              </a:rPr>
              <a:t>и различные инструменты</a:t>
            </a:r>
          </a:p>
          <a:p>
            <a:pPr>
              <a:lnSpc>
                <a:spcPct val="90000"/>
              </a:lnSpc>
            </a:pPr>
            <a:endParaRPr lang="ru-RU" sz="3200" dirty="0">
              <a:solidFill>
                <a:schemeClr val="bg1"/>
              </a:solidFill>
              <a:latin typeface="Croc" panose="020B0502020203020203" pitchFamily="34" charset="0"/>
            </a:endParaRPr>
          </a:p>
          <a:p>
            <a:pPr marL="457200" indent="-457200">
              <a:lnSpc>
                <a:spcPct val="90000"/>
              </a:lnSpc>
              <a:buFont typeface="Arial" panose="020B0604020202020204" pitchFamily="34" charset="0"/>
              <a:buChar char="•"/>
            </a:pPr>
            <a:r>
              <a:rPr lang="en-US" sz="3200" dirty="0">
                <a:solidFill>
                  <a:schemeClr val="bg1"/>
                </a:solidFill>
                <a:latin typeface="Croc" panose="020B0502020203020203" pitchFamily="34" charset="0"/>
              </a:rPr>
              <a:t>Терминал</a:t>
            </a:r>
            <a:endParaRPr lang="ru-RU" sz="3200" dirty="0">
              <a:solidFill>
                <a:schemeClr val="bg1"/>
              </a:solidFill>
              <a:latin typeface="Croc" panose="020B0502020203020203" pitchFamily="34" charset="0"/>
            </a:endParaRPr>
          </a:p>
          <a:p>
            <a:pPr marL="457200" indent="-457200">
              <a:lnSpc>
                <a:spcPct val="90000"/>
              </a:lnSpc>
              <a:buFont typeface="Arial" panose="020B0604020202020204" pitchFamily="34" charset="0"/>
              <a:buChar char="•"/>
            </a:pPr>
            <a:r>
              <a:rPr lang="en-US" sz="3200" dirty="0">
                <a:solidFill>
                  <a:schemeClr val="bg1"/>
                </a:solidFill>
                <a:latin typeface="Croc" panose="020B0502020203020203" pitchFamily="34" charset="0"/>
              </a:rPr>
              <a:t>uv</a:t>
            </a:r>
            <a:endParaRPr lang="ru-RU" sz="3200" dirty="0">
              <a:solidFill>
                <a:schemeClr val="bg1"/>
              </a:solidFill>
              <a:latin typeface="Croc" panose="020B0502020203020203" pitchFamily="34" charset="0"/>
            </a:endParaRPr>
          </a:p>
          <a:p>
            <a:pPr marL="457200" indent="-457200">
              <a:lnSpc>
                <a:spcPct val="90000"/>
              </a:lnSpc>
              <a:buFont typeface="Arial" panose="020B0604020202020204" pitchFamily="34" charset="0"/>
              <a:buChar char="•"/>
            </a:pPr>
            <a:r>
              <a:rPr lang="en-US" sz="3200" dirty="0">
                <a:solidFill>
                  <a:schemeClr val="bg1"/>
                </a:solidFill>
                <a:latin typeface="Croc" panose="020B0502020203020203" pitchFamily="34" charset="0"/>
              </a:rPr>
              <a:t>WSL2 (для Windows)</a:t>
            </a:r>
          </a:p>
          <a:p>
            <a:pPr marL="457200" indent="-457200">
              <a:lnSpc>
                <a:spcPct val="90000"/>
              </a:lnSpc>
              <a:buFont typeface="Arial" panose="020B0604020202020204" pitchFamily="34" charset="0"/>
              <a:buChar char="•"/>
            </a:pPr>
            <a:r>
              <a:rPr lang="en-US" sz="3200" dirty="0">
                <a:solidFill>
                  <a:schemeClr val="bg1"/>
                </a:solidFill>
                <a:latin typeface="Croc" panose="020B0502020203020203" pitchFamily="34" charset="0"/>
              </a:rPr>
              <a:t>VS Code + Jupyter</a:t>
            </a:r>
          </a:p>
          <a:p>
            <a:pPr marL="457200" indent="-457200">
              <a:lnSpc>
                <a:spcPct val="90000"/>
              </a:lnSpc>
              <a:buFont typeface="Arial" panose="020B0604020202020204" pitchFamily="34" charset="0"/>
              <a:buChar char="•"/>
            </a:pPr>
            <a:r>
              <a:rPr lang="en-US" sz="3200" dirty="0">
                <a:solidFill>
                  <a:schemeClr val="bg1"/>
                </a:solidFill>
                <a:latin typeface="Croc" panose="020B0502020203020203" pitchFamily="34" charset="0"/>
              </a:rPr>
              <a:t>Git и GitHub</a:t>
            </a:r>
          </a:p>
          <a:p>
            <a:pPr marL="457200" indent="-457200">
              <a:lnSpc>
                <a:spcPct val="90000"/>
              </a:lnSpc>
              <a:buFont typeface="Arial" panose="020B0604020202020204" pitchFamily="34" charset="0"/>
              <a:buChar char="•"/>
            </a:pPr>
            <a:r>
              <a:rPr lang="en-US" sz="3200" dirty="0" err="1">
                <a:solidFill>
                  <a:schemeClr val="bg1"/>
                </a:solidFill>
                <a:latin typeface="Croc" panose="020B0502020203020203" pitchFamily="34" charset="0"/>
              </a:rPr>
              <a:t>ИИ-ассистент</a:t>
            </a:r>
            <a:endParaRPr lang="ru-RU" sz="3200" dirty="0">
              <a:solidFill>
                <a:schemeClr val="bg1"/>
              </a:solidFill>
              <a:latin typeface="Croc" panose="020B0502020203020203" pitchFamily="34" charset="0"/>
            </a:endParaRPr>
          </a:p>
          <a:p>
            <a:pPr>
              <a:lnSpc>
                <a:spcPct val="90000"/>
              </a:lnSpc>
            </a:pPr>
            <a:endParaRPr lang="ru-RU" sz="3200" dirty="0">
              <a:solidFill>
                <a:schemeClr val="bg1"/>
              </a:solidFill>
              <a:latin typeface="Croc" panose="020B0502020203020203" pitchFamily="34" charset="0"/>
            </a:endParaRPr>
          </a:p>
        </p:txBody>
      </p:sp>
      <p:pic>
        <p:nvPicPr>
          <p:cNvPr id="98" name="Мем nb_terminal_02_vim_avtomat" descr="nb_terminal_02_vim_avtomat.jpg"/>
          <p:cNvPicPr>
            <a:picLocks noChangeAspect="1"/>
          </p:cNvPicPr>
          <p:nvPr/>
        </p:nvPicPr>
        <p:blipFill>
          <a:blip r:embed="rId3"/>
          <a:stretch>
            <a:fillRect/>
          </a:stretch>
        </p:blipFill>
        <p:spPr>
          <a:xfrm>
            <a:off x="8422744" y="1894565"/>
            <a:ext cx="3611880" cy="3589305"/>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6F26E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040A19"/>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TotalTime>
  <Words>5781</Words>
  <Application>Microsoft Office PowerPoint</Application>
  <PresentationFormat>Широкоэкранный</PresentationFormat>
  <Paragraphs>675</Paragraphs>
  <Slides>40</Slides>
  <Notes>40</Notes>
  <HiddenSlides>0</HiddenSlides>
  <MMClips>0</MMClips>
  <ScaleCrop>false</ScaleCrop>
  <HeadingPairs>
    <vt:vector size="8" baseType="variant">
      <vt:variant>
        <vt:lpstr>Использованные шрифты</vt:lpstr>
      </vt:variant>
      <vt:variant>
        <vt:i4>14</vt:i4>
      </vt:variant>
      <vt:variant>
        <vt:lpstr>Тема</vt:lpstr>
      </vt:variant>
      <vt:variant>
        <vt:i4>1</vt:i4>
      </vt:variant>
      <vt:variant>
        <vt:lpstr>Внедренные серверы OLE</vt:lpstr>
      </vt:variant>
      <vt:variant>
        <vt:i4>1</vt:i4>
      </vt:variant>
      <vt:variant>
        <vt:lpstr>Заголовки слайдов</vt:lpstr>
      </vt:variant>
      <vt:variant>
        <vt:i4>40</vt:i4>
      </vt:variant>
    </vt:vector>
  </HeadingPairs>
  <TitlesOfParts>
    <vt:vector size="56" baseType="lpstr">
      <vt:lpstr>-apple-system</vt:lpstr>
      <vt:lpstr>Arial</vt:lpstr>
      <vt:lpstr>Calibri</vt:lpstr>
      <vt:lpstr>Candara</vt:lpstr>
      <vt:lpstr>Circe Light</vt:lpstr>
      <vt:lpstr>Comic Sans MS</vt:lpstr>
      <vt:lpstr>Croc</vt:lpstr>
      <vt:lpstr>Croc Light</vt:lpstr>
      <vt:lpstr>Merriweather</vt:lpstr>
      <vt:lpstr>Montserrat</vt:lpstr>
      <vt:lpstr>Roboto</vt:lpstr>
      <vt:lpstr>var(--header-font)</vt:lpstr>
      <vt:lpstr>var(--suisse-intl)</vt:lpstr>
      <vt:lpstr>William Text Pro</vt:lpstr>
      <vt:lpstr>Тема Office</vt:lpstr>
      <vt:lpstr>think-cell Slide</vt:lpstr>
      <vt:lpstr>Презентация PowerPoint</vt:lpstr>
      <vt:lpstr>Who is this guy? </vt:lpstr>
      <vt:lpstr>Презентация PowerPoint</vt:lpstr>
      <vt:lpstr>Презентация PowerPoint</vt:lpstr>
      <vt:lpstr>Презентация PowerPoint</vt:lpstr>
      <vt:lpstr>Чем занимаются аналитики данных?</vt:lpstr>
      <vt:lpstr>Презентация PowerPoint</vt:lpstr>
      <vt:lpstr>«DA или DS вот в чем вопрос…»</vt:lpstr>
      <vt:lpstr>Презентация PowerPoint</vt:lpstr>
      <vt:lpstr>Презентация PowerPoint</vt:lpstr>
      <vt:lpstr>Семья Data-профессий</vt:lpstr>
      <vt:lpstr>Задачи DA</vt:lpstr>
      <vt:lpstr>Summary Универсального солдата</vt:lpstr>
      <vt:lpstr>Что ждет работодатель или DA ближайшего будущего</vt:lpstr>
      <vt:lpstr>Что ждет работодатель или DA ближайшего будущего</vt:lpstr>
      <vt:lpstr>Что ждёт работодатель в 2026</vt:lpstr>
      <vt:lpstr>Презентация PowerPoint</vt:lpstr>
      <vt:lpstr>А ради чего мы тут собрались? </vt:lpstr>
      <vt:lpstr>Немного истории</vt:lpstr>
      <vt:lpstr>PYTHON СЕГОДНЯ</vt:lpstr>
      <vt:lpstr>Философия питона</vt:lpstr>
      <vt:lpstr>Не только аналитика. Основные направления использования</vt:lpstr>
      <vt:lpstr>Не только аналитика: направления в 2026</vt:lpstr>
      <vt:lpstr>ML</vt:lpstr>
      <vt:lpstr>Презентация PowerPoint</vt:lpstr>
      <vt:lpstr>Три кита ML</vt:lpstr>
      <vt:lpstr>Самое известное заблуждение</vt:lpstr>
      <vt:lpstr>Карта ML</vt:lpstr>
      <vt:lpstr>Презентация PowerPoint</vt:lpstr>
      <vt:lpstr>ЦЕЛИ И МЕСТО ДИСЦИПЛИНЫ</vt:lpstr>
      <vt:lpstr>ТЕМАТИЧЕСКИЙ ПЛАН ДИСЦИПЛИНЫ </vt:lpstr>
      <vt:lpstr>РОАДМАП КУРСА</vt:lpstr>
      <vt:lpstr>ПРИНЦИП ФОРМИРОВАНИЯ ОЦЕНКИ </vt:lpstr>
      <vt:lpstr>Политика по ИИ</vt:lpstr>
      <vt:lpstr>Сайд-квест: Собеседование на джуна</vt:lpstr>
      <vt:lpstr>ВЗАИМОДЕЙСТВИЕ В РАМКАХ КУРСА</vt:lpstr>
      <vt:lpstr>Хорошие книги</vt:lpstr>
      <vt:lpstr>Презентация PowerPoint</vt:lpstr>
      <vt:lpstr>CALL TO ACTION</vt:lpstr>
      <vt:lpstr>CALL TO ACTION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Akazhanov Timur</dc:creator>
  <cp:lastModifiedBy>Даниил Воробьев</cp:lastModifiedBy>
  <cp:revision>137</cp:revision>
  <dcterms:created xsi:type="dcterms:W3CDTF">2021-02-18T09:00:00Z</dcterms:created>
  <dcterms:modified xsi:type="dcterms:W3CDTF">2026-10-19T13:42:43Z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EEB715C3CCAF4571A904F686A388CBEE_12</vt:lpwstr>
  </property>
  <property fmtid="{D5CDD505-2E9C-101B-9397-08002B2CF9AE}" pid="3" name="KSOProductBuildVer">
    <vt:lpwstr>1049-12.2.0.18607</vt:lpwstr>
  </property>
</Properties>
</file>